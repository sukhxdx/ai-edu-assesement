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Arial Black" panose="020B0A04020102020204" pitchFamily="3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PaGkRQoFSMgDV/uOzOixcyDmN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customschemas.google.com/relationships/presentationmetadata" Target="meta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90157A4-0F13-4412-B4B5-8088AB3E6C5C}"/>
              </a:ext>
            </a:extLst>
          </p:cNvPr>
          <p:cNvGrpSpPr/>
          <p:nvPr/>
        </p:nvGrpSpPr>
        <p:grpSpPr>
          <a:xfrm>
            <a:off x="14091" y="28061"/>
            <a:ext cx="12111306" cy="6829939"/>
            <a:chOff x="14091" y="28061"/>
            <a:chExt cx="12111306" cy="6829939"/>
          </a:xfrm>
        </p:grpSpPr>
        <p:sp>
          <p:nvSpPr>
            <p:cNvPr id="25" name="Google Shape;95;p1">
              <a:extLst>
                <a:ext uri="{FF2B5EF4-FFF2-40B4-BE49-F238E27FC236}">
                  <a16:creationId xmlns:a16="http://schemas.microsoft.com/office/drawing/2014/main" id="{15B3EE77-9D84-470B-8694-A9B6197E15F8}"/>
                </a:ext>
              </a:extLst>
            </p:cNvPr>
            <p:cNvSpPr txBox="1"/>
            <p:nvPr/>
          </p:nvSpPr>
          <p:spPr>
            <a:xfrm>
              <a:off x="14091" y="2966138"/>
              <a:ext cx="2478097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Project Objectives/Aim 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057774" y="5541165"/>
              <a:ext cx="6067623" cy="96246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sz="1100" b="1" i="0" u="sng">
                  <a:latin typeface="Calibri"/>
                  <a:ea typeface="Calibri"/>
                  <a:cs typeface="Calibri"/>
                </a:rPr>
                <a:t>Student Name (PRN):  </a:t>
              </a:r>
              <a:r>
                <a:rPr sz="1100" b="0" i="0">
                  <a:latin typeface="Calibri"/>
                  <a:ea typeface="Calibri"/>
                  <a:cs typeface="Calibri"/>
                </a:rPr>
                <a:t>Sukhada Dhingra  (24070126505)</a:t>
              </a:r>
            </a:p>
            <a:p>
              <a:pPr algn="l">
                <a:spcBef>
                  <a:spcPts val="400"/>
                </a:spcBef>
                <a:spcAft>
                  <a:spcPts val="200"/>
                </a:spcAft>
                <a:buNone/>
              </a:pPr>
              <a:r>
                <a:rPr sz="1100" b="1" i="0">
                  <a:latin typeface="Calibri"/>
                  <a:ea typeface="Calibri"/>
                  <a:cs typeface="Calibri"/>
                </a:rPr>
                <a:t>Programme:  </a:t>
              </a:r>
              <a:r>
                <a:rPr sz="1100" b="0" i="0">
                  <a:latin typeface="Calibri"/>
                  <a:ea typeface="Calibri"/>
                  <a:cs typeface="Calibri"/>
                </a:rPr>
                <a:t>B.Tech — Artificial Intelligence and Machine Learning  |  AY 2026–27</a:t>
              </a:r>
            </a:p>
            <a:p>
              <a:pPr algn="l">
                <a:spcBef>
                  <a:spcPts val="400"/>
                </a:spcBef>
                <a:spcAft>
                  <a:spcPts val="200"/>
                </a:spcAft>
                <a:buNone/>
              </a:pPr>
              <a:r>
                <a:rPr sz="1100" b="1" i="0" u="sng">
                  <a:latin typeface="Calibri"/>
                  <a:ea typeface="Calibri"/>
                  <a:cs typeface="Calibri"/>
                </a:rPr>
                <a:t>Subject Teacher:  </a:t>
              </a:r>
              <a:r>
                <a:rPr sz="1100" b="0" i="0">
                  <a:latin typeface="Calibri"/>
                  <a:ea typeface="Calibri"/>
                  <a:cs typeface="Calibri"/>
                </a:rPr>
                <a:t>Dr. Archana Choudary</a:t>
              </a: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28268" y="792622"/>
              <a:ext cx="10758559" cy="338514"/>
            </a:xfrm>
            <a:prstGeom prst="rect">
              <a:avLst/>
            </a:prstGeom>
            <a:solidFill>
              <a:srgbClr val="BBD6E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lvl="0">
                <a:buClr>
                  <a:schemeClr val="dk1"/>
                </a:buClr>
                <a:buSzPts val="1800"/>
              </a:pPr>
              <a:r>
                <a:rPr sz="1400" b="1" i="0" u="sng">
                  <a:latin typeface="Verdana"/>
                  <a:ea typeface="Verdana"/>
                  <a:cs typeface="Verdana"/>
                </a:rPr>
                <a:t>Real-Time Credit Card Fraud Detection using Apache Spark Streaming</a:t>
              </a: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128268" y="1479317"/>
              <a:ext cx="5815331" cy="14772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42875" marR="279400" lvl="0" indent="-114300" algn="just">
                <a:spcBef>
                  <a:spcPts val="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lang="en-US" sz="1000" dirty="0">
                  <a:latin typeface="Verdana"/>
                  <a:ea typeface="Verdana"/>
                </a:rPr>
                <a:t>Credit-card networks produce high-velocity, highly imbalanced transaction streams that batch analytics cannot score in time to block fraud.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1000" b="0" i="0">
                  <a:latin typeface="Verdana"/>
                  <a:ea typeface="Verdana"/>
                  <a:cs typeface="Verdana"/>
                </a:rPr>
                <a:t>This project builds an Apache Spark Structured Streaming and MLlib pipeline on the ULB Credit Card Fraud dataset (284,807 transactions; only 0.172% fraud).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1000" b="0" i="0">
                  <a:latin typeface="Verdana"/>
                  <a:ea typeface="Verdana"/>
                  <a:cs typeface="Verdana"/>
                </a:rPr>
                <a:t>A class-weighted Random Forest flags suspicious payments in 2-second micro-batches with AUC-ROC 0.968 and F1-score 0.84, enabling near real-time bank alerts.</a:t>
              </a: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66605" y="1158573"/>
              <a:ext cx="104644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Abstract 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43095" y="4476501"/>
              <a:ext cx="3556445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Project Working/Methodology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6042949" y="1151569"/>
              <a:ext cx="5184146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Screen Shot photos</a:t>
              </a:r>
              <a:r>
                <a:rPr lang="en-US" u="sng" dirty="0">
                  <a:solidFill>
                    <a:schemeClr val="dk1"/>
                  </a:solidFill>
                  <a:latin typeface="Arial Black"/>
                  <a:sym typeface="Arial Black"/>
                </a:rPr>
                <a:t>/ Results/Outcome</a:t>
              </a:r>
              <a:endParaRPr u="sng" dirty="0">
                <a:solidFill>
                  <a:schemeClr val="dk1"/>
                </a:solidFill>
                <a:latin typeface="Arial Black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F3C5F7-22B6-4B5C-9722-6E7518C4C3D7}"/>
                </a:ext>
              </a:extLst>
            </p:cNvPr>
            <p:cNvSpPr/>
            <p:nvPr/>
          </p:nvSpPr>
          <p:spPr>
            <a:xfrm>
              <a:off x="128268" y="3324526"/>
              <a:ext cx="5815330" cy="12003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42875" indent="-114300" algn="just">
                <a:spcBef>
                  <a:spcPts val="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lang="en-US" sz="1000" dirty="0">
                  <a:latin typeface="Verdana"/>
                  <a:ea typeface="Verdana"/>
                </a:rPr>
                <a:t>Ingest and clean large-scale, imbalanced card-transaction data using Apache Spark.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1000" b="0" i="0">
                  <a:latin typeface="Verdana"/>
                  <a:ea typeface="Verdana"/>
                  <a:cs typeface="Verdana"/>
                </a:rPr>
                <a:t>Engineer amount, time and PCA-based features that capture rare fraud patterns.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1000" b="0" i="0">
                  <a:latin typeface="Verdana"/>
                  <a:ea typeface="Verdana"/>
                  <a:cs typeface="Verdana"/>
                </a:rPr>
                <a:t>Train and compare Logistic Regression, Random Forest and GBT models in Spark MLlib.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1000" b="0" i="0">
                  <a:latin typeface="Verdana"/>
                  <a:ea typeface="Verdana"/>
                  <a:cs typeface="Verdana"/>
                </a:rPr>
                <a:t>Deploy a Structured Streaming scorer with micro-batch latency under two seconds.</a:t>
              </a:r>
            </a:p>
          </p:txBody>
        </p:sp>
        <p:sp>
          <p:nvSpPr>
            <p:cNvPr id="17" name="Google Shape;93;p1">
              <a:extLst>
                <a:ext uri="{FF2B5EF4-FFF2-40B4-BE49-F238E27FC236}">
                  <a16:creationId xmlns:a16="http://schemas.microsoft.com/office/drawing/2014/main" id="{B9D769D2-E484-4055-8EFB-CF2B2386F6D3}"/>
                </a:ext>
              </a:extLst>
            </p:cNvPr>
            <p:cNvSpPr txBox="1"/>
            <p:nvPr/>
          </p:nvSpPr>
          <p:spPr>
            <a:xfrm>
              <a:off x="143095" y="4841662"/>
              <a:ext cx="5815329" cy="16619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42875" marR="279400" lvl="0" indent="-114300" algn="just">
                <a:spcBef>
                  <a:spcPts val="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lang="en-US" sz="950" dirty="0">
                  <a:latin typeface="Verdana"/>
                  <a:ea typeface="Verdana"/>
                </a:rPr>
                <a:t>Dataset: ULB/Kaggle Credit Card Fraud (Sept 2013; 31 features — Time, Amount, V1–V28 PCA components).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950" b="0" i="0">
                  <a:latin typeface="Verdana"/>
                  <a:ea typeface="Verdana"/>
                  <a:cs typeface="Verdana"/>
                </a:rPr>
                <a:t>ETL: Spark DataFrame load, null handling, StandardScaler, 70:30 stratified split and class-weighting for the 0.172% fraud rate.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950" b="0" i="0">
                  <a:latin typeface="Verdana"/>
                  <a:ea typeface="Verdana"/>
                  <a:cs typeface="Verdana"/>
                </a:rPr>
                <a:t>Models: Spark MLlib Logistic Regression, Random Forest (100 trees) and Gradient-Boosted Trees, evaluated with Precision, Recall, F1 and AUC-ROC.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950" b="0" i="0">
                  <a:latin typeface="Verdana"/>
                  <a:ea typeface="Verdana"/>
                  <a:cs typeface="Verdana"/>
                </a:rPr>
                <a:t>Streaming: Structured Streaming (2 s micro-batches) applies the fitted pipeline and emits fraud probability plus an alert to a monitoring dashboard.</a:t>
              </a:r>
            </a:p>
            <a:p>
              <a:pPr algn="just" marL="142875" indent="-114300">
                <a:spcBef>
                  <a:spcPts val="100"/>
                </a:spcBef>
                <a:spcAft>
                  <a:spcPts val="300"/>
                </a:spcAft>
                <a:buFont typeface="Wingdings" pitchFamily="2" charset="2"/>
                <a:buChar char="l"/>
              </a:pPr>
              <a:r>
                <a:rPr sz="950" b="0" i="0">
                  <a:latin typeface="Verdana"/>
                  <a:ea typeface="Verdana"/>
                  <a:cs typeface="Verdana"/>
                </a:rPr>
                <a:t>Stack: Apache Spark 3.5, PySpark, Spark MLlib and Python 3.11 on a local cluster-style workflow.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95BEC5-F4DF-488C-8CD9-2938BED78D8E}"/>
                </a:ext>
              </a:extLst>
            </p:cNvPr>
            <p:cNvSpPr/>
            <p:nvPr/>
          </p:nvSpPr>
          <p:spPr>
            <a:xfrm>
              <a:off x="6057774" y="1488527"/>
              <a:ext cx="6067621" cy="3388053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605B5F1-299C-4405-A814-87A451E00D92}"/>
                </a:ext>
              </a:extLst>
            </p:cNvPr>
            <p:cNvSpPr/>
            <p:nvPr/>
          </p:nvSpPr>
          <p:spPr>
            <a:xfrm>
              <a:off x="6057774" y="4947120"/>
              <a:ext cx="6067622" cy="564095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0CDBE6-4D9D-41DF-981C-869BAEC6F862}"/>
                </a:ext>
              </a:extLst>
            </p:cNvPr>
            <p:cNvSpPr/>
            <p:nvPr/>
          </p:nvSpPr>
          <p:spPr>
            <a:xfrm>
              <a:off x="6042949" y="4917171"/>
              <a:ext cx="179889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u="sng" dirty="0">
                  <a:solidFill>
                    <a:schemeClr val="dk1"/>
                  </a:solidFill>
                </a:rPr>
                <a:t>References: (APA Style)</a:t>
              </a:r>
              <a:endParaRPr lang="en-IN" sz="1100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602C1F-4076-4227-BE18-1F1B788A8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6824" y="6619598"/>
              <a:ext cx="4053012" cy="23840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01777A2-E776-4AFA-B824-A927ADC99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40675" y="104068"/>
              <a:ext cx="1084719" cy="96262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E2338E7-A0C5-43F1-9AA5-6972DC420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33142" y="28061"/>
              <a:ext cx="4219613" cy="22184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15DBAB-23C9-4B78-ADAE-E9792CD321CA}"/>
                </a:ext>
              </a:extLst>
            </p:cNvPr>
            <p:cNvSpPr txBox="1"/>
            <p:nvPr/>
          </p:nvSpPr>
          <p:spPr>
            <a:xfrm>
              <a:off x="3834248" y="284389"/>
              <a:ext cx="44470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rgbClr val="993300"/>
                  </a:solidFill>
                </a:rPr>
                <a:t>Department of Artificial Intelligence and Machine Learning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546A750-390B-4572-B2A1-44E0A77E17A5}"/>
              </a:ext>
            </a:extLst>
          </p:cNvPr>
          <p:cNvSpPr/>
          <p:nvPr/>
        </p:nvSpPr>
        <p:spPr>
          <a:xfrm>
            <a:off x="4545735" y="505948"/>
            <a:ext cx="31005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Big Data Analytics Poster AY 2026-27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en-IN" dirty="0"/>
          </a:p>
        </p:txBody>
      </p:sp>
      <p:pic>
        <p:nvPicPr>
          <p:cNvPr id="98" name="Picture 97" descr="results_pa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774" y="1558527"/>
            <a:ext cx="5927621" cy="324805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080000" y="5200000"/>
            <a:ext cx="5980000" cy="320000"/>
          </a:xfrm>
          <a:prstGeom prst="rect">
            <a:avLst/>
          </a:prstGeom>
          <a:noFill/>
        </p:spPr>
        <p:txBody>
          <a:bodyPr wrap="square" anchor="t" lIns="36000" tIns="8000" rIns="20000" bIns="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Dal Pozzolo, A., et al. (2015). IEEE SSCI.    Carcillo, F., et al. (2018). Information Fusion, 41, 182–194.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Apache Software Foundation. (2024). Spark MLlib guide.  https://spark.apache.org/docs/latest/ml-guide.html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61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Verdana</vt:lpstr>
      <vt:lpstr>Arial</vt:lpstr>
      <vt:lpstr>Calibri</vt:lpstr>
      <vt:lpstr>Cambria</vt:lpstr>
      <vt:lpstr>Arial Black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Paresh Nasikkar</dc:creator>
  <cp:lastModifiedBy>CL508_01</cp:lastModifiedBy>
  <cp:revision>23</cp:revision>
  <dcterms:created xsi:type="dcterms:W3CDTF">2024-02-14T10:30:05Z</dcterms:created>
  <dcterms:modified xsi:type="dcterms:W3CDTF">2026-08-17T09:04:17Z</dcterms:modified>
</cp:coreProperties>
</file>