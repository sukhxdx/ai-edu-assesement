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on the aircraft, then the mission in one sentence: we are not building a product UAV — we are proving that wing-borne lift cuts electrical power versus a pure multirotor of the same mass.</a:t>
            </a:r>
          </a:p>
          <a:p>
            <a:r>
              <a:t>Introduce the team and PRNs. Flag MTOW 4.5 kg and 1 kg payload as the frozen design point.</a:t>
            </a:r>
          </a:p>
          <a:p>
            <a:r>
              <a:t>Transition: the next slide frames the whole system before we dive into the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four identity cards left to right. Emphasize that Pushpak V1 is a demonstrator, not an operational ISR air vehicle.</a:t>
            </a:r>
          </a:p>
          <a:p>
            <a:r>
              <a:t>Call out the mission banner — every later requirement traces to power reduction via the wing.</a:t>
            </a:r>
          </a:p>
          <a:p>
            <a:r>
              <a:t>Close on the configuration: two tilt axes, 75° stop, Pixhawk/ArduPilot.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Multirotors hover well and waste energy in cruise because the rotors still carry 100% of weight.</a:t>
            </a:r>
          </a:p>
          <a:p>
            <a:r>
              <a:t>Fixed-wing aircraft cruise efficiently but cannot take off or land without a runway.</a:t>
            </a:r>
          </a:p>
          <a:p>
            <a:r>
              <a:t>Pushpak closes that gap at 4.5 kg so we can measure the power delta on one airframe.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sell tilt-rotor as universally best — sell it as the right demonstrator: hover like a quad, cruise like a wing, one propulsion set.</a:t>
            </a:r>
          </a:p>
          <a:p>
            <a:r>
              <a:t>Tailsitters are simpler but ugly in hover handling. Tilt-wing is heavier. Dual-system (lift + cruise props) duplicates motors.</a:t>
            </a:r>
          </a:p>
          <a:p>
            <a:r>
              <a:t>Pushpak uses two coupled tilt axes so we can instrument both front and rear independently.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MR-1 is the only success criterion that cannot be traded. Everything else exists to make that measurement honest.</a:t>
            </a:r>
          </a:p>
          <a:p>
            <a:r>
              <a:t>Call out payload 1 kg as a mass stand-in — it forces a real MTOW, not a bare airframe.</a:t>
            </a:r>
          </a:p>
          <a:p>
            <a:r>
              <a:t>75° is a mechanical stop, not a cruise-optimal number; we will map power vs tilt in flight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O1 is the experiment. O2–O6 are the vehicle that makes the experiment possible.</a:t>
            </a:r>
          </a:p>
          <a:p>
            <a:r>
              <a:t>If mass grows past 4.9 kg we descope structure or battery — we do not silently drop the 70% lift target.</a:t>
            </a:r>
          </a:p>
          <a:p>
            <a:r>
              <a:t>Safety objectives are equal priority for a student-flown 4.5 kg VTOL.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shall-statement set we will verify. SR-P propulsion, SR-A airframe, SR-C control, SR-T test.</a:t>
            </a:r>
          </a:p>
          <a:p>
            <a:r>
              <a:t>Hover 1.125 kgf per motor is the physics floor; 2.25 kgf is the design target with margin.</a:t>
            </a:r>
          </a:p>
          <a:p>
            <a:r>
              <a:t>Verification column tells faculty we are not leaving this as a paper airplane.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classical VTOL families. Dual-system wastes mass on a second propulsion set — fatal at 4.5 kg.</a:t>
            </a:r>
          </a:p>
          <a:p>
            <a:r>
              <a:t>Tilt-wing moves the entire wing; too much actuator work for this class.</a:t>
            </a:r>
          </a:p>
          <a:p>
            <a:r>
              <a:t>Tailsitter is the cheapest and the worst hover-to-cruise handling for a first student VTOL.</a:t>
            </a:r>
          </a:p>
          <a:p>
            <a:r>
              <a:t>Tilt-rotor with paired front/rear shafts is the selected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Treat this as the product breakdown: airframe, propulsion, tilt, energy, GNC, payload.</a:t>
            </a:r>
          </a:p>
          <a:p>
            <a:r>
              <a:t>Front and rear tilt are mechanically identical — one design, two installs.</a:t>
            </a:r>
          </a:p>
          <a:p>
            <a:r>
              <a:t>Payload is a 1 kg mass dummy with a hard point on the CG.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MY4215 400KV on 6S is in the 16-inch efficiency band we need for hover margin without a 2 kg motor set.</a:t>
            </a:r>
          </a:p>
          <a:p>
            <a:r>
              <a:t>Four identical corners — no mixed motor types. That keeps the quad mixer honest in hover.</a:t>
            </a:r>
          </a:p>
          <a:p>
            <a:r>
              <a:t>Battery is Li-ion for energy density; C-rate will be confirmed on the thrust stand before first hover.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cascade: 4.5 kg → 44.15 N → 11.04 N per motor → 1.125 kgf. That is the physics floor, not the design.</a:t>
            </a:r>
          </a:p>
          <a:p>
            <a:r>
              <a:t>Design is 2.25 kgf per motor, 9 kgf total — about 2.0× hover. We need that for climb, tilt transients, and one-motor-soft failures.</a:t>
            </a:r>
          </a:p>
          <a:p>
            <a:r>
              <a:t>16-inch disk at this loading is why 400KV / 6S was chosen.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 from cruise lift, not from a pretty span. 70% of 44.15 N at 20 m/s fixes CL·S.</a:t>
            </a:r>
          </a:p>
          <a:p>
            <a:r>
              <a:t>S = 0.32 m² and AR 5.3 are a student-build compromise: enough span for induced-drag, short enough for 1.3 m transport.</a:t>
            </a:r>
          </a:p>
          <a:p>
            <a:r>
              <a:t>NACA 4412 is a known cambered section with gentle stall — appropriate for a first VTOL wing, not a racing foil.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 = ½ ρ V² S CL. At 20 m/s, q = 245 Pa. For 70% of weight, L = 30.90 N → CL = 0.395.</a:t>
            </a:r>
          </a:p>
          <a:p>
            <a:r>
              <a:t>NACA 4412 produces that CL at a modest angle of attack with margin to stall.</a:t>
            </a:r>
          </a:p>
          <a:p>
            <a:r>
              <a:t>The remaining 30% of weight is residual rotor lift at 75° tilt — conservative, not minimum-power.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envelopes bound CAD, not a freeze of every millimetre. Rotor span 1700–1900 mm is set by 16-inch props plus 50–75 mm clearance.</a:t>
            </a:r>
          </a:p>
          <a:p>
            <a:r>
              <a:t>Fuselage length carries battery, Pixhawk, and the 1 kg payload on CG.</a:t>
            </a:r>
          </a:p>
          <a:p>
            <a:r>
              <a:t>75° is a hard stop — never software-only.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Top view is the configuration control drawing. Four disks, two shafts, wing in the middle.</a:t>
            </a:r>
          </a:p>
          <a:p>
            <a:r>
              <a:t>Clearance 50–75 mm is a hard CAD constraint — downwash and blade flex eat the lower number.</a:t>
            </a:r>
          </a:p>
          <a:p>
            <a:r>
              <a:t>Front-left / front-right share one shaft; they cannot tilt independently. Same at the rear.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mechanism, two copies. Front and rear are the same drawing with mirrored servo handedness.</a:t>
            </a:r>
          </a:p>
          <a:p>
            <a:r>
              <a:t>The shaft is the structural spine — motors never hang off the servo horn.</a:t>
            </a:r>
          </a:p>
          <a:p>
            <a:r>
              <a:t>Magnetic angle sensors close the loop; mechanical stops are the last line of defence at 0° and 75°.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Hover: thrust vector vertical, wing is a passenger. Transition: tilt with airspeed, not with a timer.</a:t>
            </a:r>
          </a:p>
          <a:p>
            <a:r>
              <a:t>Cruise: 75° — rotors mostly axial for thrust, residual vertical component plus wing lift equal weight.</a:t>
            </a:r>
          </a:p>
          <a:p>
            <a:r>
              <a:t>The kinematic chain is Motor → Tilt shaft → Bearings → Linkage → Servo. The servo never carries rotor loads.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layers: sense, decide, act. Pixhawk is the real-time flight computer. ESP32 is the companion for tilt telemetry, power sensing and experiment logging.</a:t>
            </a:r>
          </a:p>
          <a:p>
            <a:r>
              <a:t>Do not put motor PWM on the ESP32. ArduPilot owns the motors.</a:t>
            </a:r>
          </a:p>
          <a:p>
            <a:r>
              <a:t>Pitot is mandatory — transition is airspeed-scheduled.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Split of authority is a safety argument: if ESP32 locks, the aircraft must still hover and RTL as a quadrotor.</a:t>
            </a:r>
          </a:p>
          <a:p>
            <a:r>
              <a:t>Interface is serial (MAVLink or a framed UART) plus discrete experiment enable.</a:t>
            </a:r>
          </a:p>
          <a:p>
            <a:r>
              <a:t>Tilt servos can be driven from Pixhawk outputs with ESP32 monitoring the encoder — preferred for first flight.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an I/O context diagram, not a Simulink file. Left = measured and commanded inputs. Centre = mode logic. Right = the four effectors plus the two tilt axes.</a:t>
            </a:r>
          </a:p>
          <a:p>
            <a:r>
              <a:t>Vertical velocity, altitude and vertical acceleration are what keep transition from ballooning or settling.</a:t>
            </a:r>
          </a:p>
          <a:p>
            <a:r>
              <a:t>Battery current is both a health signal and the primary experiment observable.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sensor exists because a later plot needs it. Pitot for tilt schedule and CL. Mag angle for the two shafts. V/I for the power experiment.</a:t>
            </a:r>
          </a:p>
          <a:p>
            <a:r>
              <a:t>Compass + GPS are navigation and RTL — not the science.</a:t>
            </a:r>
          </a:p>
          <a:p>
            <a:r>
              <a:t>Absolute magnetic angle is preferred over servo-potentiometer because the servo horn is not the shaft.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ArduPilot VTOL vocabulary. First flights stay in QSTABILIZE / QHOVER. Transition is a gated climb into a forward mode, not a leap into AUTO.</a:t>
            </a:r>
          </a:p>
          <a:p>
            <a:r>
              <a:t>FBWA or CRUISE is the wing-borne science mode. AUTO is last.</a:t>
            </a:r>
          </a:p>
          <a:p>
            <a:r>
              <a:t>A mode that cannot revert to hover in one switch is not a student mode.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 is a schedule, not a stunt. Gates are airspeed, climb rate, and tilt-rate limit.</a:t>
            </a:r>
          </a:p>
          <a:p>
            <a:r>
              <a:t>Front/rear split is a pitch trim tool — if the nose drops, lag the front shaft.</a:t>
            </a:r>
          </a:p>
          <a:p>
            <a:r>
              <a:t>Abort is always available: freeze tilt, add collective, settle to QHOVER.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Mechanical stops are not optional. A servo that can drive through 75° will put a blade into the wing.</a:t>
            </a:r>
          </a:p>
          <a:p>
            <a:r>
              <a:t>Electrical: current limits, low-voltage RTL, lost-link RTL.</a:t>
            </a:r>
          </a:p>
          <a:p>
            <a:r>
              <a:t>Operational: tether for first hovers, geofence, two-person crew (pilot + caller).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bar chart first: battery and payload dominate. Motors are heavy because hover margin is non-negotiable.</a:t>
            </a:r>
          </a:p>
          <a:p>
            <a:r>
              <a:t>Empty target 3.5 kg leaves 1.0 kg payload inside a 4.5 kg design point. Estimated roll-up today is 4.4–4.9 kg — we are on the edge and we know it.</a:t>
            </a:r>
          </a:p>
          <a:p>
            <a:r>
              <a:t>If battery lands at 1.5 kg, something else must come out of structure or we fly a 4.9 kg aircraft and recompute hover.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buying list, not a catalogue dump. Six groups map to the mass budget.</a:t>
            </a:r>
          </a:p>
          <a:p>
            <a:r>
              <a:t>STS3215-C018 is a bus servo with stall torque suited to a 4.5 kg tilt shaft, not a hobby 9-gram.</a:t>
            </a:r>
          </a:p>
          <a:p>
            <a:r>
              <a:t>Pixhawk + ArduPilot is chosen for VTOL heritage, not because we cannot write a controller.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CAD is the configuration control system. Master assembly owns CG and clearance.</a:t>
            </a:r>
          </a:p>
          <a:p>
            <a:r>
              <a:t>Tilt axis is the first model to freeze — everything else hangs off those shafts.</a:t>
            </a:r>
          </a:p>
          <a:p>
            <a:r>
              <a:t>Weigh properties from CAD weekly against the mass budget; do not wait for the prototype.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CFD is not decoration. Three campaigns: isolated wing polar, hover downwash on the wing, and a transition snapshot.</a:t>
            </a:r>
          </a:p>
          <a:p>
            <a:r>
              <a:t>We will not claim full-aircraft accuracy in ground effect. We will claim trends and a CL check against 0.395.</a:t>
            </a:r>
          </a:p>
          <a:p>
            <a:r>
              <a:t>Power comparison remains a flight measurement; CFD sizes the wing and flags surprises.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a 4.5 kg UAV, not a Part 23 aircraft. We still analyse the parts that kill people or the project: blades into wing, shaft yield, motor-mount fatigue, landing spike.</a:t>
            </a:r>
          </a:p>
          <a:p>
            <a:r>
              <a:t>Load cases are conservative factors on hover thrust and a 3-point landing.</a:t>
            </a:r>
          </a:p>
          <a:p>
            <a:r>
              <a:t>3D-printed mounts get extra scrutiny — they are the usual failure.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Student-build rule: COTS propulsion, printed interfaces, simple wing. Do not open a composites factory for V1.</a:t>
            </a:r>
          </a:p>
          <a:p>
            <a:r>
              <a:t>Tilt shafts are the precision parts — buy tube, machine ends, or print jigs.</a:t>
            </a:r>
          </a:p>
          <a:p>
            <a:r>
              <a:t>First article is a fit-check airframe before we commit foam/composite skins.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Nobody flies a 4.5 kg VTOL that has not been on a thrust stand and a tilt rig.</a:t>
            </a:r>
          </a:p>
          <a:p>
            <a:r>
              <a:t>GT-4 (tilt endurance) is the test that finds print-layer cracks.</a:t>
            </a:r>
          </a:p>
          <a:p>
            <a:r>
              <a:t>Power instrumentation is calibrated on the bench so the flight comparison is not a sensor argument.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Envelope expansion, not a show flight. FT-1 is a hover. Science happens at FT-6/7.</a:t>
            </a:r>
          </a:p>
          <a:p>
            <a:r>
              <a:t>Wing-off comparison is either a removable-wing article or a rotor-borne pass at the same mass with tilt locked at 0° in slow forward flight — we will pick one and freeze it in the test plan.</a:t>
            </a:r>
          </a:p>
          <a:p>
            <a:r>
              <a:t>Weather: low wind for first transitions.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predictions, clearly labelled. Faculty should hear the uncertainty bands.</a:t>
            </a:r>
          </a:p>
          <a:p>
            <a:r>
              <a:t>The only result that defines success is a measured electrical-power reduction with uncertainty, at matched mass.</a:t>
            </a:r>
          </a:p>
          <a:p>
            <a:r>
              <a:t>CL 0.395 is a design point, not a trophy — we will report the α that actually produced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money slide. Bars are momentum-theory plus a simple drag polar — not flight data.</a:t>
            </a:r>
          </a:p>
          <a:p>
            <a:r>
              <a:t>Wing-off forward at 20 m/s is the expensive condition: rotors still lifting, now also dragging.</a:t>
            </a:r>
          </a:p>
          <a:p>
            <a:r>
              <a:t>Wing-on at the 70% lift design point is conservative; a drag-sized thrust at 75° is the floor we hope to approach after tuning.</a:t>
            </a:r>
          </a:p>
          <a:p>
            <a:r>
              <a:t>Flight test will replace these bands with mean ± scatter from FT-6 and FT-7.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Top risk is mass growth — it eats hover margin and the empty-mass promise.</a:t>
            </a:r>
          </a:p>
          <a:p>
            <a:r>
              <a:t>Second is transition pitch. Third is Li-ion C-rate on 16-inch props.</a:t>
            </a:r>
          </a:p>
          <a:p>
            <a:r>
              <a:t>We mitigate with a freeze date, a thrust stand, and a tether.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V1 is the experiment. V2 is the aeroplane we would build if V1's power delta is real.</a:t>
            </a:r>
          </a:p>
          <a:p>
            <a:r>
              <a:t>Do not promise autonomous delivery. Promise a cleaner tilt, a better polar, and maybe 90° if the data wants it.</a:t>
            </a:r>
          </a:p>
          <a:p>
            <a:r>
              <a:t>Differential front/rear tilt as a pitch effector is the most interesting control upgrade.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Eight months, one vehicle. The critical path is tilt CAD → printed axis → stand → tether.</a:t>
            </a:r>
          </a:p>
          <a:p>
            <a:r>
              <a:t>Flight test is not a week at the end — it is a month of envelope expansion.</a:t>
            </a:r>
          </a:p>
          <a:p>
            <a:r>
              <a:t>Faculty review gates sit at M2 (config freeze), M5 (prototype), M8 (results).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Student-project money, not a company BOM. Figures are planning estimates in INR including contingency.</a:t>
            </a:r>
          </a:p>
          <a:p>
            <a:r>
              <a:t>Propulsion plus avionics are half the spend. The wing is cheap until we break it.</a:t>
            </a:r>
          </a:p>
          <a:p>
            <a:r>
              <a:t>Contingency 15% is for the second pack, the broken props, and the servo we will stall on the bench.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Restate the mission in one breath, then the frozen numbers, then the experiment.</a:t>
            </a:r>
          </a:p>
          <a:p>
            <a:r>
              <a:t>Pushpak V1 exists to measure a power delta, not to look like an eVTOL poster.</a:t>
            </a:r>
          </a:p>
          <a:p>
            <a:r>
              <a:t>Ask for the go-ahead to freeze configuration and buy long-lead motors, Pixhawk, and the 6S pack.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Stop talking. Offer the test cards and the mass budget as handouts if asked.</a:t>
            </a:r>
          </a:p>
          <a:p>
            <a:r>
              <a:t>Likely questions: why 75° not 90°; why Li-ion; why paired shafts not four independent pods; how you will fly wing-off safely.</a:t>
            </a:r>
          </a:p>
          <a:p>
            <a:r>
              <a:t>Answers are on slides 8, 10, 16, and 34.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2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3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ushpak-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0520" y="0"/>
            <a:ext cx="803117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806440" cy="6858000"/>
          </a:xfrm>
          <a:prstGeom prst="rect">
            <a:avLst/>
          </a:prstGeom>
          <a:solidFill>
            <a:srgbClr val="0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0" y="0"/>
            <a:ext cx="320040" cy="6858000"/>
          </a:xfrm>
          <a:prstGeom prst="rect">
            <a:avLst/>
          </a:prstGeom>
          <a:solidFill>
            <a:srgbClr val="0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051560"/>
            <a:ext cx="2331720" cy="292608"/>
          </a:xfrm>
          <a:prstGeom prst="roundRect">
            <a:avLst>
              <a:gd name="adj" fmla="val 50000"/>
            </a:avLst>
          </a:prstGeom>
          <a:solidFill>
            <a:srgbClr val="0D3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2331720" cy="292608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D4E8"/>
                </a:solidFill>
                <a:latin typeface="JetBrains Mono"/>
              </a:rPr>
              <a:t>DESIGN REVIEW  · 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1481328"/>
            <a:ext cx="5486400" cy="256032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D4E8"/>
                </a:solidFill>
                <a:latin typeface="JetBrains Mono"/>
              </a:rPr>
              <a:t>PUSHPAK  V1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755648"/>
            <a:ext cx="5577840" cy="123444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Inter"/>
              </a:rPr>
              <a:t>Tilt-Rotor VTOL
UAV Demonstrator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3154680"/>
            <a:ext cx="5212080" cy="64008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D7DFEA"/>
                </a:solidFill>
                <a:latin typeface="Inter"/>
              </a:rPr>
              <a:t>Mission: demonstrate electrical-power reduction in forward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D7DFEA"/>
                </a:solidFill>
                <a:latin typeface="Inter"/>
              </a:rPr>
              <a:t>flight through wing-borne lift vs pure rotor-borne flight.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931920"/>
            <a:ext cx="2212848" cy="777240"/>
          </a:xfrm>
          <a:prstGeom prst="roundRect">
            <a:avLst>
              <a:gd name="adj" fmla="val 6000"/>
            </a:avLst>
          </a:prstGeom>
          <a:solidFill>
            <a:srgbClr val="121C30"/>
          </a:solidFill>
          <a:ln w="12700">
            <a:solidFill>
              <a:srgbClr val="243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3931920"/>
            <a:ext cx="2212848" cy="41148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4023359"/>
            <a:ext cx="2011680" cy="329184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JetBrains Mono"/>
              </a:rPr>
              <a:t>4 ROTORS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352544"/>
            <a:ext cx="2011680" cy="256032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A97AD"/>
                </a:solidFill>
                <a:latin typeface="Inter"/>
              </a:rPr>
              <a:t>FRONT + REAR TILT PAIRS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88920" y="3931920"/>
            <a:ext cx="2212848" cy="777240"/>
          </a:xfrm>
          <a:prstGeom prst="roundRect">
            <a:avLst>
              <a:gd name="adj" fmla="val 6000"/>
            </a:avLst>
          </a:prstGeom>
          <a:solidFill>
            <a:srgbClr val="121C30"/>
          </a:solidFill>
          <a:ln w="12700">
            <a:solidFill>
              <a:srgbClr val="243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88920" y="3931920"/>
            <a:ext cx="2212848" cy="41148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98648" y="4023359"/>
            <a:ext cx="2011680" cy="329184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JetBrains Mono"/>
              </a:rPr>
              <a:t>4.5 kg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98648" y="4352544"/>
            <a:ext cx="2011680" cy="256032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A97AD"/>
                </a:solidFill>
                <a:latin typeface="Inter"/>
              </a:rPr>
              <a:t>DESIGN-POINT MTOW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800600"/>
            <a:ext cx="2212848" cy="777240"/>
          </a:xfrm>
          <a:prstGeom prst="roundRect">
            <a:avLst>
              <a:gd name="adj" fmla="val 6000"/>
            </a:avLst>
          </a:prstGeom>
          <a:solidFill>
            <a:srgbClr val="121C30"/>
          </a:solidFill>
          <a:ln w="12700">
            <a:solidFill>
              <a:srgbClr val="243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4800600"/>
            <a:ext cx="2212848" cy="41148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4892040"/>
            <a:ext cx="2011680" cy="329184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JetBrains Mono"/>
              </a:rPr>
              <a:t>1.0 kg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5221224"/>
            <a:ext cx="2011680" cy="256032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A97AD"/>
                </a:solidFill>
                <a:latin typeface="Inter"/>
              </a:rPr>
              <a:t>PAYLOAD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88920" y="4800600"/>
            <a:ext cx="2212848" cy="777240"/>
          </a:xfrm>
          <a:prstGeom prst="roundRect">
            <a:avLst>
              <a:gd name="adj" fmla="val 6000"/>
            </a:avLst>
          </a:prstGeom>
          <a:solidFill>
            <a:srgbClr val="121C30"/>
          </a:solidFill>
          <a:ln w="12700">
            <a:solidFill>
              <a:srgbClr val="243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88920" y="4800600"/>
            <a:ext cx="2212848" cy="41148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98648" y="4892040"/>
            <a:ext cx="2011680" cy="329184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JetBrains Mono"/>
              </a:rPr>
              <a:t>PIXHAWK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98648" y="5221224"/>
            <a:ext cx="2011680" cy="256032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A97AD"/>
                </a:solidFill>
                <a:latin typeface="Inter"/>
              </a:rPr>
              <a:t>ARDUPILOT + ESP32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760720"/>
            <a:ext cx="5212080" cy="201168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D4E8"/>
                </a:solidFill>
                <a:latin typeface="JetBrains Mono"/>
              </a:rPr>
              <a:t>PROJECT TEAM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" y="5943600"/>
            <a:ext cx="5303520" cy="658368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D7DFEA"/>
                </a:solidFill>
                <a:latin typeface="JetBrains Mono"/>
              </a:rPr>
              <a:t>Ishaan Bafna   ·   PRN 23070125017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D7DFEA"/>
                </a:solidFill>
                <a:latin typeface="JetBrains Mono"/>
              </a:rPr>
              <a:t>Aman Ravat     ·   PRN 23070125004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D7DFEA"/>
                </a:solidFill>
                <a:latin typeface="JetBrains Mono"/>
              </a:rPr>
              <a:t>Krit Verma     ·   PRN 230701250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748272"/>
            <a:ext cx="12191999" cy="109728"/>
          </a:xfrm>
          <a:prstGeom prst="rect">
            <a:avLst/>
          </a:prstGeom>
          <a:solidFill>
            <a:srgbClr val="0C17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6748272"/>
            <a:ext cx="12191999" cy="13716"/>
          </a:xfrm>
          <a:prstGeom prst="rect">
            <a:avLst/>
          </a:prstGeom>
          <a:solidFill>
            <a:srgbClr val="2434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6757416"/>
            <a:ext cx="8412480" cy="91440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C6B82"/>
                </a:solidFill>
                <a:latin typeface="JetBrains Mono"/>
              </a:rPr>
              <a:t>PUSHPAK V1   ·   TILT-ROTOR VTOL DEMONSTRATOR   ·   FINAL YEAR DESIGN REVIEW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46920" y="6757416"/>
            <a:ext cx="2148840" cy="91440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D4E8"/>
                </a:solidFill>
                <a:latin typeface="JetBrains Mono"/>
              </a:rPr>
              <a:t>01  /  40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11338560" cy="256032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D4E8"/>
                </a:solidFill>
                <a:latin typeface="JetBrains Mono"/>
              </a:rPr>
              <a:t>01  / 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47472"/>
            <a:ext cx="11430000" cy="420624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Inter"/>
              </a:rPr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749808"/>
            <a:ext cx="11338560" cy="256032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A97AD"/>
                </a:solidFill>
                <a:latin typeface="Inter"/>
              </a:rPr>
              <a:t>RC tilt-rotor VTOL demonstrator  ·  four rotors  ·  fixed wing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48272"/>
            <a:ext cx="12191999" cy="109728"/>
          </a:xfrm>
          <a:prstGeom prst="rect">
            <a:avLst/>
          </a:prstGeom>
          <a:solidFill>
            <a:srgbClr val="0C17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91999" cy="13716"/>
          </a:xfrm>
          <a:prstGeom prst="rect">
            <a:avLst/>
          </a:prstGeom>
          <a:solidFill>
            <a:srgbClr val="2434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757416"/>
            <a:ext cx="8412480" cy="91440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C6B82"/>
                </a:solidFill>
                <a:latin typeface="JetBrains Mono"/>
              </a:rPr>
              <a:t>PUSHPAK V1   ·   TILT-ROTOR VTOL DEMONSTRATOR   ·   FINAL YEAR DESIGN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46920" y="6757416"/>
            <a:ext cx="2148840" cy="91440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D4E8"/>
                </a:solidFill>
                <a:latin typeface="JetBrains Mono"/>
              </a:rPr>
              <a:t>02  /  40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115568"/>
            <a:ext cx="11411712" cy="658368"/>
          </a:xfrm>
          <a:prstGeom prst="roundRect">
            <a:avLst>
              <a:gd name="adj" fmla="val 6000"/>
            </a:avLst>
          </a:prstGeom>
          <a:solidFill>
            <a:srgbClr val="121C30"/>
          </a:solidFill>
          <a:ln w="12700">
            <a:solidFill>
              <a:srgbClr val="243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115568"/>
            <a:ext cx="11411712" cy="41148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234440"/>
            <a:ext cx="11064240" cy="438912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Inter"/>
              </a:rPr>
              <a:t>Prove that wing-borne lift reduces electrical power in forward flight relative to pure rotor-borne flight at the same MTOW.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1938528"/>
            <a:ext cx="3639312" cy="2084831"/>
          </a:xfrm>
          <a:prstGeom prst="roundRect">
            <a:avLst>
              <a:gd name="adj" fmla="val 6000"/>
            </a:avLst>
          </a:prstGeom>
          <a:solidFill>
            <a:srgbClr val="121C30"/>
          </a:solidFill>
          <a:ln w="12700">
            <a:solidFill>
              <a:srgbClr val="243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4048" y="1938528"/>
            <a:ext cx="3639312" cy="41148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084832"/>
            <a:ext cx="3291840" cy="292608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D4E8"/>
                </a:solidFill>
                <a:latin typeface="JetBrains Mono"/>
              </a:rPr>
              <a:t>AIRCRAFT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" y="2414016"/>
            <a:ext cx="3383280" cy="146304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D7DFEA"/>
                </a:solidFill>
                <a:latin typeface="Inter"/>
              </a:rPr>
              <a:t>RC tilt-rotor VTOL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D7DFEA"/>
                </a:solidFill>
                <a:latin typeface="Inter"/>
              </a:rPr>
              <a:t>4 rotors + fixed wing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D7DFEA"/>
                </a:solidFill>
                <a:latin typeface="Inter"/>
              </a:rPr>
              <a:t>Front &amp; rear tilt pairs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87952" y="1938528"/>
            <a:ext cx="3639312" cy="2084831"/>
          </a:xfrm>
          <a:prstGeom prst="roundRect">
            <a:avLst>
              <a:gd name="adj" fmla="val 6000"/>
            </a:avLst>
          </a:prstGeom>
          <a:solidFill>
            <a:srgbClr val="121C30"/>
          </a:solidFill>
          <a:ln w="12700">
            <a:solidFill>
              <a:srgbClr val="243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87952" y="1938528"/>
            <a:ext cx="3639312" cy="41148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52544" y="2084832"/>
            <a:ext cx="3291840" cy="292608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D4E8"/>
                </a:solidFill>
                <a:latin typeface="JetBrains Mono"/>
              </a:rPr>
              <a:t>DESIGN POINT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2414016"/>
            <a:ext cx="3383280" cy="146304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D7DFEA"/>
                </a:solidFill>
                <a:latin typeface="Inter"/>
              </a:rPr>
              <a:t>MTOW  4.5 kg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D7DFEA"/>
                </a:solidFill>
                <a:latin typeface="Inter"/>
              </a:rPr>
              <a:t>Target  4.0–4.5 kg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D7DFEA"/>
                </a:solidFill>
                <a:latin typeface="Inter"/>
              </a:rPr>
              <a:t>Payload  1.0 kg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91856" y="1938528"/>
            <a:ext cx="3639312" cy="2084831"/>
          </a:xfrm>
          <a:prstGeom prst="roundRect">
            <a:avLst>
              <a:gd name="adj" fmla="val 6000"/>
            </a:avLst>
          </a:prstGeom>
          <a:solidFill>
            <a:srgbClr val="121C30"/>
          </a:solidFill>
          <a:ln w="12700">
            <a:solidFill>
              <a:srgbClr val="243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91856" y="1938528"/>
            <a:ext cx="3639312" cy="41148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56448" y="2084832"/>
            <a:ext cx="3291840" cy="292608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D4E8"/>
                </a:solidFill>
                <a:latin typeface="JetBrains Mono"/>
              </a:rPr>
              <a:t>PROPULSION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01583" y="2414016"/>
            <a:ext cx="3383280" cy="146304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D7DFEA"/>
                </a:solidFill>
                <a:latin typeface="Inter"/>
              </a:rPr>
              <a:t>4 × MY4215 400KV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D7DFEA"/>
                </a:solidFill>
                <a:latin typeface="Inter"/>
              </a:rPr>
              <a:t>16-inch class props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D7DFEA"/>
                </a:solidFill>
                <a:latin typeface="Inter"/>
              </a:rPr>
              <a:t>6S Li-ion  ~20 Ah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84048" y="4178808"/>
            <a:ext cx="3639312" cy="2084831"/>
          </a:xfrm>
          <a:prstGeom prst="roundRect">
            <a:avLst>
              <a:gd name="adj" fmla="val 6000"/>
            </a:avLst>
          </a:prstGeom>
          <a:solidFill>
            <a:srgbClr val="121C30"/>
          </a:solidFill>
          <a:ln w="12700">
            <a:solidFill>
              <a:srgbClr val="243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84048" y="4178808"/>
            <a:ext cx="3639312" cy="41148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4325112"/>
            <a:ext cx="3291840" cy="292608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D4E8"/>
                </a:solidFill>
                <a:latin typeface="JetBrains Mono"/>
              </a:rPr>
              <a:t>AVIONICS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3776" y="4654296"/>
            <a:ext cx="3383280" cy="146304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D7DFEA"/>
                </a:solidFill>
                <a:latin typeface="Inter"/>
              </a:rPr>
              <a:t>Pixhawk + ArduPilot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D7DFEA"/>
                </a:solidFill>
                <a:latin typeface="Inter"/>
              </a:rPr>
              <a:t>ESP32 companion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D7DFEA"/>
                </a:solidFill>
                <a:latin typeface="Inter"/>
              </a:rPr>
              <a:t>Pitot · GPS · mag encoders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187952" y="4178808"/>
            <a:ext cx="3639312" cy="2084831"/>
          </a:xfrm>
          <a:prstGeom prst="roundRect">
            <a:avLst>
              <a:gd name="adj" fmla="val 6000"/>
            </a:avLst>
          </a:prstGeom>
          <a:solidFill>
            <a:srgbClr val="121C30"/>
          </a:solidFill>
          <a:ln w="12700">
            <a:solidFill>
              <a:srgbClr val="243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187952" y="4178808"/>
            <a:ext cx="3639312" cy="41148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52544" y="4325112"/>
            <a:ext cx="3291840" cy="292608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D4E8"/>
                </a:solidFill>
                <a:latin typeface="JetBrains Mono"/>
              </a:rPr>
              <a:t>TILT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97680" y="4654296"/>
            <a:ext cx="3383280" cy="146304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D7DFEA"/>
                </a:solidFill>
                <a:latin typeface="Inter"/>
              </a:rPr>
              <a:t>2 × STS3215-C018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D7DFEA"/>
                </a:solidFill>
                <a:latin typeface="Inter"/>
              </a:rPr>
              <a:t>One servo per axis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D7DFEA"/>
                </a:solidFill>
                <a:latin typeface="Inter"/>
              </a:rPr>
              <a:t>Max tilt  75°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91856" y="4178808"/>
            <a:ext cx="3639312" cy="2084831"/>
          </a:xfrm>
          <a:prstGeom prst="roundRect">
            <a:avLst>
              <a:gd name="adj" fmla="val 6000"/>
            </a:avLst>
          </a:prstGeom>
          <a:solidFill>
            <a:srgbClr val="121C30"/>
          </a:solidFill>
          <a:ln w="12700">
            <a:solidFill>
              <a:srgbClr val="243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991856" y="4178808"/>
            <a:ext cx="3639312" cy="41148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56448" y="4325112"/>
            <a:ext cx="3291840" cy="292608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D4E8"/>
                </a:solidFill>
                <a:latin typeface="JetBrains Mono"/>
              </a:rPr>
              <a:t>GEOMETRY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01583" y="4654296"/>
            <a:ext cx="3383280" cy="146304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D7DFEA"/>
                </a:solidFill>
                <a:latin typeface="Inter"/>
              </a:rPr>
              <a:t>Wing span  1300 mm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D7DFEA"/>
                </a:solidFill>
                <a:latin typeface="Inter"/>
              </a:rPr>
              <a:t>Fuselage  1200–1300 mm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D7DFEA"/>
                </a:solidFill>
                <a:latin typeface="Inter"/>
              </a:rPr>
              <a:t>Rotor span  1700–1900 mm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11338560" cy="256032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D4E8"/>
                </a:solidFill>
                <a:latin typeface="JetBrains Mono"/>
              </a:rPr>
              <a:t>02  / 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47472"/>
            <a:ext cx="11430000" cy="420624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Inter"/>
              </a:rPr>
              <a:t>Problem Statement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48272"/>
            <a:ext cx="12191999" cy="109728"/>
          </a:xfrm>
          <a:prstGeom prst="rect">
            <a:avLst/>
          </a:prstGeom>
          <a:solidFill>
            <a:srgbClr val="0C17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48272"/>
            <a:ext cx="12191999" cy="13716"/>
          </a:xfrm>
          <a:prstGeom prst="rect">
            <a:avLst/>
          </a:prstGeom>
          <a:solidFill>
            <a:srgbClr val="2434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757416"/>
            <a:ext cx="8412480" cy="91440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C6B82"/>
                </a:solidFill>
                <a:latin typeface="JetBrains Mono"/>
              </a:rPr>
              <a:t>PUSHPAK V1   ·   TILT-ROTOR VTOL DEMONSTRATOR   ·   FINAL YEAR DESIGN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46920" y="6757416"/>
            <a:ext cx="2148840" cy="91440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D4E8"/>
                </a:solidFill>
                <a:latin typeface="JetBrains Mono"/>
              </a:rPr>
              <a:t>03  /  40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" y="1115568"/>
            <a:ext cx="5532120" cy="5349240"/>
          </a:xfrm>
          <a:prstGeom prst="roundRect">
            <a:avLst>
              <a:gd name="adj" fmla="val 6000"/>
            </a:avLst>
          </a:prstGeom>
          <a:solidFill>
            <a:srgbClr val="121C30"/>
          </a:solidFill>
          <a:ln w="12700">
            <a:solidFill>
              <a:srgbClr val="243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66928" y="1298448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0D3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298448"/>
            <a:ext cx="1554480" cy="274320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D4E8"/>
                </a:solidFill>
                <a:latin typeface="JetBrains Mono"/>
              </a:rPr>
              <a:t>CONSTRAINT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1719072"/>
            <a:ext cx="5120640" cy="82296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Inter"/>
              </a:rPr>
              <a:t>Rotor-borne flight
carries the full weight
through the propellers.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063240"/>
            <a:ext cx="5212080" cy="30175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D7DFEA"/>
                </a:solidFill>
                <a:latin typeface="Inter"/>
              </a:rPr>
              <a:t>▸  Induced power scales with disk loading, not with airspeed.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D7DFEA"/>
                </a:solidFill>
                <a:latin typeface="Inter"/>
              </a:rPr>
              <a:t>▸  A 4.5 kg quadrotor still burns hundreds of watts just to stay aloft.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D7DFEA"/>
                </a:solidFill>
                <a:latin typeface="Inter"/>
              </a:rPr>
              <a:t>▸  Edgewise forward flight adds profile and parasite penalties.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D7DFEA"/>
                </a:solidFill>
                <a:latin typeface="Inter"/>
              </a:rPr>
              <a:t>▸  Endurance and range collapse before a useful payload mission is complete.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D7DFEA"/>
                </a:solidFill>
                <a:latin typeface="Inter"/>
              </a:rPr>
              <a:t>▸  Student-class VTOL demonstrators rarely isolate the wing-lift benefit with flight data.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115568"/>
            <a:ext cx="5669280" cy="5349240"/>
          </a:xfrm>
          <a:prstGeom prst="roundRect">
            <a:avLst>
              <a:gd name="adj" fmla="val 6000"/>
            </a:avLst>
          </a:prstGeom>
          <a:solidFill>
            <a:srgbClr val="121C30"/>
          </a:solidFill>
          <a:ln w="12700">
            <a:solidFill>
              <a:srgbClr val="243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26480" y="1115568"/>
            <a:ext cx="5669280" cy="41148"/>
          </a:xfrm>
          <a:prstGeom prst="rect">
            <a:avLst/>
          </a:prstGeom>
          <a:solidFill>
            <a:srgbClr val="F5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09360" y="1298448"/>
            <a:ext cx="1737360" cy="274320"/>
          </a:xfrm>
          <a:prstGeom prst="roundRect">
            <a:avLst>
              <a:gd name="adj" fmla="val 50000"/>
            </a:avLst>
          </a:prstGeom>
          <a:solidFill>
            <a:srgbClr val="0D3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1298448"/>
            <a:ext cx="1737360" cy="274320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5B942"/>
                </a:solidFill>
                <a:latin typeface="JetBrains Mono"/>
              </a:rPr>
              <a:t>RESPONSE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1719072"/>
            <a:ext cx="5303520" cy="82296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Inter"/>
              </a:rPr>
              <a:t>Add a wing. Offload lift.
Measure the electrical
power that disappears.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36208" y="3063240"/>
            <a:ext cx="5394960" cy="30175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D7DFEA"/>
                </a:solidFill>
                <a:latin typeface="Inter"/>
              </a:rPr>
              <a:t>▸  Wing target: 70% of weight at 20 m/s cruise.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D7DFEA"/>
                </a:solidFill>
                <a:latin typeface="Inter"/>
              </a:rPr>
              <a:t>▸  Rotors unload, then tilt to 75° to provide thrust.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D7DFEA"/>
                </a:solidFill>
                <a:latin typeface="Inter"/>
              </a:rPr>
              <a:t>▸  Same airframe flown wing-on vs wing-off (or rotor-borne equivalent).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D7DFEA"/>
                </a:solidFill>
                <a:latin typeface="Inter"/>
              </a:rPr>
              <a:t>▸  Success = a documented reduction in electrical power, not a paper polar.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D7DFEA"/>
                </a:solidFill>
                <a:latin typeface="Inter"/>
              </a:rPr>
              <a:t>▸  Demonstrator mass, cost and complexity stay inside a university build.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11338560" cy="256032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D4E8"/>
                </a:solidFill>
                <a:latin typeface="JetBrains Mono"/>
              </a:rPr>
              <a:t>03  / 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47472"/>
            <a:ext cx="11430000" cy="420624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Inter"/>
              </a:rPr>
              <a:t>Why VTOL + Fixed Wing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48272"/>
            <a:ext cx="12191999" cy="109728"/>
          </a:xfrm>
          <a:prstGeom prst="rect">
            <a:avLst/>
          </a:prstGeom>
          <a:solidFill>
            <a:srgbClr val="0C17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48272"/>
            <a:ext cx="12191999" cy="13716"/>
          </a:xfrm>
          <a:prstGeom prst="rect">
            <a:avLst/>
          </a:prstGeom>
          <a:solidFill>
            <a:srgbClr val="2434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757416"/>
            <a:ext cx="8412480" cy="91440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C6B82"/>
                </a:solidFill>
                <a:latin typeface="JetBrains Mono"/>
              </a:rPr>
              <a:t>PUSHPAK V1   ·   TILT-ROTOR VTOL DEMONSTRATOR   ·   FINAL YEAR DESIGN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46920" y="6757416"/>
            <a:ext cx="2148840" cy="91440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D4E8"/>
                </a:solidFill>
                <a:latin typeface="JetBrains Mono"/>
              </a:rPr>
              <a:t>04  /  40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84048" y="1115568"/>
          <a:ext cx="11411712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2928"/>
                <a:gridCol w="2852928"/>
                <a:gridCol w="2852928"/>
                <a:gridCol w="2852928"/>
              </a:tblGrid>
              <a:tr h="508000">
                <a:tc>
                  <a:txBody>
                    <a:bodyPr lIns="73152" rIns="54864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00D4E8"/>
                          </a:solidFill>
                          <a:latin typeface="JetBrains Mono"/>
                        </a:rPr>
                        <a:t>Attribute</a:t>
                      </a:r>
                    </a:p>
                  </a:txBody>
                  <a:tcPr anchor="ctr">
                    <a:solidFill>
                      <a:srgbClr val="0D3C4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00D4E8"/>
                          </a:solidFill>
                          <a:latin typeface="JetBrains Mono"/>
                        </a:rPr>
                        <a:t>Multirotor</a:t>
                      </a:r>
                    </a:p>
                  </a:txBody>
                  <a:tcPr anchor="ctr">
                    <a:solidFill>
                      <a:srgbClr val="0D3C4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00D4E8"/>
                          </a:solidFill>
                          <a:latin typeface="JetBrains Mono"/>
                        </a:rPr>
                        <a:t>Fixed wing</a:t>
                      </a:r>
                    </a:p>
                  </a:txBody>
                  <a:tcPr anchor="ctr">
                    <a:solidFill>
                      <a:srgbClr val="0D3C4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00D4E8"/>
                          </a:solidFill>
                          <a:latin typeface="JetBrains Mono"/>
                        </a:rPr>
                        <a:t>Tilt-rotor VTOL</a:t>
                      </a:r>
                    </a:p>
                  </a:txBody>
                  <a:tcPr anchor="ctr">
                    <a:solidFill>
                      <a:srgbClr val="0D3C4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</a:tr>
              <a:tr h="508000">
                <a:tc>
                  <a:txBody>
                    <a:bodyPr lIns="73152" rIns="54864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Inter"/>
                        </a:rPr>
                        <a:t>Runway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JetBrains Mono"/>
                        </a:rPr>
                        <a:t>None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JetBrains Mono"/>
                        </a:rPr>
                        <a:t>Required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JetBrains Mono"/>
                        </a:rPr>
                        <a:t>None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</a:tr>
              <a:tr h="508000">
                <a:tc>
                  <a:txBody>
                    <a:bodyPr lIns="73152" rIns="54864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Inter"/>
                        </a:rPr>
                        <a:t>Hover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JetBrains Mono"/>
                        </a:rPr>
                        <a:t>Native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JetBrains Mono"/>
                        </a:rPr>
                        <a:t>No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JetBrains Mono"/>
                        </a:rPr>
                        <a:t>Native (4 rotors)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</a:tr>
              <a:tr h="508000">
                <a:tc>
                  <a:txBody>
                    <a:bodyPr lIns="73152" rIns="54864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Inter"/>
                        </a:rPr>
                        <a:t>Cruise lift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JetBrains Mono"/>
                        </a:rPr>
                        <a:t>Rotor-borne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JetBrains Mono"/>
                        </a:rPr>
                        <a:t>Wing-borne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JetBrains Mono"/>
                        </a:rPr>
                        <a:t>Wing + residual rotor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</a:tr>
              <a:tr h="508000">
                <a:tc>
                  <a:txBody>
                    <a:bodyPr lIns="73152" rIns="54864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Inter"/>
                        </a:rPr>
                        <a:t>Cruise power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JetBrains Mono"/>
                        </a:rPr>
                        <a:t>High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JetBrains Mono"/>
                        </a:rPr>
                        <a:t>Low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JetBrains Mono"/>
                        </a:rPr>
                        <a:t>Target: reduced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</a:tr>
              <a:tr h="508000">
                <a:tc>
                  <a:txBody>
                    <a:bodyPr lIns="73152" rIns="54864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Inter"/>
                        </a:rPr>
                        <a:t>Propulsion sets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JetBrains Mono"/>
                        </a:rPr>
                        <a:t>1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JetBrains Mono"/>
                        </a:rPr>
                        <a:t>1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JetBrains Mono"/>
                        </a:rPr>
                        <a:t>1 (reused)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</a:tr>
              <a:tr h="508000">
                <a:tc>
                  <a:txBody>
                    <a:bodyPr lIns="73152" rIns="54864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Inter"/>
                        </a:rPr>
                        <a:t>Transition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JetBrains Mono"/>
                        </a:rPr>
                        <a:t>N/A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JetBrains Mono"/>
                        </a:rPr>
                        <a:t>N/A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JetBrains Mono"/>
                        </a:rPr>
                        <a:t>Scheduled tilt + throttle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</a:tr>
              <a:tr h="508000">
                <a:tc>
                  <a:txBody>
                    <a:bodyPr lIns="73152" rIns="54864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Inter"/>
                        </a:rPr>
                        <a:t>Instrumentation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JetBrains Mono"/>
                        </a:rPr>
                        <a:t>Easy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JetBrains Mono"/>
                        </a:rPr>
                        <a:t>Easy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JetBrains Mono"/>
                        </a:rPr>
                        <a:t>Tilt angle + airspeed + power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</a:tr>
              <a:tr h="508000">
                <a:tc>
                  <a:txBody>
                    <a:bodyPr lIns="73152" rIns="54864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Inter"/>
                        </a:rPr>
                        <a:t>Fit to mission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JetBrains Mono"/>
                        </a:rPr>
                        <a:t>No (no wing benefit)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JetBrains Mono"/>
                        </a:rPr>
                        <a:t>No (no VTOL)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JetBrains Mono"/>
                        </a:rPr>
                        <a:t>Selected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384048" y="5833872"/>
            <a:ext cx="11411712" cy="777240"/>
          </a:xfrm>
          <a:prstGeom prst="roundRect">
            <a:avLst>
              <a:gd name="adj" fmla="val 6000"/>
            </a:avLst>
          </a:prstGeom>
          <a:solidFill>
            <a:srgbClr val="121C30"/>
          </a:solidFill>
          <a:ln w="12700">
            <a:solidFill>
              <a:srgbClr val="243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5833872"/>
            <a:ext cx="11411712" cy="41148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5961888"/>
            <a:ext cx="11064240" cy="50292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Inter"/>
              </a:rPr>
              <a:t>Selection logic  ·  one motor set  ·  two tilt axes  ·  measurable wing-offload  ·  ArduPilot VTOL heritage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11338560" cy="256032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D4E8"/>
                </a:solidFill>
                <a:latin typeface="JetBrains Mono"/>
              </a:rPr>
              <a:t>04  /  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47472"/>
            <a:ext cx="11430000" cy="420624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Inter"/>
              </a:rPr>
              <a:t>Mission Requirements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48272"/>
            <a:ext cx="12191999" cy="109728"/>
          </a:xfrm>
          <a:prstGeom prst="rect">
            <a:avLst/>
          </a:prstGeom>
          <a:solidFill>
            <a:srgbClr val="0C17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48272"/>
            <a:ext cx="12191999" cy="13716"/>
          </a:xfrm>
          <a:prstGeom prst="rect">
            <a:avLst/>
          </a:prstGeom>
          <a:solidFill>
            <a:srgbClr val="2434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757416"/>
            <a:ext cx="8412480" cy="91440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C6B82"/>
                </a:solidFill>
                <a:latin typeface="JetBrains Mono"/>
              </a:rPr>
              <a:t>PUSHPAK V1   ·   TILT-ROTOR VTOL DEMONSTRATOR   ·   FINAL YEAR DESIGN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46920" y="6757416"/>
            <a:ext cx="2148840" cy="91440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D4E8"/>
                </a:solidFill>
                <a:latin typeface="JetBrains Mono"/>
              </a:rPr>
              <a:t>05  /  40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" y="1097280"/>
            <a:ext cx="11411712" cy="804672"/>
          </a:xfrm>
          <a:prstGeom prst="roundRect">
            <a:avLst>
              <a:gd name="adj" fmla="val 6000"/>
            </a:avLst>
          </a:prstGeom>
          <a:solidFill>
            <a:srgbClr val="121C30"/>
          </a:solidFill>
          <a:ln w="12700">
            <a:solidFill>
              <a:srgbClr val="243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4048" y="1097280"/>
            <a:ext cx="11411712" cy="41148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1298448"/>
            <a:ext cx="1188720" cy="402336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D4E8"/>
                </a:solidFill>
                <a:latin typeface="JetBrains Mono"/>
              </a:rPr>
              <a:t>MR-1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783080" y="1353312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0D3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83080" y="1353312"/>
            <a:ext cx="1417320" cy="292608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D4E8"/>
                </a:solidFill>
                <a:latin typeface="JetBrains Mono"/>
              </a:rPr>
              <a:t>PRIMARY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1261872"/>
            <a:ext cx="8138160" cy="50292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D7DFEA"/>
                </a:solidFill>
                <a:latin typeface="Inter"/>
              </a:rPr>
              <a:t>Quantify electrical-power reduction in wing-borne forward flight versus rotor-borne flight at the same mass.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4048" y="1965960"/>
            <a:ext cx="11411712" cy="804672"/>
          </a:xfrm>
          <a:prstGeom prst="roundRect">
            <a:avLst>
              <a:gd name="adj" fmla="val 6000"/>
            </a:avLst>
          </a:prstGeom>
          <a:solidFill>
            <a:srgbClr val="121C30"/>
          </a:solidFill>
          <a:ln w="12700">
            <a:solidFill>
              <a:srgbClr val="243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84048" y="1965960"/>
            <a:ext cx="11411712" cy="41148"/>
          </a:xfrm>
          <a:prstGeom prst="rect">
            <a:avLst/>
          </a:prstGeom>
          <a:solidFill>
            <a:srgbClr val="2EE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2167128"/>
            <a:ext cx="1188720" cy="402336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EE6A6"/>
                </a:solidFill>
                <a:latin typeface="JetBrains Mono"/>
              </a:rPr>
              <a:t>MR-2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783080" y="2221991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0D3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83080" y="2221991"/>
            <a:ext cx="1417320" cy="292608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EE6A6"/>
                </a:solidFill>
                <a:latin typeface="JetBrains Mono"/>
              </a:rPr>
              <a:t>VTOL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2130552"/>
            <a:ext cx="8138160" cy="50292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D7DFEA"/>
                </a:solidFill>
                <a:latin typeface="Inter"/>
              </a:rPr>
              <a:t>Vertical take-off and landing from an unprepared 10 × 10 m pad, no catapult, no net.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4048" y="2834639"/>
            <a:ext cx="11411712" cy="804672"/>
          </a:xfrm>
          <a:prstGeom prst="roundRect">
            <a:avLst>
              <a:gd name="adj" fmla="val 6000"/>
            </a:avLst>
          </a:prstGeom>
          <a:solidFill>
            <a:srgbClr val="121C30"/>
          </a:solidFill>
          <a:ln w="12700">
            <a:solidFill>
              <a:srgbClr val="243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84048" y="2834639"/>
            <a:ext cx="11411712" cy="41148"/>
          </a:xfrm>
          <a:prstGeom prst="rect">
            <a:avLst/>
          </a:prstGeom>
          <a:solidFill>
            <a:srgbClr val="F5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" y="3035808"/>
            <a:ext cx="1188720" cy="402336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5B942"/>
                </a:solidFill>
                <a:latin typeface="JetBrains Mono"/>
              </a:rPr>
              <a:t>MR-3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783080" y="3090672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0D3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783080" y="3090672"/>
            <a:ext cx="1417320" cy="292608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5B942"/>
                </a:solidFill>
                <a:latin typeface="JetBrains Mono"/>
              </a:rPr>
              <a:t>PAYLOAD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83280" y="2999232"/>
            <a:ext cx="8138160" cy="50292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D7DFEA"/>
                </a:solidFill>
                <a:latin typeface="Inter"/>
              </a:rPr>
              <a:t>Carry 1.0 kg payload at design-point MTOW 4.5 kg (empty aircraft ≤ 3.5 kg).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84048" y="3703320"/>
            <a:ext cx="11411712" cy="804672"/>
          </a:xfrm>
          <a:prstGeom prst="roundRect">
            <a:avLst>
              <a:gd name="adj" fmla="val 6000"/>
            </a:avLst>
          </a:prstGeom>
          <a:solidFill>
            <a:srgbClr val="121C30"/>
          </a:solidFill>
          <a:ln w="12700">
            <a:solidFill>
              <a:srgbClr val="243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84048" y="3703320"/>
            <a:ext cx="11411712" cy="41148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0352" y="3904487"/>
            <a:ext cx="1188720" cy="402336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D4E8"/>
                </a:solidFill>
                <a:latin typeface="JetBrains Mono"/>
              </a:rPr>
              <a:t>MR-4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783080" y="3959352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0D3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783080" y="3959352"/>
            <a:ext cx="1417320" cy="292608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D4E8"/>
                </a:solidFill>
                <a:latin typeface="JetBrains Mono"/>
              </a:rPr>
              <a:t>CRUISE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83280" y="3867911"/>
            <a:ext cx="8138160" cy="50292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D7DFEA"/>
                </a:solidFill>
                <a:latin typeface="Inter"/>
              </a:rPr>
              <a:t>Sustain 20 m/s with the wing producing ~70% of lift (CL ≈ 0.395 on 0.32 m²).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84048" y="4572000"/>
            <a:ext cx="11411712" cy="804672"/>
          </a:xfrm>
          <a:prstGeom prst="roundRect">
            <a:avLst>
              <a:gd name="adj" fmla="val 6000"/>
            </a:avLst>
          </a:prstGeom>
          <a:solidFill>
            <a:srgbClr val="121C30"/>
          </a:solidFill>
          <a:ln w="12700">
            <a:solidFill>
              <a:srgbClr val="243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84048" y="4572000"/>
            <a:ext cx="11411712" cy="41148"/>
          </a:xfrm>
          <a:prstGeom prst="rect">
            <a:avLst/>
          </a:prstGeom>
          <a:solidFill>
            <a:srgbClr val="2EE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0352" y="4773168"/>
            <a:ext cx="1188720" cy="402336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EE6A6"/>
                </a:solidFill>
                <a:latin typeface="JetBrains Mono"/>
              </a:rPr>
              <a:t>MR-5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783080" y="4828032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0D3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783080" y="4828032"/>
            <a:ext cx="1417320" cy="292608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EE6A6"/>
                </a:solidFill>
                <a:latin typeface="JetBrains Mono"/>
              </a:rPr>
              <a:t>TRANSITION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83280" y="4736592"/>
            <a:ext cx="8138160" cy="50292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D7DFEA"/>
                </a:solidFill>
                <a:latin typeface="Inter"/>
              </a:rPr>
              <a:t>Stable hover → 75° tilt transition using Pixhawk / ArduPilot with logged states.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84048" y="5440680"/>
            <a:ext cx="11411712" cy="804672"/>
          </a:xfrm>
          <a:prstGeom prst="roundRect">
            <a:avLst>
              <a:gd name="adj" fmla="val 6000"/>
            </a:avLst>
          </a:prstGeom>
          <a:solidFill>
            <a:srgbClr val="121C30"/>
          </a:solidFill>
          <a:ln w="12700">
            <a:solidFill>
              <a:srgbClr val="243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84048" y="5440680"/>
            <a:ext cx="11411712" cy="41148"/>
          </a:xfrm>
          <a:prstGeom prst="rect">
            <a:avLst/>
          </a:prstGeom>
          <a:solidFill>
            <a:srgbClr val="F5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30352" y="5641848"/>
            <a:ext cx="1188720" cy="402336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5B942"/>
                </a:solidFill>
                <a:latin typeface="JetBrains Mono"/>
              </a:rPr>
              <a:t>MR-6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783080" y="5696712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0D3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783080" y="5696712"/>
            <a:ext cx="1417320" cy="292608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5B942"/>
                </a:solidFill>
                <a:latin typeface="JetBrains Mono"/>
              </a:rPr>
              <a:t>DATA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80" y="5605272"/>
            <a:ext cx="8138160" cy="50292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D7DFEA"/>
                </a:solidFill>
                <a:latin typeface="Inter"/>
              </a:rPr>
              <a:t>Log airspeed, tilt, RPM, bus voltage/current, actuator current, and inertial rates.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11338560" cy="256032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D4E8"/>
                </a:solidFill>
                <a:latin typeface="JetBrains Mono"/>
              </a:rPr>
              <a:t>05  / 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47472"/>
            <a:ext cx="11430000" cy="420624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Inter"/>
              </a:rPr>
              <a:t>Design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48272"/>
            <a:ext cx="12191999" cy="109728"/>
          </a:xfrm>
          <a:prstGeom prst="rect">
            <a:avLst/>
          </a:prstGeom>
          <a:solidFill>
            <a:srgbClr val="0C17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48272"/>
            <a:ext cx="12191999" cy="13716"/>
          </a:xfrm>
          <a:prstGeom prst="rect">
            <a:avLst/>
          </a:prstGeom>
          <a:solidFill>
            <a:srgbClr val="2434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757416"/>
            <a:ext cx="8412480" cy="91440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C6B82"/>
                </a:solidFill>
                <a:latin typeface="JetBrains Mono"/>
              </a:rPr>
              <a:t>PUSHPAK V1   ·   TILT-ROTOR VTOL DEMONSTRATOR   ·   FINAL YEAR DESIGN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46920" y="6757416"/>
            <a:ext cx="2148840" cy="91440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D4E8"/>
                </a:solidFill>
                <a:latin typeface="JetBrains Mono"/>
              </a:rPr>
              <a:t>06  /  40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" y="1115568"/>
            <a:ext cx="2788920" cy="2468880"/>
          </a:xfrm>
          <a:prstGeom prst="roundRect">
            <a:avLst>
              <a:gd name="adj" fmla="val 6000"/>
            </a:avLst>
          </a:prstGeom>
          <a:solidFill>
            <a:srgbClr val="121C30"/>
          </a:solidFill>
          <a:ln w="12700">
            <a:solidFill>
              <a:srgbClr val="243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4048" y="1115568"/>
            <a:ext cx="2788920" cy="41148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1261872"/>
            <a:ext cx="2468880" cy="292608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D4E8"/>
                </a:solidFill>
                <a:latin typeface="JetBrains Mono"/>
              </a:rPr>
              <a:t>O1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1572768"/>
            <a:ext cx="2468880" cy="50292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Inter"/>
              </a:rPr>
              <a:t>Power experiment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" y="2167128"/>
            <a:ext cx="2542032" cy="123444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7DFEA"/>
                </a:solidFill>
                <a:latin typeface="Inter"/>
              </a:rPr>
              <a:t>Wing-on vs wing-off (or rotor-borne) electrical-power comparison at matched mass and speed.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10128" y="1115568"/>
            <a:ext cx="2788920" cy="2468880"/>
          </a:xfrm>
          <a:prstGeom prst="roundRect">
            <a:avLst>
              <a:gd name="adj" fmla="val 6000"/>
            </a:avLst>
          </a:prstGeom>
          <a:solidFill>
            <a:srgbClr val="121C30"/>
          </a:solidFill>
          <a:ln w="12700">
            <a:solidFill>
              <a:srgbClr val="243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10128" y="1115568"/>
            <a:ext cx="2788920" cy="41148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56432" y="1261872"/>
            <a:ext cx="2468880" cy="292608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D4E8"/>
                </a:solidFill>
                <a:latin typeface="JetBrains Mono"/>
              </a:rPr>
              <a:t>O2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56432" y="1572768"/>
            <a:ext cx="2468880" cy="50292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Inter"/>
              </a:rPr>
              <a:t>Thrust margin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19856" y="2167128"/>
            <a:ext cx="2542032" cy="123444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7DFEA"/>
                </a:solidFill>
                <a:latin typeface="Inter"/>
              </a:rPr>
              <a:t>≥ 2.0× hover thrust (target 9 kgf static on 4.5 kg).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8" y="1115568"/>
            <a:ext cx="2788920" cy="2468880"/>
          </a:xfrm>
          <a:prstGeom prst="roundRect">
            <a:avLst>
              <a:gd name="adj" fmla="val 6000"/>
            </a:avLst>
          </a:prstGeom>
          <a:solidFill>
            <a:srgbClr val="121C30"/>
          </a:solidFill>
          <a:ln w="12700">
            <a:solidFill>
              <a:srgbClr val="243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6208" y="1115568"/>
            <a:ext cx="2788920" cy="41148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82512" y="1261872"/>
            <a:ext cx="2468880" cy="292608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D4E8"/>
                </a:solidFill>
                <a:latin typeface="JetBrains Mono"/>
              </a:rPr>
              <a:t>O3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2512" y="1572768"/>
            <a:ext cx="2468880" cy="50292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Inter"/>
              </a:rPr>
              <a:t>Wing-offload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45936" y="2167128"/>
            <a:ext cx="2542032" cy="123444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7DFEA"/>
                </a:solidFill>
                <a:latin typeface="Inter"/>
              </a:rPr>
              <a:t>NACA 4412, 0.32 m², AR 5.3, CL 0.395 at 20 m/s.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62288" y="1115568"/>
            <a:ext cx="2788920" cy="2468880"/>
          </a:xfrm>
          <a:prstGeom prst="roundRect">
            <a:avLst>
              <a:gd name="adj" fmla="val 6000"/>
            </a:avLst>
          </a:prstGeom>
          <a:solidFill>
            <a:srgbClr val="121C30"/>
          </a:solidFill>
          <a:ln w="12700">
            <a:solidFill>
              <a:srgbClr val="243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62288" y="1115568"/>
            <a:ext cx="2788920" cy="41148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08592" y="1261872"/>
            <a:ext cx="2468880" cy="292608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D4E8"/>
                </a:solidFill>
                <a:latin typeface="JetBrains Mono"/>
              </a:rPr>
              <a:t>O4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08592" y="1572768"/>
            <a:ext cx="2468880" cy="50292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Inter"/>
              </a:rPr>
              <a:t>Tilt authority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72016" y="2167128"/>
            <a:ext cx="2542032" cy="123444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7DFEA"/>
                </a:solidFill>
                <a:latin typeface="Inter"/>
              </a:rPr>
              <a:t>Front and rear axes independent, 0–75°, magnetic angle closed-loop.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4048" y="3767328"/>
            <a:ext cx="2788920" cy="2468880"/>
          </a:xfrm>
          <a:prstGeom prst="roundRect">
            <a:avLst>
              <a:gd name="adj" fmla="val 6000"/>
            </a:avLst>
          </a:prstGeom>
          <a:solidFill>
            <a:srgbClr val="121C30"/>
          </a:solidFill>
          <a:ln w="12700">
            <a:solidFill>
              <a:srgbClr val="243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84048" y="3767328"/>
            <a:ext cx="2788920" cy="41148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0352" y="3913632"/>
            <a:ext cx="2468880" cy="292608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D4E8"/>
                </a:solidFill>
                <a:latin typeface="JetBrains Mono"/>
              </a:rPr>
              <a:t>O5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0352" y="4224528"/>
            <a:ext cx="2468880" cy="50292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Inter"/>
              </a:rPr>
              <a:t>Open-source FC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3776" y="4818888"/>
            <a:ext cx="2542032" cy="123444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7DFEA"/>
                </a:solidFill>
                <a:latin typeface="Inter"/>
              </a:rPr>
              <a:t>ArduPilot VTOL stack on Pixhawk; ESP32 for high-rate tilt / power I/O.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310128" y="3767328"/>
            <a:ext cx="2788920" cy="2468880"/>
          </a:xfrm>
          <a:prstGeom prst="roundRect">
            <a:avLst>
              <a:gd name="adj" fmla="val 6000"/>
            </a:avLst>
          </a:prstGeom>
          <a:solidFill>
            <a:srgbClr val="121C30"/>
          </a:solidFill>
          <a:ln w="12700">
            <a:solidFill>
              <a:srgbClr val="243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310128" y="3767328"/>
            <a:ext cx="2788920" cy="41148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456432" y="3913632"/>
            <a:ext cx="2468880" cy="292608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D4E8"/>
                </a:solidFill>
                <a:latin typeface="JetBrains Mono"/>
              </a:rPr>
              <a:t>O6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56432" y="4224528"/>
            <a:ext cx="2468880" cy="50292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Inter"/>
              </a:rPr>
              <a:t>Buildable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19856" y="4818888"/>
            <a:ext cx="2542032" cy="123444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7DFEA"/>
                </a:solidFill>
                <a:latin typeface="Inter"/>
              </a:rPr>
              <a:t>University workshop: 3D-printed mounts, composite/foam wing, COTS propulsion.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36208" y="3767328"/>
            <a:ext cx="2788920" cy="2468880"/>
          </a:xfrm>
          <a:prstGeom prst="roundRect">
            <a:avLst>
              <a:gd name="adj" fmla="val 6000"/>
            </a:avLst>
          </a:prstGeom>
          <a:solidFill>
            <a:srgbClr val="121C30"/>
          </a:solidFill>
          <a:ln w="12700">
            <a:solidFill>
              <a:srgbClr val="243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36208" y="3767328"/>
            <a:ext cx="2788920" cy="41148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82512" y="3913632"/>
            <a:ext cx="2468880" cy="292608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D4E8"/>
                </a:solidFill>
                <a:latin typeface="JetBrains Mono"/>
              </a:rPr>
              <a:t>O7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82512" y="4224528"/>
            <a:ext cx="2468880" cy="50292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Inter"/>
              </a:rPr>
              <a:t>Traceable mass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45936" y="4818888"/>
            <a:ext cx="2542032" cy="123444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7DFEA"/>
                </a:solidFill>
                <a:latin typeface="Inter"/>
              </a:rPr>
              <a:t>Empty ≤ 3.5 kg; live mass budget from CAD + weigh-ins.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162288" y="3767328"/>
            <a:ext cx="2788920" cy="2468880"/>
          </a:xfrm>
          <a:prstGeom prst="roundRect">
            <a:avLst>
              <a:gd name="adj" fmla="val 6000"/>
            </a:avLst>
          </a:prstGeom>
          <a:solidFill>
            <a:srgbClr val="121C30"/>
          </a:solidFill>
          <a:ln w="12700">
            <a:solidFill>
              <a:srgbClr val="243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162288" y="3767328"/>
            <a:ext cx="2788920" cy="41148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308592" y="3913632"/>
            <a:ext cx="2468880" cy="292608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D4E8"/>
                </a:solidFill>
                <a:latin typeface="JetBrains Mono"/>
              </a:rPr>
              <a:t>O8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308592" y="4224528"/>
            <a:ext cx="2468880" cy="50292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Inter"/>
              </a:rPr>
              <a:t>Safe envelope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72016" y="4818888"/>
            <a:ext cx="2542032" cy="123444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7DFEA"/>
                </a:solidFill>
                <a:latin typeface="Inter"/>
              </a:rPr>
              <a:t>Mechanical tilt stops, current limits, geofence, RTL, dual-axis jam detect.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11338560" cy="256032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D4E8"/>
                </a:solidFill>
                <a:latin typeface="JetBrains Mono"/>
              </a:rPr>
              <a:t>06  / 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47472"/>
            <a:ext cx="11430000" cy="420624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Inter"/>
              </a:rPr>
              <a:t>System Requirements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48272"/>
            <a:ext cx="12191999" cy="109728"/>
          </a:xfrm>
          <a:prstGeom prst="rect">
            <a:avLst/>
          </a:prstGeom>
          <a:solidFill>
            <a:srgbClr val="0C17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48272"/>
            <a:ext cx="12191999" cy="13716"/>
          </a:xfrm>
          <a:prstGeom prst="rect">
            <a:avLst/>
          </a:prstGeom>
          <a:solidFill>
            <a:srgbClr val="2434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757416"/>
            <a:ext cx="8412480" cy="91440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C6B82"/>
                </a:solidFill>
                <a:latin typeface="JetBrains Mono"/>
              </a:rPr>
              <a:t>PUSHPAK V1   ·   TILT-ROTOR VTOL DEMONSTRATOR   ·   FINAL YEAR DESIGN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46920" y="6757416"/>
            <a:ext cx="2148840" cy="91440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D4E8"/>
                </a:solidFill>
                <a:latin typeface="JetBrains Mono"/>
              </a:rPr>
              <a:t>07  /  40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84048" y="1078992"/>
          <a:ext cx="11411712" cy="544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2928"/>
                <a:gridCol w="2852928"/>
                <a:gridCol w="2852928"/>
                <a:gridCol w="2852928"/>
              </a:tblGrid>
              <a:tr h="494607">
                <a:tc>
                  <a:txBody>
                    <a:bodyPr lIns="73152" rIns="54864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00D4E8"/>
                          </a:solidFill>
                          <a:latin typeface="JetBrains Mono"/>
                        </a:rPr>
                        <a:t>ID</a:t>
                      </a:r>
                    </a:p>
                  </a:txBody>
                  <a:tcPr anchor="ctr">
                    <a:solidFill>
                      <a:srgbClr val="0D3C4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00D4E8"/>
                          </a:solidFill>
                          <a:latin typeface="JetBrains Mono"/>
                        </a:rPr>
                        <a:t>Requirement</a:t>
                      </a:r>
                    </a:p>
                  </a:txBody>
                  <a:tcPr anchor="ctr">
                    <a:solidFill>
                      <a:srgbClr val="0D3C4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00D4E8"/>
                          </a:solidFill>
                          <a:latin typeface="JetBrains Mono"/>
                        </a:rPr>
                        <a:t>Target</a:t>
                      </a:r>
                    </a:p>
                  </a:txBody>
                  <a:tcPr anchor="ctr">
                    <a:solidFill>
                      <a:srgbClr val="0D3C4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00D4E8"/>
                          </a:solidFill>
                          <a:latin typeface="JetBrains Mono"/>
                        </a:rPr>
                        <a:t>Verification</a:t>
                      </a:r>
                    </a:p>
                  </a:txBody>
                  <a:tcPr anchor="ctr">
                    <a:solidFill>
                      <a:srgbClr val="0D3C4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</a:tr>
              <a:tr h="494607">
                <a:tc>
                  <a:txBody>
                    <a:bodyPr lIns="73152" rIns="54864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Inter"/>
                        </a:rPr>
                        <a:t>SR-P1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JetBrains Mono"/>
                        </a:rPr>
                        <a:t>Hover thrust per motor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JetBrains Mono"/>
                        </a:rPr>
                        <a:t>≥ 1.125 kgf  (design 2.25)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JetBrains Mono"/>
                        </a:rPr>
                        <a:t>Static thrust stand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</a:tr>
              <a:tr h="494607">
                <a:tc>
                  <a:txBody>
                    <a:bodyPr lIns="73152" rIns="54864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Inter"/>
                        </a:rPr>
                        <a:t>SR-P2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JetBrains Mono"/>
                        </a:rPr>
                        <a:t>Total static thrust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JetBrains Mono"/>
                        </a:rPr>
                        <a:t>≈ 9 kgf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JetBrains Mono"/>
                        </a:rPr>
                        <a:t>4-motor stand, 6S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</a:tr>
              <a:tr h="494607">
                <a:tc>
                  <a:txBody>
                    <a:bodyPr lIns="73152" rIns="54864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Inter"/>
                        </a:rPr>
                        <a:t>SR-P3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JetBrains Mono"/>
                        </a:rPr>
                        <a:t>Propulsion mass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JetBrains Mono"/>
                        </a:rPr>
                        <a:t>Motors 0.80 kg; ESC 0.25 kg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JetBrains Mono"/>
                        </a:rPr>
                        <a:t>Scale + CAD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</a:tr>
              <a:tr h="494607">
                <a:tc>
                  <a:txBody>
                    <a:bodyPr lIns="73152" rIns="54864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Inter"/>
                        </a:rPr>
                        <a:t>SR-A1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JetBrains Mono"/>
                        </a:rPr>
                        <a:t>Wing area / AR / airfoil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JetBrains Mono"/>
                        </a:rPr>
                        <a:t>0.32 m² · 5.3 · NACA 4412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JetBrains Mono"/>
                        </a:rPr>
                        <a:t>CAD + template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</a:tr>
              <a:tr h="494607">
                <a:tc>
                  <a:txBody>
                    <a:bodyPr lIns="73152" rIns="54864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Inter"/>
                        </a:rPr>
                        <a:t>SR-A2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JetBrains Mono"/>
                        </a:rPr>
                        <a:t>Cruise CL at 20 m/s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JetBrains Mono"/>
                        </a:rPr>
                        <a:t>≈ 0.395 (70% weight)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JetBrains Mono"/>
                        </a:rPr>
                        <a:t>CFD + pitot + load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</a:tr>
              <a:tr h="494607">
                <a:tc>
                  <a:txBody>
                    <a:bodyPr lIns="73152" rIns="54864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Inter"/>
                        </a:rPr>
                        <a:t>SR-A3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JetBrains Mono"/>
                        </a:rPr>
                        <a:t>Rotor / wing clearance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JetBrains Mono"/>
                        </a:rPr>
                        <a:t>50–75 mm min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JetBrains Mono"/>
                        </a:rPr>
                        <a:t>CAD + ground spin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</a:tr>
              <a:tr h="494607">
                <a:tc>
                  <a:txBody>
                    <a:bodyPr lIns="73152" rIns="54864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Inter"/>
                        </a:rPr>
                        <a:t>SR-C1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JetBrains Mono"/>
                        </a:rPr>
                        <a:t>Tilt range / axes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JetBrains Mono"/>
                        </a:rPr>
                        <a:t>0–75° · front + rear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JetBrains Mono"/>
                        </a:rPr>
                        <a:t>Encoder log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</a:tr>
              <a:tr h="494607">
                <a:tc>
                  <a:txBody>
                    <a:bodyPr lIns="73152" rIns="54864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Inter"/>
                        </a:rPr>
                        <a:t>SR-C2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JetBrains Mono"/>
                        </a:rPr>
                        <a:t>Flight stack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JetBrains Mono"/>
                        </a:rPr>
                        <a:t>Pixhawk + ArduPilot + ESP32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JetBrains Mono"/>
                        </a:rPr>
                        <a:t>HIL + taxi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</a:tr>
              <a:tr h="494607">
                <a:tc>
                  <a:txBody>
                    <a:bodyPr lIns="73152" rIns="54864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Inter"/>
                        </a:rPr>
                        <a:t>SR-T1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JetBrains Mono"/>
                        </a:rPr>
                        <a:t>Power comparison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JetBrains Mono"/>
                        </a:rPr>
                        <a:t>Wing-on vs wing-off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JetBrains Mono"/>
                        </a:rPr>
                        <a:t>Flight / trolley test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</a:tr>
              <a:tr h="494610">
                <a:tc>
                  <a:txBody>
                    <a:bodyPr lIns="73152" rIns="54864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Inter"/>
                        </a:rPr>
                        <a:t>SR-S1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JetBrains Mono"/>
                        </a:rPr>
                        <a:t>Empty mass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JetBrains Mono"/>
                        </a:rPr>
                        <a:t>≤ 3.5 kg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JetBrains Mono"/>
                        </a:rPr>
                        <a:t>Weigh-in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11338560" cy="256032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D4E8"/>
                </a:solidFill>
                <a:latin typeface="JetBrains Mono"/>
              </a:rPr>
              <a:t>07  / 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47472"/>
            <a:ext cx="11430000" cy="420624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Inter"/>
              </a:rPr>
              <a:t>Aircraft Configuration Selection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48272"/>
            <a:ext cx="12191999" cy="109728"/>
          </a:xfrm>
          <a:prstGeom prst="rect">
            <a:avLst/>
          </a:prstGeom>
          <a:solidFill>
            <a:srgbClr val="0C17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48272"/>
            <a:ext cx="12191999" cy="13716"/>
          </a:xfrm>
          <a:prstGeom prst="rect">
            <a:avLst/>
          </a:prstGeom>
          <a:solidFill>
            <a:srgbClr val="2434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757416"/>
            <a:ext cx="8412480" cy="91440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C6B82"/>
                </a:solidFill>
                <a:latin typeface="JetBrains Mono"/>
              </a:rPr>
              <a:t>PUSHPAK V1   ·   TILT-ROTOR VTOL DEMONSTRATOR   ·   FINAL YEAR DESIGN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46920" y="6757416"/>
            <a:ext cx="2148840" cy="91440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D4E8"/>
                </a:solidFill>
                <a:latin typeface="JetBrains Mono"/>
              </a:rPr>
              <a:t>08  /  40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" y="1115568"/>
            <a:ext cx="2788920" cy="4160520"/>
          </a:xfrm>
          <a:prstGeom prst="roundRect">
            <a:avLst>
              <a:gd name="adj" fmla="val 6000"/>
            </a:avLst>
          </a:prstGeom>
          <a:solidFill>
            <a:srgbClr val="121C30"/>
          </a:solidFill>
          <a:ln w="12700">
            <a:solidFill>
              <a:srgbClr val="243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1664208"/>
            <a:ext cx="2514600" cy="64008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Inter"/>
              </a:rPr>
              <a:t>A  TAILSITTER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" y="2377440"/>
            <a:ext cx="2560320" cy="256032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7DFEA"/>
                </a:solidFill>
                <a:latin typeface="Inter"/>
              </a:rPr>
              <a:t>Single attitude change. Poor hover precision. Hard to instrument a clean wing-off comparison.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10128" y="1115568"/>
            <a:ext cx="2788920" cy="4160520"/>
          </a:xfrm>
          <a:prstGeom prst="roundRect">
            <a:avLst>
              <a:gd name="adj" fmla="val 6000"/>
            </a:avLst>
          </a:prstGeom>
          <a:solidFill>
            <a:srgbClr val="121C30"/>
          </a:solidFill>
          <a:ln w="12700">
            <a:solidFill>
              <a:srgbClr val="243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56432" y="1664208"/>
            <a:ext cx="2514600" cy="64008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Inter"/>
              </a:rPr>
              <a:t>B  TILT-WING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19856" y="2377440"/>
            <a:ext cx="2560320" cy="256032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7DFEA"/>
                </a:solidFill>
                <a:latin typeface="Inter"/>
              </a:rPr>
              <a:t>Wing + rotors tilt together. High hinge moment, complex structure, poor student-build risk.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115568"/>
            <a:ext cx="2788920" cy="4160520"/>
          </a:xfrm>
          <a:prstGeom prst="roundRect">
            <a:avLst>
              <a:gd name="adj" fmla="val 6000"/>
            </a:avLst>
          </a:prstGeom>
          <a:solidFill>
            <a:srgbClr val="121C30"/>
          </a:solidFill>
          <a:ln w="12700">
            <a:solidFill>
              <a:srgbClr val="243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2512" y="1664208"/>
            <a:ext cx="2514600" cy="64008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Inter"/>
              </a:rPr>
              <a:t>C  DUAL-SYSTEM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5936" y="2377440"/>
            <a:ext cx="2560320" cy="256032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7DFEA"/>
                </a:solidFill>
                <a:latin typeface="Inter"/>
              </a:rPr>
              <a:t>Lift rotors + cruise prop. Two motor sets. Mass and power electronics kill the 3.5 kg empty target.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62288" y="1115568"/>
            <a:ext cx="2788920" cy="4160520"/>
          </a:xfrm>
          <a:prstGeom prst="roundRect">
            <a:avLst>
              <a:gd name="adj" fmla="val 6000"/>
            </a:avLst>
          </a:prstGeom>
          <a:solidFill>
            <a:srgbClr val="0D3C48"/>
          </a:solidFill>
          <a:ln w="12700">
            <a:solidFill>
              <a:srgbClr val="243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62288" y="1115568"/>
            <a:ext cx="2788920" cy="41148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308592" y="1280160"/>
            <a:ext cx="1325880" cy="256032"/>
          </a:xfrm>
          <a:prstGeom prst="roundRect">
            <a:avLst>
              <a:gd name="adj" fmla="val 50000"/>
            </a:avLst>
          </a:prstGeom>
          <a:solidFill>
            <a:srgbClr val="0D3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08592" y="1280160"/>
            <a:ext cx="1325880" cy="256032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D4E8"/>
                </a:solidFill>
                <a:latin typeface="JetBrains Mono"/>
              </a:rPr>
              <a:t>SELECTED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08592" y="1664208"/>
            <a:ext cx="2514600" cy="64008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D4E8"/>
                </a:solidFill>
                <a:latin typeface="Inter"/>
              </a:rPr>
              <a:t>D  TILT-ROTOR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72016" y="2377440"/>
            <a:ext cx="2560320" cy="256032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7DFEA"/>
                </a:solidFill>
                <a:latin typeface="Inter"/>
              </a:rPr>
              <a:t>Four rotors, two tilt shafts. Hover as a quad. Cruise on the wing. One propulsion set. SELECTED.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4048" y="5440680"/>
            <a:ext cx="11411712" cy="1115568"/>
          </a:xfrm>
          <a:prstGeom prst="roundRect">
            <a:avLst>
              <a:gd name="adj" fmla="val 6000"/>
            </a:avLst>
          </a:prstGeom>
          <a:solidFill>
            <a:srgbClr val="121C30"/>
          </a:solidFill>
          <a:ln w="12700">
            <a:solidFill>
              <a:srgbClr val="243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84048" y="5440680"/>
            <a:ext cx="11411712" cy="41148"/>
          </a:xfrm>
          <a:prstGeom prst="rect">
            <a:avLst/>
          </a:prstGeom>
          <a:solidFill>
            <a:srgbClr val="F5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928" y="5559552"/>
            <a:ext cx="11064240" cy="256032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5B942"/>
                </a:solidFill>
                <a:latin typeface="JetBrains Mono"/>
              </a:rPr>
              <a:t>FROZEN CONFIGURATION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5833872"/>
            <a:ext cx="11064240" cy="54864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Inter"/>
              </a:rPr>
              <a:t>4 rotors  ·  front pair tilts together  ·  rear pair tilts together  ·  max tilt 75°  ·  high wing + 2 winglets  ·  Pixhawk / ArduPilot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11338560" cy="256032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D4E8"/>
                </a:solidFill>
                <a:latin typeface="JetBrains Mono"/>
              </a:rPr>
              <a:t>08  / 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47472"/>
            <a:ext cx="11430000" cy="420624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Inter"/>
              </a:rPr>
              <a:t>Overall Aircraft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48272"/>
            <a:ext cx="12191999" cy="109728"/>
          </a:xfrm>
          <a:prstGeom prst="rect">
            <a:avLst/>
          </a:prstGeom>
          <a:solidFill>
            <a:srgbClr val="0C17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48272"/>
            <a:ext cx="12191999" cy="13716"/>
          </a:xfrm>
          <a:prstGeom prst="rect">
            <a:avLst/>
          </a:prstGeom>
          <a:solidFill>
            <a:srgbClr val="2434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757416"/>
            <a:ext cx="8412480" cy="91440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C6B82"/>
                </a:solidFill>
                <a:latin typeface="JetBrains Mono"/>
              </a:rPr>
              <a:t>PUSHPAK V1   ·   TILT-ROTOR VTOL DEMONSTRATOR   ·   FINAL YEAR DESIGN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46920" y="6757416"/>
            <a:ext cx="2148840" cy="91440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D4E8"/>
                </a:solidFill>
                <a:latin typeface="JetBrains Mono"/>
              </a:rPr>
              <a:t>09  /  40</a:t>
            </a:r>
          </a:p>
        </p:txBody>
      </p:sp>
      <p:pic>
        <p:nvPicPr>
          <p:cNvPr id="9" name="Picture 8" descr="pushpak-sid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1115568"/>
            <a:ext cx="5806440" cy="324612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384048" y="1115568"/>
            <a:ext cx="128016" cy="16459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115568"/>
            <a:ext cx="16459" cy="128016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62472" y="1115568"/>
            <a:ext cx="128016" cy="16459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4028" y="1115568"/>
            <a:ext cx="16459" cy="128016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4048" y="4345228"/>
            <a:ext cx="128016" cy="16459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84048" y="4233672"/>
            <a:ext cx="16459" cy="128016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62472" y="4345228"/>
            <a:ext cx="128016" cy="16459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4028" y="4233672"/>
            <a:ext cx="16459" cy="128016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84048" y="4526280"/>
            <a:ext cx="2788920" cy="1078992"/>
          </a:xfrm>
          <a:prstGeom prst="roundRect">
            <a:avLst>
              <a:gd name="adj" fmla="val 6000"/>
            </a:avLst>
          </a:prstGeom>
          <a:solidFill>
            <a:srgbClr val="121C30"/>
          </a:solidFill>
          <a:ln w="12700">
            <a:solidFill>
              <a:srgbClr val="243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84048" y="4526280"/>
            <a:ext cx="2788920" cy="41148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3776" y="4599432"/>
            <a:ext cx="2606039" cy="256032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D4E8"/>
                </a:solidFill>
                <a:latin typeface="JetBrains Mono"/>
              </a:rPr>
              <a:t>AIRFRAME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855464"/>
            <a:ext cx="2642615" cy="694944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D7DFEA"/>
                </a:solidFill>
                <a:latin typeface="Inter"/>
              </a:rPr>
              <a:t>Fuselage 1.2–1.3 m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D7DFEA"/>
                </a:solidFill>
                <a:latin typeface="Inter"/>
              </a:rPr>
              <a:t>Wing 1.30 m · 0.32 m²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D7DFEA"/>
                </a:solidFill>
                <a:latin typeface="Inter"/>
              </a:rPr>
              <a:t>Winglets × 2  ·  skids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10128" y="4526280"/>
            <a:ext cx="2788920" cy="1078992"/>
          </a:xfrm>
          <a:prstGeom prst="roundRect">
            <a:avLst>
              <a:gd name="adj" fmla="val 6000"/>
            </a:avLst>
          </a:prstGeom>
          <a:solidFill>
            <a:srgbClr val="121C30"/>
          </a:solidFill>
          <a:ln w="12700">
            <a:solidFill>
              <a:srgbClr val="243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310128" y="4526280"/>
            <a:ext cx="2788920" cy="41148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19856" y="4599432"/>
            <a:ext cx="2606039" cy="256032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D4E8"/>
                </a:solidFill>
                <a:latin typeface="JetBrains Mono"/>
              </a:rPr>
              <a:t>PROPULSION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83280" y="4855464"/>
            <a:ext cx="2642615" cy="694944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D7DFEA"/>
                </a:solidFill>
                <a:latin typeface="Inter"/>
              </a:rPr>
              <a:t>4 × MY4215 400KV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D7DFEA"/>
                </a:solidFill>
                <a:latin typeface="Inter"/>
              </a:rPr>
              <a:t>16-in class  ·  6S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D7DFEA"/>
                </a:solidFill>
                <a:latin typeface="Inter"/>
              </a:rPr>
              <a:t>Target 9 kgf static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36208" y="1115568"/>
            <a:ext cx="2788920" cy="1965960"/>
          </a:xfrm>
          <a:prstGeom prst="roundRect">
            <a:avLst>
              <a:gd name="adj" fmla="val 6000"/>
            </a:avLst>
          </a:prstGeom>
          <a:solidFill>
            <a:srgbClr val="121C30"/>
          </a:solidFill>
          <a:ln w="12700">
            <a:solidFill>
              <a:srgbClr val="243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36208" y="1115568"/>
            <a:ext cx="2788920" cy="41148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45936" y="1188720"/>
            <a:ext cx="2606039" cy="256032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D4E8"/>
                </a:solidFill>
                <a:latin typeface="JetBrains Mono"/>
              </a:rPr>
              <a:t>TILT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1444752"/>
            <a:ext cx="2642615" cy="158191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D7DFEA"/>
                </a:solidFill>
                <a:latin typeface="Inter"/>
              </a:rPr>
              <a:t>2 shafts  ·  2 servos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D7DFEA"/>
                </a:solidFill>
                <a:latin typeface="Inter"/>
              </a:rPr>
              <a:t>8 bearings  ·  stops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D7DFEA"/>
                </a:solidFill>
                <a:latin typeface="Inter"/>
              </a:rPr>
              <a:t>Mag angle sensors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62288" y="1115568"/>
            <a:ext cx="2788920" cy="1965960"/>
          </a:xfrm>
          <a:prstGeom prst="roundRect">
            <a:avLst>
              <a:gd name="adj" fmla="val 6000"/>
            </a:avLst>
          </a:prstGeom>
          <a:solidFill>
            <a:srgbClr val="121C30"/>
          </a:solidFill>
          <a:ln w="12700">
            <a:solidFill>
              <a:srgbClr val="243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162288" y="1115568"/>
            <a:ext cx="2788920" cy="41148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72015" y="1188720"/>
            <a:ext cx="2606039" cy="256032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D4E8"/>
                </a:solidFill>
                <a:latin typeface="JetBrains Mono"/>
              </a:rPr>
              <a:t>ENERGY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35440" y="1444752"/>
            <a:ext cx="2642615" cy="158191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D7DFEA"/>
                </a:solidFill>
                <a:latin typeface="Inter"/>
              </a:rPr>
              <a:t>6S Li-ion ~20 Ah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D7DFEA"/>
                </a:solidFill>
                <a:latin typeface="Inter"/>
              </a:rPr>
              <a:t>1.0–1.5 kg pack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D7DFEA"/>
                </a:solidFill>
                <a:latin typeface="Inter"/>
              </a:rPr>
              <a:t>Current / voltage log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36208" y="3246120"/>
            <a:ext cx="2788920" cy="1965960"/>
          </a:xfrm>
          <a:prstGeom prst="roundRect">
            <a:avLst>
              <a:gd name="adj" fmla="val 6000"/>
            </a:avLst>
          </a:prstGeom>
          <a:solidFill>
            <a:srgbClr val="121C30"/>
          </a:solidFill>
          <a:ln w="12700">
            <a:solidFill>
              <a:srgbClr val="243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36208" y="3246120"/>
            <a:ext cx="2788920" cy="41148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45936" y="3319272"/>
            <a:ext cx="2606039" cy="256032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D4E8"/>
                </a:solidFill>
                <a:latin typeface="JetBrains Mono"/>
              </a:rPr>
              <a:t>GNC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60" y="3575303"/>
            <a:ext cx="2642615" cy="158191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D7DFEA"/>
                </a:solidFill>
                <a:latin typeface="Inter"/>
              </a:rPr>
              <a:t>Pixhawk + ArduPilot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D7DFEA"/>
                </a:solidFill>
                <a:latin typeface="Inter"/>
              </a:rPr>
              <a:t>ESP32 companion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D7DFEA"/>
                </a:solidFill>
                <a:latin typeface="Inter"/>
              </a:rPr>
              <a:t>Pitot · GPS · IMU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162288" y="3246120"/>
            <a:ext cx="2788920" cy="1965960"/>
          </a:xfrm>
          <a:prstGeom prst="roundRect">
            <a:avLst>
              <a:gd name="adj" fmla="val 6000"/>
            </a:avLst>
          </a:prstGeom>
          <a:solidFill>
            <a:srgbClr val="121C30"/>
          </a:solidFill>
          <a:ln w="12700">
            <a:solidFill>
              <a:srgbClr val="243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162288" y="3246120"/>
            <a:ext cx="2788920" cy="41148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272015" y="3319272"/>
            <a:ext cx="2606039" cy="256032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D4E8"/>
                </a:solidFill>
                <a:latin typeface="JetBrains Mono"/>
              </a:rPr>
              <a:t>PAYLOAD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35440" y="3575303"/>
            <a:ext cx="2642615" cy="158191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D7DFEA"/>
                </a:solidFill>
                <a:latin typeface="Inter"/>
              </a:rPr>
              <a:t>1.00 kg dummy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D7DFEA"/>
                </a:solidFill>
                <a:latin typeface="Inter"/>
              </a:rPr>
              <a:t>CG hard point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D7DFEA"/>
                </a:solidFill>
                <a:latin typeface="Inter"/>
              </a:rPr>
              <a:t>Not a sensor suite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36208" y="5376672"/>
            <a:ext cx="2788920" cy="1078992"/>
          </a:xfrm>
          <a:prstGeom prst="roundRect">
            <a:avLst>
              <a:gd name="adj" fmla="val 6000"/>
            </a:avLst>
          </a:prstGeom>
          <a:solidFill>
            <a:srgbClr val="121C30"/>
          </a:solidFill>
          <a:ln w="12700">
            <a:solidFill>
              <a:srgbClr val="243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36208" y="5376672"/>
            <a:ext cx="2788920" cy="41148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45936" y="5449824"/>
            <a:ext cx="2606039" cy="256032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D4E8"/>
                </a:solidFill>
                <a:latin typeface="JetBrains Mono"/>
              </a:rPr>
              <a:t>FRONT AXIS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09360" y="5705856"/>
            <a:ext cx="2642615" cy="694944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D7DFEA"/>
                </a:solidFill>
                <a:latin typeface="Inter"/>
              </a:rPr>
              <a:t>Tilt together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D7DFEA"/>
                </a:solidFill>
                <a:latin typeface="Inter"/>
              </a:rPr>
              <a:t>Left + right motors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162288" y="5376672"/>
            <a:ext cx="2788920" cy="1078992"/>
          </a:xfrm>
          <a:prstGeom prst="roundRect">
            <a:avLst>
              <a:gd name="adj" fmla="val 6000"/>
            </a:avLst>
          </a:prstGeom>
          <a:solidFill>
            <a:srgbClr val="121C30"/>
          </a:solidFill>
          <a:ln w="12700">
            <a:solidFill>
              <a:srgbClr val="243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162288" y="5376672"/>
            <a:ext cx="2788920" cy="41148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272015" y="5449824"/>
            <a:ext cx="2606039" cy="256032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D4E8"/>
                </a:solidFill>
                <a:latin typeface="JetBrains Mono"/>
              </a:rPr>
              <a:t>REAR AXIS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35440" y="5705856"/>
            <a:ext cx="2642615" cy="694944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D7DFEA"/>
                </a:solidFill>
                <a:latin typeface="Inter"/>
              </a:rPr>
              <a:t>Tilt together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D7DFEA"/>
                </a:solidFill>
                <a:latin typeface="Inter"/>
              </a:rPr>
              <a:t>Left + right motors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11338560" cy="256032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D4E8"/>
                </a:solidFill>
                <a:latin typeface="JetBrains Mono"/>
              </a:rPr>
              <a:t>09  /  PROPULSION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47472"/>
            <a:ext cx="11430000" cy="420624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Inter"/>
              </a:rPr>
              <a:t>Propulsion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48272"/>
            <a:ext cx="12191999" cy="109728"/>
          </a:xfrm>
          <a:prstGeom prst="rect">
            <a:avLst/>
          </a:prstGeom>
          <a:solidFill>
            <a:srgbClr val="0C17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48272"/>
            <a:ext cx="12191999" cy="13716"/>
          </a:xfrm>
          <a:prstGeom prst="rect">
            <a:avLst/>
          </a:prstGeom>
          <a:solidFill>
            <a:srgbClr val="2434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757416"/>
            <a:ext cx="8412480" cy="91440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C6B82"/>
                </a:solidFill>
                <a:latin typeface="JetBrains Mono"/>
              </a:rPr>
              <a:t>PUSHPAK V1   ·   TILT-ROTOR VTOL DEMONSTRATOR   ·   FINAL YEAR DESIGN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46920" y="6757416"/>
            <a:ext cx="2148840" cy="91440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D4E8"/>
                </a:solidFill>
                <a:latin typeface="JetBrains Mono"/>
              </a:rPr>
              <a:t>10  /  40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" y="1115568"/>
            <a:ext cx="2788920" cy="1417320"/>
          </a:xfrm>
          <a:prstGeom prst="roundRect">
            <a:avLst>
              <a:gd name="adj" fmla="val 6000"/>
            </a:avLst>
          </a:prstGeom>
          <a:solidFill>
            <a:srgbClr val="121C30"/>
          </a:solidFill>
          <a:ln w="12700">
            <a:solidFill>
              <a:srgbClr val="243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4048" y="1115568"/>
            <a:ext cx="2788920" cy="41148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" y="1261872"/>
            <a:ext cx="2569463" cy="438912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JetBrains Mono"/>
              </a:rPr>
              <a:t>4 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" y="1682495"/>
            <a:ext cx="2569463" cy="256032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A97AD"/>
                </a:solidFill>
                <a:latin typeface="Inter"/>
              </a:rPr>
              <a:t>HGLRC MY4215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" y="2203704"/>
            <a:ext cx="2569463" cy="256032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D7DFEA"/>
                </a:solidFill>
                <a:latin typeface="Inter"/>
              </a:rPr>
              <a:t>400 KV  ·  200 g each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10128" y="1115568"/>
            <a:ext cx="2788920" cy="1417320"/>
          </a:xfrm>
          <a:prstGeom prst="roundRect">
            <a:avLst>
              <a:gd name="adj" fmla="val 6000"/>
            </a:avLst>
          </a:prstGeom>
          <a:solidFill>
            <a:srgbClr val="121C30"/>
          </a:solidFill>
          <a:ln w="12700">
            <a:solidFill>
              <a:srgbClr val="243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10128" y="1115568"/>
            <a:ext cx="2788920" cy="41148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19856" y="1261872"/>
            <a:ext cx="2569463" cy="438912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JetBrains Mono"/>
              </a:rPr>
              <a:t>800 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19856" y="1682495"/>
            <a:ext cx="2569463" cy="256032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A97AD"/>
                </a:solidFill>
                <a:latin typeface="Inter"/>
              </a:rPr>
              <a:t>TOTAL MOTOR MASS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19856" y="2203704"/>
            <a:ext cx="2569463" cy="256032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D7DFEA"/>
                </a:solidFill>
                <a:latin typeface="Inter"/>
              </a:rPr>
              <a:t>18% of 4.5 kg MTOW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8" y="1115568"/>
            <a:ext cx="2788920" cy="1417320"/>
          </a:xfrm>
          <a:prstGeom prst="roundRect">
            <a:avLst>
              <a:gd name="adj" fmla="val 6000"/>
            </a:avLst>
          </a:prstGeom>
          <a:solidFill>
            <a:srgbClr val="121C30"/>
          </a:solidFill>
          <a:ln w="12700">
            <a:solidFill>
              <a:srgbClr val="243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6208" y="1115568"/>
            <a:ext cx="2788920" cy="41148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45936" y="1261872"/>
            <a:ext cx="2569463" cy="438912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JetBrains Mono"/>
              </a:rPr>
              <a:t>16 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45936" y="1682495"/>
            <a:ext cx="2569463" cy="256032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A97AD"/>
                </a:solidFill>
                <a:latin typeface="Inter"/>
              </a:rPr>
              <a:t>PROPELLER CLASS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45936" y="2203704"/>
            <a:ext cx="2569463" cy="256032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D7DFEA"/>
                </a:solidFill>
                <a:latin typeface="Inter"/>
              </a:rPr>
              <a:t>D = 406 mm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62288" y="1115568"/>
            <a:ext cx="2788920" cy="1417320"/>
          </a:xfrm>
          <a:prstGeom prst="roundRect">
            <a:avLst>
              <a:gd name="adj" fmla="val 6000"/>
            </a:avLst>
          </a:prstGeom>
          <a:solidFill>
            <a:srgbClr val="121C30"/>
          </a:solidFill>
          <a:ln w="12700">
            <a:solidFill>
              <a:srgbClr val="243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62288" y="1115568"/>
            <a:ext cx="2788920" cy="41148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72016" y="1261872"/>
            <a:ext cx="2569463" cy="438912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JetBrains Mono"/>
              </a:rPr>
              <a:t>6S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72016" y="1682495"/>
            <a:ext cx="2569463" cy="256032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A97AD"/>
                </a:solidFill>
                <a:latin typeface="Inter"/>
              </a:rPr>
              <a:t>LI-ION PACK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72016" y="2203704"/>
            <a:ext cx="2569463" cy="256032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D7DFEA"/>
                </a:solidFill>
                <a:latin typeface="Inter"/>
              </a:rPr>
              <a:t>Initial concept ~20 Ah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384048" y="2697480"/>
          <a:ext cx="11411712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2928"/>
                <a:gridCol w="2852928"/>
                <a:gridCol w="2852928"/>
                <a:gridCol w="2852928"/>
              </a:tblGrid>
              <a:tr h="480060">
                <a:tc>
                  <a:txBody>
                    <a:bodyPr lIns="73152" rIns="54864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00D4E8"/>
                          </a:solidFill>
                          <a:latin typeface="JetBrains Mono"/>
                        </a:rPr>
                        <a:t>Item</a:t>
                      </a:r>
                    </a:p>
                  </a:txBody>
                  <a:tcPr anchor="ctr">
                    <a:solidFill>
                      <a:srgbClr val="0D3C4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00D4E8"/>
                          </a:solidFill>
                          <a:latin typeface="JetBrains Mono"/>
                        </a:rPr>
                        <a:t>Spec</a:t>
                      </a:r>
                    </a:p>
                  </a:txBody>
                  <a:tcPr anchor="ctr">
                    <a:solidFill>
                      <a:srgbClr val="0D3C4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00D4E8"/>
                          </a:solidFill>
                          <a:latin typeface="JetBrains Mono"/>
                        </a:rPr>
                        <a:t>Qty</a:t>
                      </a:r>
                    </a:p>
                  </a:txBody>
                  <a:tcPr anchor="ctr">
                    <a:solidFill>
                      <a:srgbClr val="0D3C4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00D4E8"/>
                          </a:solidFill>
                          <a:latin typeface="JetBrains Mono"/>
                        </a:rPr>
                        <a:t>Role</a:t>
                      </a:r>
                    </a:p>
                  </a:txBody>
                  <a:tcPr anchor="ctr">
                    <a:solidFill>
                      <a:srgbClr val="0D3C4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</a:tr>
              <a:tr h="480060">
                <a:tc>
                  <a:txBody>
                    <a:bodyPr lIns="73152" rIns="54864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D7DFEA"/>
                          </a:solidFill>
                          <a:latin typeface="Inter"/>
                        </a:rPr>
                        <a:t>Motor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D7DFEA"/>
                          </a:solidFill>
                          <a:latin typeface="JetBrains Mono"/>
                        </a:rPr>
                        <a:t>HGLRC MY4215  400KV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D7DFEA"/>
                          </a:solidFill>
                          <a:latin typeface="JetBrains Mono"/>
                        </a:rPr>
                        <a:t>4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D7DFEA"/>
                          </a:solidFill>
                          <a:latin typeface="JetBrains Mono"/>
                        </a:rPr>
                        <a:t>Hover + cruise thrust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</a:tr>
              <a:tr h="480060">
                <a:tc>
                  <a:txBody>
                    <a:bodyPr lIns="73152" rIns="54864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D7DFEA"/>
                          </a:solidFill>
                          <a:latin typeface="Inter"/>
                        </a:rPr>
                        <a:t>Motor mass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D7DFEA"/>
                          </a:solidFill>
                          <a:latin typeface="JetBrains Mono"/>
                        </a:rPr>
                        <a:t>200 g  (800 g set)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D7DFEA"/>
                          </a:solidFill>
                          <a:latin typeface="JetBrains Mono"/>
                        </a:rPr>
                        <a:t>4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D7DFEA"/>
                          </a:solidFill>
                          <a:latin typeface="JetBrains Mono"/>
                        </a:rPr>
                        <a:t>Mass budget line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</a:tr>
              <a:tr h="480060">
                <a:tc>
                  <a:txBody>
                    <a:bodyPr lIns="73152" rIns="54864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D7DFEA"/>
                          </a:solidFill>
                          <a:latin typeface="Inter"/>
                        </a:rPr>
                        <a:t>Propeller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D7DFEA"/>
                          </a:solidFill>
                          <a:latin typeface="JetBrains Mono"/>
                        </a:rPr>
                        <a:t>16-inch class  /  406 mm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D7DFEA"/>
                          </a:solidFill>
                          <a:latin typeface="JetBrains Mono"/>
                        </a:rPr>
                        <a:t>4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D7DFEA"/>
                          </a:solidFill>
                          <a:latin typeface="JetBrains Mono"/>
                        </a:rPr>
                        <a:t>Disk area for hover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</a:tr>
              <a:tr h="480060">
                <a:tc>
                  <a:txBody>
                    <a:bodyPr lIns="73152" rIns="54864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D7DFEA"/>
                          </a:solidFill>
                          <a:latin typeface="Inter"/>
                        </a:rPr>
                        <a:t>ESC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D7DFEA"/>
                          </a:solidFill>
                          <a:latin typeface="JetBrains Mono"/>
                        </a:rPr>
                        <a:t>From 0.25 kg allocation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D7DFEA"/>
                          </a:solidFill>
                          <a:latin typeface="JetBrains Mono"/>
                        </a:rPr>
                        <a:t>4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D7DFEA"/>
                          </a:solidFill>
                          <a:latin typeface="JetBrains Mono"/>
                        </a:rPr>
                        <a:t>6S capable, logged current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</a:tr>
              <a:tr h="480060">
                <a:tc>
                  <a:txBody>
                    <a:bodyPr lIns="73152" rIns="54864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D7DFEA"/>
                          </a:solidFill>
                          <a:latin typeface="Inter"/>
                        </a:rPr>
                        <a:t>Battery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D7DFEA"/>
                          </a:solidFill>
                          <a:latin typeface="JetBrains Mono"/>
                        </a:rPr>
                        <a:t>6S Li-ion  ~20 Ah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D7DFEA"/>
                          </a:solidFill>
                          <a:latin typeface="JetBrains Mono"/>
                        </a:rPr>
                        <a:t>1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D7DFEA"/>
                          </a:solidFill>
                          <a:latin typeface="JetBrains Mono"/>
                        </a:rPr>
                        <a:t>Energy + CG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</a:tr>
              <a:tr h="480060">
                <a:tc>
                  <a:txBody>
                    <a:bodyPr lIns="73152" rIns="54864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D7DFEA"/>
                          </a:solidFill>
                          <a:latin typeface="Inter"/>
                        </a:rPr>
                        <a:t>Bus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D7DFEA"/>
                          </a:solidFill>
                          <a:latin typeface="JetBrains Mono"/>
                        </a:rPr>
                        <a:t>6S power distribution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D7DFEA"/>
                          </a:solidFill>
                          <a:latin typeface="JetBrains Mono"/>
                        </a:rPr>
                        <a:t>1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D7DFEA"/>
                          </a:solidFill>
                          <a:latin typeface="JetBrains Mono"/>
                        </a:rPr>
                        <a:t>Voltage / current sense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</a:tr>
              <a:tr h="480060">
                <a:tc>
                  <a:txBody>
                    <a:bodyPr lIns="73152" rIns="54864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D7DFEA"/>
                          </a:solidFill>
                          <a:latin typeface="Inter"/>
                        </a:rPr>
                        <a:t>Mounts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D7DFEA"/>
                          </a:solidFill>
                          <a:latin typeface="JetBrains Mono"/>
                        </a:rPr>
                        <a:t>Tilt-shaft motor mounts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D7DFEA"/>
                          </a:solidFill>
                          <a:latin typeface="JetBrains Mono"/>
                        </a:rPr>
                        <a:t>4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D7DFEA"/>
                          </a:solidFill>
                          <a:latin typeface="JetBrains Mono"/>
                        </a:rPr>
                        <a:t>Interface to tilt axis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11338560" cy="256032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D4E8"/>
                </a:solidFill>
                <a:latin typeface="JetBrains Mono"/>
              </a:rPr>
              <a:t>10  /  HOVER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47472"/>
            <a:ext cx="11430000" cy="420624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Inter"/>
              </a:rPr>
              <a:t>Hover Thrust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749808"/>
            <a:ext cx="11338560" cy="256032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A97AD"/>
                </a:solidFill>
                <a:latin typeface="Inter"/>
              </a:rPr>
              <a:t>MTOW 4.5 kg  ·  g = 9.81 m/s²  ·  four equal motors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48272"/>
            <a:ext cx="12191999" cy="109728"/>
          </a:xfrm>
          <a:prstGeom prst="rect">
            <a:avLst/>
          </a:prstGeom>
          <a:solidFill>
            <a:srgbClr val="0C17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91999" cy="13716"/>
          </a:xfrm>
          <a:prstGeom prst="rect">
            <a:avLst/>
          </a:prstGeom>
          <a:solidFill>
            <a:srgbClr val="2434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757416"/>
            <a:ext cx="8412480" cy="91440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C6B82"/>
                </a:solidFill>
                <a:latin typeface="JetBrains Mono"/>
              </a:rPr>
              <a:t>PUSHPAK V1   ·   TILT-ROTOR VTOL DEMONSTRATOR   ·   FINAL YEAR DESIGN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46920" y="6757416"/>
            <a:ext cx="2148840" cy="91440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D4E8"/>
                </a:solidFill>
                <a:latin typeface="JetBrains Mono"/>
              </a:rPr>
              <a:t>11  /  40</a:t>
            </a:r>
          </a:p>
        </p:txBody>
      </p:sp>
      <p:pic>
        <p:nvPicPr>
          <p:cNvPr id="10" name="Picture 9" descr="hover_casca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051560"/>
            <a:ext cx="11521440" cy="214884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384048" y="3291840"/>
            <a:ext cx="3639312" cy="1417320"/>
          </a:xfrm>
          <a:prstGeom prst="roundRect">
            <a:avLst>
              <a:gd name="adj" fmla="val 6000"/>
            </a:avLst>
          </a:prstGeom>
          <a:solidFill>
            <a:srgbClr val="121C30"/>
          </a:solidFill>
          <a:ln w="12700">
            <a:solidFill>
              <a:srgbClr val="243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048" y="3291840"/>
            <a:ext cx="3639312" cy="41148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" y="3438144"/>
            <a:ext cx="3346704" cy="292608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D4E8"/>
                </a:solidFill>
                <a:latin typeface="JetBrains Mono"/>
              </a:rPr>
              <a:t>W = MG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3794760"/>
            <a:ext cx="3346704" cy="658368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JetBrains Mono"/>
              </a:rPr>
              <a:t>4.50 × 9.81 = 44.15 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87952" y="3291840"/>
            <a:ext cx="3639312" cy="1417320"/>
          </a:xfrm>
          <a:prstGeom prst="roundRect">
            <a:avLst>
              <a:gd name="adj" fmla="val 6000"/>
            </a:avLst>
          </a:prstGeom>
          <a:solidFill>
            <a:srgbClr val="121C30"/>
          </a:solidFill>
          <a:ln w="12700">
            <a:solidFill>
              <a:srgbClr val="243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87952" y="3291840"/>
            <a:ext cx="3639312" cy="41148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34256" y="3438144"/>
            <a:ext cx="3346704" cy="292608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D4E8"/>
                </a:solidFill>
                <a:latin typeface="JetBrains Mono"/>
              </a:rPr>
              <a:t>T_HOVER / MOTOR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34256" y="3794760"/>
            <a:ext cx="3346704" cy="658368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JetBrains Mono"/>
              </a:rPr>
              <a:t>44.15 / 4 = 11.04 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91856" y="3291840"/>
            <a:ext cx="3639312" cy="1417320"/>
          </a:xfrm>
          <a:prstGeom prst="roundRect">
            <a:avLst>
              <a:gd name="adj" fmla="val 6000"/>
            </a:avLst>
          </a:prstGeom>
          <a:solidFill>
            <a:srgbClr val="121C30"/>
          </a:solidFill>
          <a:ln w="12700">
            <a:solidFill>
              <a:srgbClr val="243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991856" y="3291840"/>
            <a:ext cx="3639312" cy="41148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38160" y="3438144"/>
            <a:ext cx="3346704" cy="292608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D4E8"/>
                </a:solidFill>
                <a:latin typeface="JetBrains Mono"/>
              </a:rPr>
              <a:t>KGF EQUIVALENT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3794760"/>
            <a:ext cx="3346704" cy="658368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JetBrains Mono"/>
              </a:rPr>
              <a:t>11.04 / 9.81 = 1.125 kgf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84048" y="4846320"/>
            <a:ext cx="3639312" cy="1417320"/>
          </a:xfrm>
          <a:prstGeom prst="roundRect">
            <a:avLst>
              <a:gd name="adj" fmla="val 6000"/>
            </a:avLst>
          </a:prstGeom>
          <a:solidFill>
            <a:srgbClr val="121C30"/>
          </a:solidFill>
          <a:ln w="12700">
            <a:solidFill>
              <a:srgbClr val="243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84048" y="4846320"/>
            <a:ext cx="3639312" cy="41148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" y="4992624"/>
            <a:ext cx="3346704" cy="292608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D4E8"/>
                </a:solidFill>
                <a:latin typeface="JetBrains Mono"/>
              </a:rPr>
              <a:t>DESIGN T / MOTOR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" y="5349240"/>
            <a:ext cx="3346704" cy="658368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JetBrains Mono"/>
              </a:rPr>
              <a:t>2.25 kgf  (≈ 22.1 N)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87952" y="4846320"/>
            <a:ext cx="3639312" cy="1417320"/>
          </a:xfrm>
          <a:prstGeom prst="roundRect">
            <a:avLst>
              <a:gd name="adj" fmla="val 6000"/>
            </a:avLst>
          </a:prstGeom>
          <a:solidFill>
            <a:srgbClr val="121C30"/>
          </a:solidFill>
          <a:ln w="12700">
            <a:solidFill>
              <a:srgbClr val="243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187952" y="4846320"/>
            <a:ext cx="3639312" cy="41148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34256" y="4992624"/>
            <a:ext cx="3346704" cy="292608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D4E8"/>
                </a:solidFill>
                <a:latin typeface="JetBrains Mono"/>
              </a:rPr>
              <a:t>TOTAL STATIC 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34256" y="5349240"/>
            <a:ext cx="3346704" cy="658368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JetBrains Mono"/>
              </a:rPr>
              <a:t>≈ 9.0 kgf  (≈ 88 N)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91856" y="4846320"/>
            <a:ext cx="3639312" cy="1417320"/>
          </a:xfrm>
          <a:prstGeom prst="roundRect">
            <a:avLst>
              <a:gd name="adj" fmla="val 6000"/>
            </a:avLst>
          </a:prstGeom>
          <a:solidFill>
            <a:srgbClr val="121C30"/>
          </a:solidFill>
          <a:ln w="12700">
            <a:solidFill>
              <a:srgbClr val="243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91856" y="4846320"/>
            <a:ext cx="3639312" cy="41148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38160" y="4992624"/>
            <a:ext cx="3346704" cy="292608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D4E8"/>
                </a:solidFill>
                <a:latin typeface="JetBrains Mono"/>
              </a:rPr>
              <a:t>THRUST / WEIGHT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38160" y="5349240"/>
            <a:ext cx="3346704" cy="658368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JetBrains Mono"/>
              </a:rPr>
              <a:t>9.0 / 4.5  ≈  2.0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11338560" cy="256032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D4E8"/>
                </a:solidFill>
                <a:latin typeface="JetBrains Mono"/>
              </a:rPr>
              <a:t>11  /  WING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47472"/>
            <a:ext cx="11430000" cy="420624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Inter"/>
              </a:rPr>
              <a:t>Wing Design Methodology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48272"/>
            <a:ext cx="12191999" cy="109728"/>
          </a:xfrm>
          <a:prstGeom prst="rect">
            <a:avLst/>
          </a:prstGeom>
          <a:solidFill>
            <a:srgbClr val="0C17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48272"/>
            <a:ext cx="12191999" cy="13716"/>
          </a:xfrm>
          <a:prstGeom prst="rect">
            <a:avLst/>
          </a:prstGeom>
          <a:solidFill>
            <a:srgbClr val="2434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757416"/>
            <a:ext cx="8412480" cy="91440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C6B82"/>
                </a:solidFill>
                <a:latin typeface="JetBrains Mono"/>
              </a:rPr>
              <a:t>PUSHPAK V1   ·   TILT-ROTOR VTOL DEMONSTRATOR   ·   FINAL YEAR DESIGN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46920" y="6757416"/>
            <a:ext cx="2148840" cy="91440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D4E8"/>
                </a:solidFill>
                <a:latin typeface="JetBrains Mono"/>
              </a:rPr>
              <a:t>12  /  40</a:t>
            </a:r>
          </a:p>
        </p:txBody>
      </p:sp>
      <p:sp>
        <p:nvSpPr>
          <p:cNvPr id="9" name="Chevron 8"/>
          <p:cNvSpPr/>
          <p:nvPr/>
        </p:nvSpPr>
        <p:spPr>
          <a:xfrm>
            <a:off x="384048" y="1115568"/>
            <a:ext cx="1840991" cy="438912"/>
          </a:xfrm>
          <a:prstGeom prst="chevron">
            <a:avLst/>
          </a:prstGeom>
          <a:solidFill>
            <a:srgbClr val="0D3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" y="1115568"/>
            <a:ext cx="1676400" cy="438912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D4E8"/>
                </a:solidFill>
                <a:latin typeface="Inter"/>
              </a:rPr>
              <a:t>Lift target</a:t>
            </a:r>
          </a:p>
        </p:txBody>
      </p:sp>
      <p:sp>
        <p:nvSpPr>
          <p:cNvPr id="11" name="Chevron 10"/>
          <p:cNvSpPr/>
          <p:nvPr/>
        </p:nvSpPr>
        <p:spPr>
          <a:xfrm>
            <a:off x="2298192" y="1115568"/>
            <a:ext cx="1840991" cy="438912"/>
          </a:xfrm>
          <a:prstGeom prst="chevron">
            <a:avLst/>
          </a:prstGeom>
          <a:solidFill>
            <a:srgbClr val="0D3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53056" y="1115568"/>
            <a:ext cx="1676400" cy="438912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D4E8"/>
                </a:solidFill>
                <a:latin typeface="Inter"/>
              </a:rPr>
              <a:t>Pick V, S</a:t>
            </a:r>
          </a:p>
        </p:txBody>
      </p:sp>
      <p:sp>
        <p:nvSpPr>
          <p:cNvPr id="13" name="Chevron 12"/>
          <p:cNvSpPr/>
          <p:nvPr/>
        </p:nvSpPr>
        <p:spPr>
          <a:xfrm>
            <a:off x="4212336" y="1115568"/>
            <a:ext cx="1840991" cy="438912"/>
          </a:xfrm>
          <a:prstGeom prst="chevron">
            <a:avLst/>
          </a:prstGeom>
          <a:solidFill>
            <a:srgbClr val="0D3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67199" y="1115568"/>
            <a:ext cx="1676400" cy="438912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D4E8"/>
                </a:solidFill>
                <a:latin typeface="Inter"/>
              </a:rPr>
              <a:t>Compute CL</a:t>
            </a:r>
          </a:p>
        </p:txBody>
      </p:sp>
      <p:sp>
        <p:nvSpPr>
          <p:cNvPr id="15" name="Chevron 14"/>
          <p:cNvSpPr/>
          <p:nvPr/>
        </p:nvSpPr>
        <p:spPr>
          <a:xfrm>
            <a:off x="6126479" y="1115568"/>
            <a:ext cx="1840991" cy="438912"/>
          </a:xfrm>
          <a:prstGeom prst="chevron">
            <a:avLst/>
          </a:prstGeom>
          <a:solidFill>
            <a:srgbClr val="0D3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81343" y="1115568"/>
            <a:ext cx="1676400" cy="438912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D4E8"/>
                </a:solidFill>
                <a:latin typeface="Inter"/>
              </a:rPr>
              <a:t>Select airfoil</a:t>
            </a:r>
          </a:p>
        </p:txBody>
      </p:sp>
      <p:sp>
        <p:nvSpPr>
          <p:cNvPr id="17" name="Chevron 16"/>
          <p:cNvSpPr/>
          <p:nvPr/>
        </p:nvSpPr>
        <p:spPr>
          <a:xfrm>
            <a:off x="8040624" y="1115568"/>
            <a:ext cx="1840991" cy="438912"/>
          </a:xfrm>
          <a:prstGeom prst="chevron">
            <a:avLst/>
          </a:prstGeom>
          <a:solidFill>
            <a:srgbClr val="0D3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5488" y="1115568"/>
            <a:ext cx="1676400" cy="438912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D4E8"/>
                </a:solidFill>
                <a:latin typeface="Inter"/>
              </a:rPr>
              <a:t>Fix AR / span</a:t>
            </a:r>
          </a:p>
        </p:txBody>
      </p:sp>
      <p:sp>
        <p:nvSpPr>
          <p:cNvPr id="19" name="Chevron 18"/>
          <p:cNvSpPr/>
          <p:nvPr/>
        </p:nvSpPr>
        <p:spPr>
          <a:xfrm>
            <a:off x="9954768" y="1115568"/>
            <a:ext cx="1840991" cy="438912"/>
          </a:xfrm>
          <a:prstGeom prst="chevron">
            <a:avLst/>
          </a:prstGeom>
          <a:solidFill>
            <a:srgbClr val="0D3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09632" y="1115568"/>
            <a:ext cx="1676400" cy="438912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D4E8"/>
                </a:solidFill>
                <a:latin typeface="Inter"/>
              </a:rPr>
              <a:t>Winglets</a:t>
            </a:r>
          </a:p>
        </p:txBody>
      </p:sp>
      <p:pic>
        <p:nvPicPr>
          <p:cNvPr id="21" name="Picture 20" descr="pushpak-w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1719072"/>
            <a:ext cx="5852160" cy="3063240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384048" y="1719072"/>
            <a:ext cx="128016" cy="16459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84048" y="1719072"/>
            <a:ext cx="16459" cy="128016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08192" y="1719072"/>
            <a:ext cx="128016" cy="16459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9748" y="1719072"/>
            <a:ext cx="16459" cy="128016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84048" y="4765852"/>
            <a:ext cx="128016" cy="16459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84048" y="4654296"/>
            <a:ext cx="16459" cy="128016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08192" y="4765852"/>
            <a:ext cx="128016" cy="16459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9748" y="4654296"/>
            <a:ext cx="16459" cy="128016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naca441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1719072"/>
            <a:ext cx="5440680" cy="2148840"/>
          </a:xfrm>
          <a:prstGeom prst="rect">
            <a:avLst/>
          </a:prstGeom>
        </p:spPr>
      </p:pic>
      <p:sp>
        <p:nvSpPr>
          <p:cNvPr id="31" name="Rounded Rectangle 30"/>
          <p:cNvSpPr/>
          <p:nvPr/>
        </p:nvSpPr>
        <p:spPr>
          <a:xfrm>
            <a:off x="384048" y="4937760"/>
            <a:ext cx="1847088" cy="1554480"/>
          </a:xfrm>
          <a:prstGeom prst="roundRect">
            <a:avLst>
              <a:gd name="adj" fmla="val 6000"/>
            </a:avLst>
          </a:prstGeom>
          <a:solidFill>
            <a:srgbClr val="121C30"/>
          </a:solidFill>
          <a:ln w="12700">
            <a:solidFill>
              <a:srgbClr val="243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84048" y="4937760"/>
            <a:ext cx="1847088" cy="41148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5488" y="5074920"/>
            <a:ext cx="1664208" cy="256032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D4E8"/>
                </a:solidFill>
                <a:latin typeface="JetBrains Mono"/>
              </a:rPr>
              <a:t>SPAN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5488" y="5394960"/>
            <a:ext cx="1664208" cy="77724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JetBrains Mono"/>
              </a:rPr>
              <a:t>1300 mm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322576" y="4937760"/>
            <a:ext cx="1847088" cy="1554480"/>
          </a:xfrm>
          <a:prstGeom prst="roundRect">
            <a:avLst>
              <a:gd name="adj" fmla="val 6000"/>
            </a:avLst>
          </a:prstGeom>
          <a:solidFill>
            <a:srgbClr val="121C30"/>
          </a:solidFill>
          <a:ln w="12700">
            <a:solidFill>
              <a:srgbClr val="243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322576" y="4937760"/>
            <a:ext cx="1847088" cy="41148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414016" y="5074920"/>
            <a:ext cx="1664208" cy="256032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D4E8"/>
                </a:solidFill>
                <a:latin typeface="JetBrains Mono"/>
              </a:rPr>
              <a:t>AREA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414016" y="5394960"/>
            <a:ext cx="1664208" cy="77724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JetBrains Mono"/>
              </a:rPr>
              <a:t>0.32 m²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261104" y="4937760"/>
            <a:ext cx="1847088" cy="1554480"/>
          </a:xfrm>
          <a:prstGeom prst="roundRect">
            <a:avLst>
              <a:gd name="adj" fmla="val 6000"/>
            </a:avLst>
          </a:prstGeom>
          <a:solidFill>
            <a:srgbClr val="121C30"/>
          </a:solidFill>
          <a:ln w="12700">
            <a:solidFill>
              <a:srgbClr val="243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261104" y="4937760"/>
            <a:ext cx="1847088" cy="41148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52544" y="5074920"/>
            <a:ext cx="1664208" cy="256032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D4E8"/>
                </a:solidFill>
                <a:latin typeface="JetBrains Mono"/>
              </a:rPr>
              <a:t>CHORD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52544" y="5394960"/>
            <a:ext cx="1664208" cy="77724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JetBrains Mono"/>
              </a:rPr>
              <a:t>246 mm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199632" y="4937760"/>
            <a:ext cx="1847088" cy="1554480"/>
          </a:xfrm>
          <a:prstGeom prst="roundRect">
            <a:avLst>
              <a:gd name="adj" fmla="val 6000"/>
            </a:avLst>
          </a:prstGeom>
          <a:solidFill>
            <a:srgbClr val="121C30"/>
          </a:solidFill>
          <a:ln w="12700">
            <a:solidFill>
              <a:srgbClr val="243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199632" y="4937760"/>
            <a:ext cx="1847088" cy="41148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91072" y="5074920"/>
            <a:ext cx="1664208" cy="256032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D4E8"/>
                </a:solidFill>
                <a:latin typeface="JetBrains Mono"/>
              </a:rPr>
              <a:t>AR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91072" y="5394960"/>
            <a:ext cx="1664208" cy="77724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JetBrains Mono"/>
              </a:rPr>
              <a:t>5.3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138160" y="4937760"/>
            <a:ext cx="1847088" cy="1554480"/>
          </a:xfrm>
          <a:prstGeom prst="roundRect">
            <a:avLst>
              <a:gd name="adj" fmla="val 6000"/>
            </a:avLst>
          </a:prstGeom>
          <a:solidFill>
            <a:srgbClr val="121C30"/>
          </a:solidFill>
          <a:ln w="12700">
            <a:solidFill>
              <a:srgbClr val="243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138160" y="4937760"/>
            <a:ext cx="1847088" cy="41148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29600" y="5074920"/>
            <a:ext cx="1664208" cy="256032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D4E8"/>
                </a:solidFill>
                <a:latin typeface="JetBrains Mono"/>
              </a:rPr>
              <a:t>FOIL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29600" y="5394960"/>
            <a:ext cx="1664208" cy="77724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JetBrains Mono"/>
              </a:rPr>
              <a:t>4412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0076688" y="4937760"/>
            <a:ext cx="1847088" cy="1554480"/>
          </a:xfrm>
          <a:prstGeom prst="roundRect">
            <a:avLst>
              <a:gd name="adj" fmla="val 6000"/>
            </a:avLst>
          </a:prstGeom>
          <a:solidFill>
            <a:srgbClr val="121C30"/>
          </a:solidFill>
          <a:ln w="12700">
            <a:solidFill>
              <a:srgbClr val="243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0076688" y="4937760"/>
            <a:ext cx="1847088" cy="41148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168128" y="5074920"/>
            <a:ext cx="1664208" cy="256032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D4E8"/>
                </a:solidFill>
                <a:latin typeface="JetBrains Mono"/>
              </a:rPr>
              <a:t>TIPS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168128" y="5394960"/>
            <a:ext cx="1664208" cy="77724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JetBrains Mono"/>
              </a:rPr>
              <a:t>2 winglets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11338560" cy="256032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D4E8"/>
                </a:solidFill>
                <a:latin typeface="JetBrains Mono"/>
              </a:rPr>
              <a:t>12  /  LIFT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47472"/>
            <a:ext cx="11430000" cy="420624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Inter"/>
              </a:rPr>
              <a:t>Lift Calculations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48272"/>
            <a:ext cx="12191999" cy="109728"/>
          </a:xfrm>
          <a:prstGeom prst="rect">
            <a:avLst/>
          </a:prstGeom>
          <a:solidFill>
            <a:srgbClr val="0C17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48272"/>
            <a:ext cx="12191999" cy="13716"/>
          </a:xfrm>
          <a:prstGeom prst="rect">
            <a:avLst/>
          </a:prstGeom>
          <a:solidFill>
            <a:srgbClr val="2434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757416"/>
            <a:ext cx="8412480" cy="91440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C6B82"/>
                </a:solidFill>
                <a:latin typeface="JetBrains Mono"/>
              </a:rPr>
              <a:t>PUSHPAK V1   ·   TILT-ROTOR VTOL DEMONSTRATOR   ·   FINAL YEAR DESIGN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46920" y="6757416"/>
            <a:ext cx="2148840" cy="91440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D4E8"/>
                </a:solidFill>
                <a:latin typeface="JetBrains Mono"/>
              </a:rPr>
              <a:t>13  /  40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" y="1115568"/>
            <a:ext cx="6720840" cy="1965960"/>
          </a:xfrm>
          <a:prstGeom prst="roundRect">
            <a:avLst>
              <a:gd name="adj" fmla="val 6000"/>
            </a:avLst>
          </a:prstGeom>
          <a:solidFill>
            <a:srgbClr val="121C30"/>
          </a:solidFill>
          <a:ln w="12700">
            <a:solidFill>
              <a:srgbClr val="243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4048" y="1115568"/>
            <a:ext cx="6720840" cy="41148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261872"/>
            <a:ext cx="6400800" cy="256032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D4E8"/>
                </a:solidFill>
                <a:latin typeface="JetBrains Mono"/>
              </a:rPr>
              <a:t>CRUISE LIFT EQUATION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1572768"/>
            <a:ext cx="6400800" cy="50292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JetBrains Mono"/>
              </a:rPr>
              <a:t>L  =  ½ ρ V² S CL     →     CL  =  L / (q 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2194560"/>
            <a:ext cx="6400800" cy="64008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7DFEA"/>
                </a:solidFill>
                <a:latin typeface="Inter"/>
              </a:rPr>
              <a:t>ρ = 1.225 kg/m³   ·   V = 20 m/s   ·   q = 245 Pa   ·   S = 0.32 m²   ·   L_target = 0.70 × 44.15 = 30.90 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9480" y="1115568"/>
            <a:ext cx="4526280" cy="1188720"/>
          </a:xfrm>
          <a:prstGeom prst="roundRect">
            <a:avLst>
              <a:gd name="adj" fmla="val 6000"/>
            </a:avLst>
          </a:prstGeom>
          <a:solidFill>
            <a:srgbClr val="121C30"/>
          </a:solidFill>
          <a:ln w="12700">
            <a:solidFill>
              <a:srgbClr val="243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269480" y="1115568"/>
            <a:ext cx="4526280" cy="41148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79208" y="1261872"/>
            <a:ext cx="4306824" cy="438912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JetBrains Mono"/>
              </a:rPr>
              <a:t>20 m/s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79208" y="1682495"/>
            <a:ext cx="4306824" cy="256032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A97AD"/>
                </a:solidFill>
                <a:latin typeface="Inter"/>
              </a:rPr>
              <a:t>CRUISE SPEED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69480" y="2414015"/>
            <a:ext cx="4526280" cy="1188720"/>
          </a:xfrm>
          <a:prstGeom prst="roundRect">
            <a:avLst>
              <a:gd name="adj" fmla="val 6000"/>
            </a:avLst>
          </a:prstGeom>
          <a:solidFill>
            <a:srgbClr val="121C30"/>
          </a:solidFill>
          <a:ln w="12700">
            <a:solidFill>
              <a:srgbClr val="243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269480" y="2414015"/>
            <a:ext cx="4526280" cy="41148"/>
          </a:xfrm>
          <a:prstGeom prst="rect">
            <a:avLst/>
          </a:prstGeom>
          <a:solidFill>
            <a:srgbClr val="F5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79208" y="2560320"/>
            <a:ext cx="4306824" cy="438912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JetBrains Mono"/>
              </a:rPr>
              <a:t>70%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79208" y="2980944"/>
            <a:ext cx="4306824" cy="256032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A97AD"/>
                </a:solidFill>
                <a:latin typeface="Inter"/>
              </a:rPr>
              <a:t>WING LIFT SHARE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69480" y="3712463"/>
            <a:ext cx="4526280" cy="1188720"/>
          </a:xfrm>
          <a:prstGeom prst="roundRect">
            <a:avLst>
              <a:gd name="adj" fmla="val 6000"/>
            </a:avLst>
          </a:prstGeom>
          <a:solidFill>
            <a:srgbClr val="121C30"/>
          </a:solidFill>
          <a:ln w="12700">
            <a:solidFill>
              <a:srgbClr val="243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269480" y="3712463"/>
            <a:ext cx="4526280" cy="41148"/>
          </a:xfrm>
          <a:prstGeom prst="rect">
            <a:avLst/>
          </a:prstGeom>
          <a:solidFill>
            <a:srgbClr val="2EE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79208" y="3858768"/>
            <a:ext cx="4306824" cy="438912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JetBrains Mono"/>
              </a:rPr>
              <a:t>0.395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79208" y="4279392"/>
            <a:ext cx="4306824" cy="256032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A97AD"/>
                </a:solidFill>
                <a:latin typeface="Inter"/>
              </a:rPr>
              <a:t>REQUIRED CL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69480" y="5010912"/>
            <a:ext cx="4526280" cy="1188720"/>
          </a:xfrm>
          <a:prstGeom prst="roundRect">
            <a:avLst>
              <a:gd name="adj" fmla="val 6000"/>
            </a:avLst>
          </a:prstGeom>
          <a:solidFill>
            <a:srgbClr val="121C30"/>
          </a:solidFill>
          <a:ln w="12700">
            <a:solidFill>
              <a:srgbClr val="243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269480" y="5010912"/>
            <a:ext cx="4526280" cy="41148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79208" y="5157216"/>
            <a:ext cx="4306824" cy="438912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JetBrains Mono"/>
              </a:rPr>
              <a:t>30.90 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79208" y="5577840"/>
            <a:ext cx="4306824" cy="256032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A97AD"/>
                </a:solidFill>
                <a:latin typeface="Inter"/>
              </a:rPr>
              <a:t>WING LIFT</a:t>
            </a:r>
          </a:p>
        </p:txBody>
      </p:sp>
      <p:pic>
        <p:nvPicPr>
          <p:cNvPr id="30" name="Picture 29" descr="lift_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3246120"/>
            <a:ext cx="6720840" cy="3246120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384048" y="3246120"/>
            <a:ext cx="128016" cy="16459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84048" y="3246120"/>
            <a:ext cx="16459" cy="128016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976872" y="3246120"/>
            <a:ext cx="128016" cy="16459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088428" y="3246120"/>
            <a:ext cx="16459" cy="128016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84048" y="6475780"/>
            <a:ext cx="128016" cy="16459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84048" y="6364224"/>
            <a:ext cx="16459" cy="128016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976872" y="6475780"/>
            <a:ext cx="128016" cy="16459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088428" y="6364224"/>
            <a:ext cx="16459" cy="128016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11338560" cy="256032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D4E8"/>
                </a:solidFill>
                <a:latin typeface="JetBrains Mono"/>
              </a:rPr>
              <a:t>13  /  GEOMETRY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47472"/>
            <a:ext cx="11430000" cy="420624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Inter"/>
              </a:rPr>
              <a:t>Aircraft Geometry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48272"/>
            <a:ext cx="12191999" cy="109728"/>
          </a:xfrm>
          <a:prstGeom prst="rect">
            <a:avLst/>
          </a:prstGeom>
          <a:solidFill>
            <a:srgbClr val="0C17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48272"/>
            <a:ext cx="12191999" cy="13716"/>
          </a:xfrm>
          <a:prstGeom prst="rect">
            <a:avLst/>
          </a:prstGeom>
          <a:solidFill>
            <a:srgbClr val="2434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757416"/>
            <a:ext cx="8412480" cy="91440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C6B82"/>
                </a:solidFill>
                <a:latin typeface="JetBrains Mono"/>
              </a:rPr>
              <a:t>PUSHPAK V1   ·   TILT-ROTOR VTOL DEMONSTRATOR   ·   FINAL YEAR DESIGN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46920" y="6757416"/>
            <a:ext cx="2148840" cy="91440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D4E8"/>
                </a:solidFill>
                <a:latin typeface="JetBrains Mono"/>
              </a:rPr>
              <a:t>14  /  40</a:t>
            </a:r>
          </a:p>
        </p:txBody>
      </p:sp>
      <p:pic>
        <p:nvPicPr>
          <p:cNvPr id="9" name="Picture 8" descr="pushpak-sid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1115568"/>
            <a:ext cx="6903720" cy="370332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384048" y="1115568"/>
            <a:ext cx="128016" cy="16459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115568"/>
            <a:ext cx="16459" cy="128016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159752" y="1115568"/>
            <a:ext cx="128016" cy="16459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271308" y="1115568"/>
            <a:ext cx="16459" cy="128016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4048" y="4802428"/>
            <a:ext cx="128016" cy="16459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84048" y="4690872"/>
            <a:ext cx="16459" cy="128016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159752" y="4802428"/>
            <a:ext cx="128016" cy="16459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271308" y="4690872"/>
            <a:ext cx="16459" cy="128016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7452360" y="1115568"/>
          <a:ext cx="4343400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1700"/>
                <a:gridCol w="2171700"/>
              </a:tblGrid>
              <a:tr h="411480">
                <a:tc>
                  <a:txBody>
                    <a:bodyPr lIns="73152" rIns="54864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00D4E8"/>
                          </a:solidFill>
                          <a:latin typeface="JetBrains Mono"/>
                        </a:rPr>
                        <a:t>Station</a:t>
                      </a:r>
                    </a:p>
                  </a:txBody>
                  <a:tcPr anchor="ctr">
                    <a:solidFill>
                      <a:srgbClr val="0D3C4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00D4E8"/>
                          </a:solidFill>
                          <a:latin typeface="JetBrains Mono"/>
                        </a:rPr>
                        <a:t>Dimension</a:t>
                      </a:r>
                    </a:p>
                  </a:txBody>
                  <a:tcPr anchor="ctr">
                    <a:solidFill>
                      <a:srgbClr val="0D3C4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</a:tr>
              <a:tr h="411480">
                <a:tc>
                  <a:txBody>
                    <a:bodyPr lIns="73152" rIns="54864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D7DFEA"/>
                          </a:solidFill>
                          <a:latin typeface="Inter"/>
                        </a:rPr>
                        <a:t>Fuselage length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D7DFEA"/>
                          </a:solidFill>
                          <a:latin typeface="JetBrains Mono"/>
                        </a:rPr>
                        <a:t>1200–1300 mm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</a:tr>
              <a:tr h="411480">
                <a:tc>
                  <a:txBody>
                    <a:bodyPr lIns="73152" rIns="54864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D7DFEA"/>
                          </a:solidFill>
                          <a:latin typeface="Inter"/>
                        </a:rPr>
                        <a:t>Wing span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D7DFEA"/>
                          </a:solidFill>
                          <a:latin typeface="JetBrains Mono"/>
                        </a:rPr>
                        <a:t>1300 mm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</a:tr>
              <a:tr h="411480">
                <a:tc>
                  <a:txBody>
                    <a:bodyPr lIns="73152" rIns="54864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D7DFEA"/>
                          </a:solidFill>
                          <a:latin typeface="Inter"/>
                        </a:rPr>
                        <a:t>Rotor span (tip-to-tip)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D7DFEA"/>
                          </a:solidFill>
                          <a:latin typeface="JetBrains Mono"/>
                        </a:rPr>
                        <a:t>1700–1900 mm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</a:tr>
              <a:tr h="411480">
                <a:tc>
                  <a:txBody>
                    <a:bodyPr lIns="73152" rIns="54864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D7DFEA"/>
                          </a:solidFill>
                          <a:latin typeface="Inter"/>
                        </a:rPr>
                        <a:t>Propeller diameter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D7DFEA"/>
                          </a:solidFill>
                          <a:latin typeface="JetBrains Mono"/>
                        </a:rPr>
                        <a:t>406 mm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</a:tr>
              <a:tr h="411480">
                <a:tc>
                  <a:txBody>
                    <a:bodyPr lIns="73152" rIns="54864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D7DFEA"/>
                          </a:solidFill>
                          <a:latin typeface="Inter"/>
                        </a:rPr>
                        <a:t>Mean chord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D7DFEA"/>
                          </a:solidFill>
                          <a:latin typeface="JetBrains Mono"/>
                        </a:rPr>
                        <a:t>246 mm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</a:tr>
              <a:tr h="411480">
                <a:tc>
                  <a:txBody>
                    <a:bodyPr lIns="73152" rIns="54864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D7DFEA"/>
                          </a:solidFill>
                          <a:latin typeface="Inter"/>
                        </a:rPr>
                        <a:t>Wing area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D7DFEA"/>
                          </a:solidFill>
                          <a:latin typeface="JetBrains Mono"/>
                        </a:rPr>
                        <a:t>0.32 m²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</a:tr>
              <a:tr h="411480">
                <a:tc>
                  <a:txBody>
                    <a:bodyPr lIns="73152" rIns="54864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D7DFEA"/>
                          </a:solidFill>
                          <a:latin typeface="Inter"/>
                        </a:rPr>
                        <a:t>Max rotor tilt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D7DFEA"/>
                          </a:solidFill>
                          <a:latin typeface="JetBrains Mono"/>
                        </a:rPr>
                        <a:t>75°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</a:tr>
              <a:tr h="411480">
                <a:tc>
                  <a:txBody>
                    <a:bodyPr lIns="73152" rIns="54864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D7DFEA"/>
                          </a:solidFill>
                          <a:latin typeface="Inter"/>
                        </a:rPr>
                        <a:t>Min prop clearance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D7DFEA"/>
                          </a:solidFill>
                          <a:latin typeface="JetBrains Mono"/>
                        </a:rPr>
                        <a:t>50–75 mm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384048" y="4983480"/>
            <a:ext cx="11411712" cy="1508760"/>
          </a:xfrm>
          <a:prstGeom prst="roundRect">
            <a:avLst>
              <a:gd name="adj" fmla="val 6000"/>
            </a:avLst>
          </a:prstGeom>
          <a:solidFill>
            <a:srgbClr val="121C30"/>
          </a:solidFill>
          <a:ln w="12700">
            <a:solidFill>
              <a:srgbClr val="243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84048" y="4983480"/>
            <a:ext cx="11411712" cy="41148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5120640"/>
            <a:ext cx="11064240" cy="256032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D4E8"/>
                </a:solidFill>
                <a:latin typeface="JetBrains Mono"/>
              </a:rPr>
              <a:t>LAYOUT INTENT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5440680"/>
            <a:ext cx="11064240" cy="82296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D7DFEA"/>
                </a:solidFill>
                <a:latin typeface="Inter"/>
              </a:rPr>
              <a:t>High wing keeps the prop disks clear of the fuselage and simplifies landing-gear length. Front tilt shaft sits ahead of the leading edge; rear shaft sits aft of the trailing edge. CG is between the two shafts so hover moments stay small.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11338560" cy="256032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D4E8"/>
                </a:solidFill>
                <a:latin typeface="JetBrains Mono"/>
              </a:rPr>
              <a:t>14  /  ROTORS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47472"/>
            <a:ext cx="11430000" cy="420624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Inter"/>
              </a:rPr>
              <a:t>Rotor Placement Layout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48272"/>
            <a:ext cx="12191999" cy="109728"/>
          </a:xfrm>
          <a:prstGeom prst="rect">
            <a:avLst/>
          </a:prstGeom>
          <a:solidFill>
            <a:srgbClr val="0C17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48272"/>
            <a:ext cx="12191999" cy="13716"/>
          </a:xfrm>
          <a:prstGeom prst="rect">
            <a:avLst/>
          </a:prstGeom>
          <a:solidFill>
            <a:srgbClr val="2434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757416"/>
            <a:ext cx="8412480" cy="91440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C6B82"/>
                </a:solidFill>
                <a:latin typeface="JetBrains Mono"/>
              </a:rPr>
              <a:t>PUSHPAK V1   ·   TILT-ROTOR VTOL DEMONSTRATOR   ·   FINAL YEAR DESIGN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46920" y="6757416"/>
            <a:ext cx="2148840" cy="91440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D4E8"/>
                </a:solidFill>
                <a:latin typeface="JetBrains Mono"/>
              </a:rPr>
              <a:t>15  /  40</a:t>
            </a:r>
          </a:p>
        </p:txBody>
      </p:sp>
      <p:pic>
        <p:nvPicPr>
          <p:cNvPr id="9" name="Picture 8" descr="pushpak-top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1078992"/>
            <a:ext cx="7452360" cy="416052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384048" y="1078992"/>
            <a:ext cx="128016" cy="16459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078992"/>
            <a:ext cx="16459" cy="128016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08392" y="1078992"/>
            <a:ext cx="128016" cy="16459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819948" y="1078992"/>
            <a:ext cx="16459" cy="128016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4048" y="5223052"/>
            <a:ext cx="128016" cy="16459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84048" y="5111496"/>
            <a:ext cx="16459" cy="128016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08392" y="5223052"/>
            <a:ext cx="128016" cy="16459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819948" y="5111496"/>
            <a:ext cx="16459" cy="128016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01000" y="1078992"/>
            <a:ext cx="3794760" cy="960120"/>
          </a:xfrm>
          <a:prstGeom prst="roundRect">
            <a:avLst>
              <a:gd name="adj" fmla="val 6000"/>
            </a:avLst>
          </a:prstGeom>
          <a:solidFill>
            <a:srgbClr val="121C30"/>
          </a:solidFill>
          <a:ln w="12700">
            <a:solidFill>
              <a:srgbClr val="243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078992"/>
            <a:ext cx="3794760" cy="41148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8160" y="1188719"/>
            <a:ext cx="3520440" cy="292608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D4E8"/>
                </a:solidFill>
                <a:latin typeface="JetBrains Mono"/>
              </a:rPr>
              <a:t>FRONT LEFT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1517904"/>
            <a:ext cx="3520440" cy="384048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D7DFEA"/>
                </a:solidFill>
                <a:latin typeface="Inter"/>
              </a:rPr>
              <a:t>On front tilt shaft  ·  tilts with FR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01000" y="2130552"/>
            <a:ext cx="3794760" cy="960120"/>
          </a:xfrm>
          <a:prstGeom prst="roundRect">
            <a:avLst>
              <a:gd name="adj" fmla="val 6000"/>
            </a:avLst>
          </a:prstGeom>
          <a:solidFill>
            <a:srgbClr val="121C30"/>
          </a:solidFill>
          <a:ln w="12700">
            <a:solidFill>
              <a:srgbClr val="243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01000" y="2130552"/>
            <a:ext cx="3794760" cy="41148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38160" y="2240280"/>
            <a:ext cx="3520440" cy="292608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D4E8"/>
                </a:solidFill>
                <a:latin typeface="JetBrains Mono"/>
              </a:rPr>
              <a:t>FRONT RIGHT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2569464"/>
            <a:ext cx="3520440" cy="384048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D7DFEA"/>
                </a:solidFill>
                <a:latin typeface="Inter"/>
              </a:rPr>
              <a:t>On front tilt shaft  ·  1 servo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01000" y="3182111"/>
            <a:ext cx="3794760" cy="960120"/>
          </a:xfrm>
          <a:prstGeom prst="roundRect">
            <a:avLst>
              <a:gd name="adj" fmla="val 6000"/>
            </a:avLst>
          </a:prstGeom>
          <a:solidFill>
            <a:srgbClr val="121C30"/>
          </a:solidFill>
          <a:ln w="12700">
            <a:solidFill>
              <a:srgbClr val="243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01000" y="3182111"/>
            <a:ext cx="3794760" cy="41148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38160" y="3291839"/>
            <a:ext cx="3520440" cy="292608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D4E8"/>
                </a:solidFill>
                <a:latin typeface="JetBrains Mono"/>
              </a:rPr>
              <a:t>REAR LEFT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3621023"/>
            <a:ext cx="3520440" cy="384048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D7DFEA"/>
                </a:solidFill>
                <a:latin typeface="Inter"/>
              </a:rPr>
              <a:t>On rear tilt shaft  ·  tilts with RR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01000" y="4233672"/>
            <a:ext cx="3794760" cy="960120"/>
          </a:xfrm>
          <a:prstGeom prst="roundRect">
            <a:avLst>
              <a:gd name="adj" fmla="val 6000"/>
            </a:avLst>
          </a:prstGeom>
          <a:solidFill>
            <a:srgbClr val="121C30"/>
          </a:solidFill>
          <a:ln w="12700">
            <a:solidFill>
              <a:srgbClr val="243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1000" y="4233672"/>
            <a:ext cx="3794760" cy="41148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38160" y="4343400"/>
            <a:ext cx="3520440" cy="292608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D4E8"/>
                </a:solidFill>
                <a:latin typeface="JetBrains Mono"/>
              </a:rPr>
              <a:t>REAR RIGHT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8160" y="4672583"/>
            <a:ext cx="3520440" cy="384048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D7DFEA"/>
                </a:solidFill>
                <a:latin typeface="Inter"/>
              </a:rPr>
              <a:t>On rear tilt shaft  ·  1 servo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84048" y="5394960"/>
            <a:ext cx="11411712" cy="1097280"/>
          </a:xfrm>
          <a:prstGeom prst="roundRect">
            <a:avLst>
              <a:gd name="adj" fmla="val 6000"/>
            </a:avLst>
          </a:prstGeom>
          <a:solidFill>
            <a:srgbClr val="121C30"/>
          </a:solidFill>
          <a:ln w="12700">
            <a:solidFill>
              <a:srgbClr val="243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84048" y="5394960"/>
            <a:ext cx="11411712" cy="41148"/>
          </a:xfrm>
          <a:prstGeom prst="rect">
            <a:avLst/>
          </a:prstGeom>
          <a:solidFill>
            <a:srgbClr val="F5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6928" y="5623560"/>
            <a:ext cx="11064240" cy="68580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Inter"/>
              </a:rPr>
              <a:t>Minimum propeller clearance  50–75 mm   ·   rotor span  1700–1900 mm   ·   propeller D  406 mm   ·   wing span  1300 mm (between the two shafts)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11338560" cy="256032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D4E8"/>
                </a:solidFill>
                <a:latin typeface="JetBrains Mono"/>
              </a:rPr>
              <a:t>15  /  TILT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47472"/>
            <a:ext cx="11430000" cy="420624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Inter"/>
              </a:rPr>
              <a:t>Tilt Mechanism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48272"/>
            <a:ext cx="12191999" cy="109728"/>
          </a:xfrm>
          <a:prstGeom prst="rect">
            <a:avLst/>
          </a:prstGeom>
          <a:solidFill>
            <a:srgbClr val="0C17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48272"/>
            <a:ext cx="12191999" cy="13716"/>
          </a:xfrm>
          <a:prstGeom prst="rect">
            <a:avLst/>
          </a:prstGeom>
          <a:solidFill>
            <a:srgbClr val="2434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757416"/>
            <a:ext cx="8412480" cy="91440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C6B82"/>
                </a:solidFill>
                <a:latin typeface="JetBrains Mono"/>
              </a:rPr>
              <a:t>PUSHPAK V1   ·   TILT-ROTOR VTOL DEMONSTRATOR   ·   FINAL YEAR DESIGN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46920" y="6757416"/>
            <a:ext cx="2148840" cy="91440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D4E8"/>
                </a:solidFill>
                <a:latin typeface="JetBrains Mono"/>
              </a:rPr>
              <a:t>16  /  40</a:t>
            </a:r>
          </a:p>
        </p:txBody>
      </p:sp>
      <p:pic>
        <p:nvPicPr>
          <p:cNvPr id="9" name="Picture 8" descr="pushpak-tilt-expl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1078992"/>
            <a:ext cx="7040880" cy="3977639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384048" y="1078992"/>
            <a:ext cx="128016" cy="16459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078992"/>
            <a:ext cx="16459" cy="128016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296912" y="1078992"/>
            <a:ext cx="128016" cy="16459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08468" y="1078992"/>
            <a:ext cx="16459" cy="128016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4048" y="5040172"/>
            <a:ext cx="128016" cy="16459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84048" y="4928616"/>
            <a:ext cx="16459" cy="128016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296912" y="5040172"/>
            <a:ext cx="128016" cy="16459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08468" y="4928616"/>
            <a:ext cx="16459" cy="128016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hevron 17"/>
          <p:cNvSpPr/>
          <p:nvPr/>
        </p:nvSpPr>
        <p:spPr>
          <a:xfrm>
            <a:off x="384048" y="5212080"/>
            <a:ext cx="1840991" cy="384048"/>
          </a:xfrm>
          <a:prstGeom prst="chevron">
            <a:avLst/>
          </a:prstGeom>
          <a:solidFill>
            <a:srgbClr val="0D3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" y="5212080"/>
            <a:ext cx="1676400" cy="384048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D4E8"/>
                </a:solidFill>
                <a:latin typeface="Inter"/>
              </a:rPr>
              <a:t>MOTOR</a:t>
            </a:r>
          </a:p>
        </p:txBody>
      </p:sp>
      <p:sp>
        <p:nvSpPr>
          <p:cNvPr id="20" name="Chevron 19"/>
          <p:cNvSpPr/>
          <p:nvPr/>
        </p:nvSpPr>
        <p:spPr>
          <a:xfrm>
            <a:off x="2298192" y="5212080"/>
            <a:ext cx="1840991" cy="384048"/>
          </a:xfrm>
          <a:prstGeom prst="chevron">
            <a:avLst/>
          </a:prstGeom>
          <a:solidFill>
            <a:srgbClr val="0D3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353056" y="5212080"/>
            <a:ext cx="1676400" cy="384048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D4E8"/>
                </a:solidFill>
                <a:latin typeface="Inter"/>
              </a:rPr>
              <a:t>MOUNT</a:t>
            </a:r>
          </a:p>
        </p:txBody>
      </p:sp>
      <p:sp>
        <p:nvSpPr>
          <p:cNvPr id="22" name="Chevron 21"/>
          <p:cNvSpPr/>
          <p:nvPr/>
        </p:nvSpPr>
        <p:spPr>
          <a:xfrm>
            <a:off x="4212336" y="5212080"/>
            <a:ext cx="1840991" cy="384048"/>
          </a:xfrm>
          <a:prstGeom prst="chevron">
            <a:avLst/>
          </a:prstGeom>
          <a:solidFill>
            <a:srgbClr val="0D3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67199" y="5212080"/>
            <a:ext cx="1676400" cy="384048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D4E8"/>
                </a:solidFill>
                <a:latin typeface="Inter"/>
              </a:rPr>
              <a:t>SHAFT</a:t>
            </a:r>
          </a:p>
        </p:txBody>
      </p:sp>
      <p:sp>
        <p:nvSpPr>
          <p:cNvPr id="24" name="Chevron 23"/>
          <p:cNvSpPr/>
          <p:nvPr/>
        </p:nvSpPr>
        <p:spPr>
          <a:xfrm>
            <a:off x="6126479" y="5212080"/>
            <a:ext cx="1840991" cy="384048"/>
          </a:xfrm>
          <a:prstGeom prst="chevron">
            <a:avLst/>
          </a:prstGeom>
          <a:solidFill>
            <a:srgbClr val="0D3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81343" y="5212080"/>
            <a:ext cx="1676400" cy="384048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D4E8"/>
                </a:solidFill>
                <a:latin typeface="Inter"/>
              </a:rPr>
              <a:t>BEARINGS</a:t>
            </a:r>
          </a:p>
        </p:txBody>
      </p:sp>
      <p:sp>
        <p:nvSpPr>
          <p:cNvPr id="26" name="Chevron 25"/>
          <p:cNvSpPr/>
          <p:nvPr/>
        </p:nvSpPr>
        <p:spPr>
          <a:xfrm>
            <a:off x="8040624" y="5212080"/>
            <a:ext cx="1840991" cy="384048"/>
          </a:xfrm>
          <a:prstGeom prst="chevron">
            <a:avLst/>
          </a:prstGeom>
          <a:solidFill>
            <a:srgbClr val="0D3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95488" y="5212080"/>
            <a:ext cx="1676400" cy="384048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D4E8"/>
                </a:solidFill>
                <a:latin typeface="Inter"/>
              </a:rPr>
              <a:t>LINKAGE</a:t>
            </a:r>
          </a:p>
        </p:txBody>
      </p:sp>
      <p:sp>
        <p:nvSpPr>
          <p:cNvPr id="28" name="Chevron 27"/>
          <p:cNvSpPr/>
          <p:nvPr/>
        </p:nvSpPr>
        <p:spPr>
          <a:xfrm>
            <a:off x="9954768" y="5212080"/>
            <a:ext cx="1840991" cy="384048"/>
          </a:xfrm>
          <a:prstGeom prst="chevron">
            <a:avLst/>
          </a:prstGeom>
          <a:solidFill>
            <a:srgbClr val="0D3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09632" y="5212080"/>
            <a:ext cx="1676400" cy="384048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D4E8"/>
                </a:solidFill>
                <a:latin typeface="Inter"/>
              </a:rPr>
              <a:t>SERVO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589520" y="1078992"/>
            <a:ext cx="4206240" cy="896112"/>
          </a:xfrm>
          <a:prstGeom prst="roundRect">
            <a:avLst>
              <a:gd name="adj" fmla="val 6000"/>
            </a:avLst>
          </a:prstGeom>
          <a:solidFill>
            <a:srgbClr val="121C30"/>
          </a:solidFill>
          <a:ln w="12700">
            <a:solidFill>
              <a:srgbClr val="243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589520" y="1078992"/>
            <a:ext cx="4206240" cy="41148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35824" y="1152144"/>
            <a:ext cx="3931920" cy="237744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D4E8"/>
                </a:solidFill>
                <a:latin typeface="JetBrains Mono"/>
              </a:rPr>
              <a:t>PER AXIS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35824" y="1426464"/>
            <a:ext cx="3931920" cy="45720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D7DFEA"/>
                </a:solidFill>
                <a:latin typeface="Inter"/>
              </a:rPr>
              <a:t>1 shaft  ·  2 motor mounts  ·  4 bearings  ·  1 servo  ·  linkage  ·  stops  ·  1 angle sensor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589520" y="2066543"/>
            <a:ext cx="4206240" cy="896112"/>
          </a:xfrm>
          <a:prstGeom prst="roundRect">
            <a:avLst>
              <a:gd name="adj" fmla="val 6000"/>
            </a:avLst>
          </a:prstGeom>
          <a:solidFill>
            <a:srgbClr val="121C30"/>
          </a:solidFill>
          <a:ln w="12700">
            <a:solidFill>
              <a:srgbClr val="243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589520" y="2066543"/>
            <a:ext cx="4206240" cy="41148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35824" y="2139696"/>
            <a:ext cx="3931920" cy="237744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D4E8"/>
                </a:solidFill>
                <a:latin typeface="JetBrains Mono"/>
              </a:rPr>
              <a:t>ACTUATOR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35824" y="2414015"/>
            <a:ext cx="3931920" cy="45720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D7DFEA"/>
                </a:solidFill>
                <a:latin typeface="Inter"/>
              </a:rPr>
              <a:t>STS3215-C018 serial bus servo  ·  one per axis  ·  not per motor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589520" y="3054096"/>
            <a:ext cx="4206240" cy="896112"/>
          </a:xfrm>
          <a:prstGeom prst="roundRect">
            <a:avLst>
              <a:gd name="adj" fmla="val 6000"/>
            </a:avLst>
          </a:prstGeom>
          <a:solidFill>
            <a:srgbClr val="121C30"/>
          </a:solidFill>
          <a:ln w="12700">
            <a:solidFill>
              <a:srgbClr val="243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589520" y="3054096"/>
            <a:ext cx="4206240" cy="41148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35824" y="3127248"/>
            <a:ext cx="3931920" cy="237744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D4E8"/>
                </a:solidFill>
                <a:latin typeface="JetBrains Mono"/>
              </a:rPr>
              <a:t>STOPS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35824" y="3401568"/>
            <a:ext cx="3931920" cy="45720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D7DFEA"/>
                </a:solidFill>
                <a:latin typeface="Inter"/>
              </a:rPr>
              <a:t>Hard mechanical limits at hover (0°) and cruise (75°)  ·  independent of software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589520" y="4041648"/>
            <a:ext cx="4206240" cy="896112"/>
          </a:xfrm>
          <a:prstGeom prst="roundRect">
            <a:avLst>
              <a:gd name="adj" fmla="val 6000"/>
            </a:avLst>
          </a:prstGeom>
          <a:solidFill>
            <a:srgbClr val="121C30"/>
          </a:solidFill>
          <a:ln w="12700">
            <a:solidFill>
              <a:srgbClr val="243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589520" y="4041648"/>
            <a:ext cx="4206240" cy="41148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735824" y="4114800"/>
            <a:ext cx="3931920" cy="237744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D4E8"/>
                </a:solidFill>
                <a:latin typeface="JetBrains Mono"/>
              </a:rPr>
              <a:t>SENSOR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35824" y="4389120"/>
            <a:ext cx="3931920" cy="45720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D7DFEA"/>
                </a:solidFill>
                <a:latin typeface="Inter"/>
              </a:rPr>
              <a:t>Absolute magnetic angle  ·  logged to Pixhawk / ESP32  ·  jam detection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11338560" cy="256032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D4E8"/>
                </a:solidFill>
                <a:latin typeface="JetBrains Mono"/>
              </a:rPr>
              <a:t>16  /  TILT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47472"/>
            <a:ext cx="11430000" cy="420624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Inter"/>
              </a:rPr>
              <a:t>Tilt Mechanism Working Principle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48272"/>
            <a:ext cx="12191999" cy="109728"/>
          </a:xfrm>
          <a:prstGeom prst="rect">
            <a:avLst/>
          </a:prstGeom>
          <a:solidFill>
            <a:srgbClr val="0C17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48272"/>
            <a:ext cx="12191999" cy="13716"/>
          </a:xfrm>
          <a:prstGeom prst="rect">
            <a:avLst/>
          </a:prstGeom>
          <a:solidFill>
            <a:srgbClr val="2434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757416"/>
            <a:ext cx="8412480" cy="91440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C6B82"/>
                </a:solidFill>
                <a:latin typeface="JetBrains Mono"/>
              </a:rPr>
              <a:t>PUSHPAK V1   ·   TILT-ROTOR VTOL DEMONSTRATOR   ·   FINAL YEAR DESIGN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46920" y="6757416"/>
            <a:ext cx="2148840" cy="91440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D4E8"/>
                </a:solidFill>
                <a:latin typeface="JetBrains Mono"/>
              </a:rPr>
              <a:t>17  /  40</a:t>
            </a:r>
          </a:p>
        </p:txBody>
      </p:sp>
      <p:pic>
        <p:nvPicPr>
          <p:cNvPr id="9" name="Picture 8" descr="pushpak-mod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1078992"/>
            <a:ext cx="11411712" cy="288036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384048" y="1078992"/>
            <a:ext cx="128016" cy="16459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078992"/>
            <a:ext cx="16459" cy="128016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667744" y="1078992"/>
            <a:ext cx="128016" cy="16459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79300" y="1078992"/>
            <a:ext cx="16459" cy="128016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4048" y="3942892"/>
            <a:ext cx="128016" cy="16459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84048" y="3831336"/>
            <a:ext cx="16459" cy="128016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667744" y="3942892"/>
            <a:ext cx="128016" cy="16459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79300" y="3831336"/>
            <a:ext cx="16459" cy="128016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84048" y="4114800"/>
            <a:ext cx="3639312" cy="1417320"/>
          </a:xfrm>
          <a:prstGeom prst="roundRect">
            <a:avLst>
              <a:gd name="adj" fmla="val 6000"/>
            </a:avLst>
          </a:prstGeom>
          <a:solidFill>
            <a:srgbClr val="121C30"/>
          </a:solidFill>
          <a:ln w="12700">
            <a:solidFill>
              <a:srgbClr val="243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84048" y="4114800"/>
            <a:ext cx="3639312" cy="41148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4224528"/>
            <a:ext cx="3346704" cy="27432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D4E8"/>
                </a:solidFill>
                <a:latin typeface="JetBrains Mono"/>
              </a:rPr>
              <a:t>01  HOVER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4526280"/>
            <a:ext cx="3438144" cy="86868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D7DFEA"/>
                </a:solidFill>
                <a:latin typeface="Inter"/>
              </a:rPr>
              <a:t>Tilt 0°  ·  T vertical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D7DFEA"/>
                </a:solidFill>
                <a:latin typeface="Inter"/>
              </a:rPr>
              <a:t>Wing lift ≈ 0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D7DFEA"/>
                </a:solidFill>
                <a:latin typeface="Inter"/>
              </a:rPr>
              <a:t>Quad mixer active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87952" y="4114800"/>
            <a:ext cx="3639312" cy="1417320"/>
          </a:xfrm>
          <a:prstGeom prst="roundRect">
            <a:avLst>
              <a:gd name="adj" fmla="val 6000"/>
            </a:avLst>
          </a:prstGeom>
          <a:solidFill>
            <a:srgbClr val="121C30"/>
          </a:solidFill>
          <a:ln w="12700">
            <a:solidFill>
              <a:srgbClr val="243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87952" y="4114800"/>
            <a:ext cx="3639312" cy="41148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34256" y="4224528"/>
            <a:ext cx="3346704" cy="27432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D4E8"/>
                </a:solidFill>
                <a:latin typeface="JetBrains Mono"/>
              </a:rPr>
              <a:t>02  TRANSITION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79392" y="4526280"/>
            <a:ext cx="3438144" cy="86868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D7DFEA"/>
                </a:solidFill>
                <a:latin typeface="Inter"/>
              </a:rPr>
              <a:t>Tilt scheduled vs airspeed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D7DFEA"/>
                </a:solidFill>
                <a:latin typeface="Inter"/>
              </a:rPr>
              <a:t>Wing loading rising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D7DFEA"/>
                </a:solidFill>
                <a:latin typeface="Inter"/>
              </a:rPr>
              <a:t>Collective reducing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91856" y="4114800"/>
            <a:ext cx="3639312" cy="1417320"/>
          </a:xfrm>
          <a:prstGeom prst="roundRect">
            <a:avLst>
              <a:gd name="adj" fmla="val 6000"/>
            </a:avLst>
          </a:prstGeom>
          <a:solidFill>
            <a:srgbClr val="121C30"/>
          </a:solidFill>
          <a:ln w="12700">
            <a:solidFill>
              <a:srgbClr val="243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991856" y="4114800"/>
            <a:ext cx="3639312" cy="41148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38160" y="4224528"/>
            <a:ext cx="3346704" cy="27432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D4E8"/>
                </a:solidFill>
                <a:latin typeface="JetBrains Mono"/>
              </a:rPr>
              <a:t>03  CRUISE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83296" y="4526280"/>
            <a:ext cx="3438144" cy="86868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D7DFEA"/>
                </a:solidFill>
                <a:latin typeface="Inter"/>
              </a:rPr>
              <a:t>Tilt 75°  ·  T mostly axial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D7DFEA"/>
                </a:solidFill>
                <a:latin typeface="Inter"/>
              </a:rPr>
              <a:t>Wing ~70% of weight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D7DFEA"/>
                </a:solidFill>
                <a:latin typeface="Inter"/>
              </a:rPr>
              <a:t>Power experiment window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84048" y="5650992"/>
            <a:ext cx="11411712" cy="868680"/>
          </a:xfrm>
          <a:prstGeom prst="roundRect">
            <a:avLst>
              <a:gd name="adj" fmla="val 6000"/>
            </a:avLst>
          </a:prstGeom>
          <a:solidFill>
            <a:srgbClr val="121C30"/>
          </a:solidFill>
          <a:ln w="12700">
            <a:solidFill>
              <a:srgbClr val="243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84048" y="5650992"/>
            <a:ext cx="11411712" cy="41148"/>
          </a:xfrm>
          <a:prstGeom prst="rect">
            <a:avLst/>
          </a:prstGeom>
          <a:solidFill>
            <a:srgbClr val="F5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5742432"/>
            <a:ext cx="11155680" cy="713232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JetBrains Mono"/>
              </a:rPr>
              <a:t>LOAD PATH      MOTOR → MOUNT → TILT SHAFT → BEARINGS → AIRFRAME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D7DFEA"/>
                </a:solidFill>
                <a:latin typeface="JetBrains Mono"/>
              </a:rPr>
              <a:t>COMMAND PATH   FC → SERVO → LINKAGE → SHAFT     (servo never carries rotor loads)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11338560" cy="256032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D4E8"/>
                </a:solidFill>
                <a:latin typeface="JetBrains Mono"/>
              </a:rPr>
              <a:t>17  /  AVIONICS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47472"/>
            <a:ext cx="11430000" cy="420624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Inter"/>
              </a:rPr>
              <a:t>Electronics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48272"/>
            <a:ext cx="12191999" cy="109728"/>
          </a:xfrm>
          <a:prstGeom prst="rect">
            <a:avLst/>
          </a:prstGeom>
          <a:solidFill>
            <a:srgbClr val="0C17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48272"/>
            <a:ext cx="12191999" cy="13716"/>
          </a:xfrm>
          <a:prstGeom prst="rect">
            <a:avLst/>
          </a:prstGeom>
          <a:solidFill>
            <a:srgbClr val="2434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757416"/>
            <a:ext cx="8412480" cy="91440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C6B82"/>
                </a:solidFill>
                <a:latin typeface="JetBrains Mono"/>
              </a:rPr>
              <a:t>PUSHPAK V1   ·   TILT-ROTOR VTOL DEMONSTRATOR   ·   FINAL YEAR DESIGN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46920" y="6757416"/>
            <a:ext cx="2148840" cy="91440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D4E8"/>
                </a:solidFill>
                <a:latin typeface="JetBrains Mono"/>
              </a:rPr>
              <a:t>18  /  40</a:t>
            </a:r>
          </a:p>
        </p:txBody>
      </p:sp>
      <p:pic>
        <p:nvPicPr>
          <p:cNvPr id="9" name="Picture 8" descr="pushpak-avioni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1078992"/>
            <a:ext cx="5623560" cy="315468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384048" y="1078992"/>
            <a:ext cx="128016" cy="16459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078992"/>
            <a:ext cx="16459" cy="128016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879592" y="1078992"/>
            <a:ext cx="128016" cy="16459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91148" y="1078992"/>
            <a:ext cx="16459" cy="128016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4048" y="4217212"/>
            <a:ext cx="128016" cy="16459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84048" y="4105656"/>
            <a:ext cx="16459" cy="128016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79592" y="4217212"/>
            <a:ext cx="128016" cy="16459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91148" y="4105656"/>
            <a:ext cx="16459" cy="128016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72200" y="1078992"/>
            <a:ext cx="5623560" cy="960120"/>
          </a:xfrm>
          <a:prstGeom prst="roundRect">
            <a:avLst>
              <a:gd name="adj" fmla="val 6000"/>
            </a:avLst>
          </a:prstGeom>
          <a:solidFill>
            <a:srgbClr val="121C30"/>
          </a:solidFill>
          <a:ln w="12700">
            <a:solidFill>
              <a:srgbClr val="243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1078992"/>
            <a:ext cx="5623560" cy="41148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27648" y="1170432"/>
            <a:ext cx="5303520" cy="256032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D4E8"/>
                </a:solidFill>
                <a:latin typeface="JetBrains Mono"/>
              </a:rPr>
              <a:t>SENSE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7648" y="1463039"/>
            <a:ext cx="5303520" cy="45720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7DFEA"/>
                </a:solidFill>
                <a:latin typeface="Inter"/>
              </a:rPr>
              <a:t>Pitot  ·  GPS  ·  compass  ·  mag angle ×2  ·  IMU  ·  V/I bus  ·  actuator current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2130552"/>
            <a:ext cx="5623560" cy="960120"/>
          </a:xfrm>
          <a:prstGeom prst="roundRect">
            <a:avLst>
              <a:gd name="adj" fmla="val 6000"/>
            </a:avLst>
          </a:prstGeom>
          <a:solidFill>
            <a:srgbClr val="121C30"/>
          </a:solidFill>
          <a:ln w="12700">
            <a:solidFill>
              <a:srgbClr val="243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2200" y="2130552"/>
            <a:ext cx="5623560" cy="41148"/>
          </a:xfrm>
          <a:prstGeom prst="rect">
            <a:avLst/>
          </a:prstGeom>
          <a:solidFill>
            <a:srgbClr val="F5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27648" y="2221992"/>
            <a:ext cx="5303520" cy="256032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5B942"/>
                </a:solidFill>
                <a:latin typeface="JetBrains Mono"/>
              </a:rPr>
              <a:t>DECIDE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27648" y="2514600"/>
            <a:ext cx="5303520" cy="45720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7DFEA"/>
                </a:solidFill>
                <a:latin typeface="Inter"/>
              </a:rPr>
              <a:t>Pixhawk / ArduPilot flight laws  ·  ESP32 companion I/O and experiment log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3182111"/>
            <a:ext cx="5623560" cy="960120"/>
          </a:xfrm>
          <a:prstGeom prst="roundRect">
            <a:avLst>
              <a:gd name="adj" fmla="val 6000"/>
            </a:avLst>
          </a:prstGeom>
          <a:solidFill>
            <a:srgbClr val="121C30"/>
          </a:solidFill>
          <a:ln w="12700">
            <a:solidFill>
              <a:srgbClr val="243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72200" y="3182111"/>
            <a:ext cx="5623560" cy="41148"/>
          </a:xfrm>
          <a:prstGeom prst="rect">
            <a:avLst/>
          </a:prstGeom>
          <a:solidFill>
            <a:srgbClr val="2EE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27648" y="3273551"/>
            <a:ext cx="5303520" cy="256032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EE6A6"/>
                </a:solidFill>
                <a:latin typeface="JetBrains Mono"/>
              </a:rPr>
              <a:t>ACT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27648" y="3566159"/>
            <a:ext cx="5303520" cy="45720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7DFEA"/>
                </a:solidFill>
                <a:latin typeface="Inter"/>
              </a:rPr>
              <a:t>4 × ESC / motor  ·  front tilt servo  ·  rear tilt servo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84048" y="4370832"/>
          <a:ext cx="11411712" cy="21214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05856"/>
                <a:gridCol w="5705856"/>
              </a:tblGrid>
              <a:tr h="303058">
                <a:tc>
                  <a:txBody>
                    <a:bodyPr lIns="73152" rIns="54864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00D4E8"/>
                          </a:solidFill>
                          <a:latin typeface="JetBrains Mono"/>
                        </a:rPr>
                        <a:t>Node</a:t>
                      </a:r>
                    </a:p>
                  </a:txBody>
                  <a:tcPr anchor="ctr">
                    <a:solidFill>
                      <a:srgbClr val="0D3C4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00D4E8"/>
                          </a:solidFill>
                          <a:latin typeface="JetBrains Mono"/>
                        </a:rPr>
                        <a:t>Function</a:t>
                      </a:r>
                    </a:p>
                  </a:txBody>
                  <a:tcPr anchor="ctr">
                    <a:solidFill>
                      <a:srgbClr val="0D3C4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</a:tr>
              <a:tr h="303058">
                <a:tc>
                  <a:txBody>
                    <a:bodyPr lIns="73152" rIns="54864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Inter"/>
                        </a:rPr>
                        <a:t>Pixhawk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JetBrains Mono"/>
                        </a:rPr>
                        <a:t>Attitude, VTOL mixer, failsafes, logging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</a:tr>
              <a:tr h="303058">
                <a:tc>
                  <a:txBody>
                    <a:bodyPr lIns="73152" rIns="54864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Inter"/>
                        </a:rPr>
                        <a:t>ArduPilot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JetBrains Mono"/>
                        </a:rPr>
                        <a:t>QHOVER / QLOITER / FBWA / AUTO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</a:tr>
              <a:tr h="303058">
                <a:tc>
                  <a:txBody>
                    <a:bodyPr lIns="73152" rIns="54864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Inter"/>
                        </a:rPr>
                        <a:t>ESP32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JetBrains Mono"/>
                        </a:rPr>
                        <a:t>Tilt telemetry, power DAQ, experiment flags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</a:tr>
              <a:tr h="303058">
                <a:tc>
                  <a:txBody>
                    <a:bodyPr lIns="73152" rIns="54864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Inter"/>
                        </a:rPr>
                        <a:t>Pitot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JetBrains Mono"/>
                        </a:rPr>
                        <a:t>Calibrated airspeed for tilt schedule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</a:tr>
              <a:tr h="303058">
                <a:tc>
                  <a:txBody>
                    <a:bodyPr lIns="73152" rIns="54864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Inter"/>
                        </a:rPr>
                        <a:t>GPS + compass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JetBrains Mono"/>
                        </a:rPr>
                        <a:t>Position, heading, RTL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</a:tr>
              <a:tr h="303060">
                <a:tc>
                  <a:txBody>
                    <a:bodyPr lIns="73152" rIns="54864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Inter"/>
                        </a:rPr>
                        <a:t>Mag angle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JetBrains Mono"/>
                        </a:rPr>
                        <a:t>Absolute tilt on each shaft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11338560" cy="256032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D4E8"/>
                </a:solidFill>
                <a:latin typeface="JetBrains Mono"/>
              </a:rPr>
              <a:t>18  / 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47472"/>
            <a:ext cx="11430000" cy="420624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Inter"/>
              </a:rPr>
              <a:t>Pixhawk–ESP32 Integration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48272"/>
            <a:ext cx="12191999" cy="109728"/>
          </a:xfrm>
          <a:prstGeom prst="rect">
            <a:avLst/>
          </a:prstGeom>
          <a:solidFill>
            <a:srgbClr val="0C17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48272"/>
            <a:ext cx="12191999" cy="13716"/>
          </a:xfrm>
          <a:prstGeom prst="rect">
            <a:avLst/>
          </a:prstGeom>
          <a:solidFill>
            <a:srgbClr val="2434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757416"/>
            <a:ext cx="8412480" cy="91440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C6B82"/>
                </a:solidFill>
                <a:latin typeface="JetBrains Mono"/>
              </a:rPr>
              <a:t>PUSHPAK V1   ·   TILT-ROTOR VTOL DEMONSTRATOR   ·   FINAL YEAR DESIGN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46920" y="6757416"/>
            <a:ext cx="2148840" cy="91440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D4E8"/>
                </a:solidFill>
                <a:latin typeface="JetBrains Mono"/>
              </a:rPr>
              <a:t>19  /  40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" y="1115568"/>
            <a:ext cx="5349240" cy="5349240"/>
          </a:xfrm>
          <a:prstGeom prst="roundRect">
            <a:avLst>
              <a:gd name="adj" fmla="val 6000"/>
            </a:avLst>
          </a:prstGeom>
          <a:solidFill>
            <a:srgbClr val="121C30"/>
          </a:solidFill>
          <a:ln w="12700">
            <a:solidFill>
              <a:srgbClr val="243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4048" y="1115568"/>
            <a:ext cx="5349240" cy="41148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280160"/>
            <a:ext cx="5029200" cy="27432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D4E8"/>
                </a:solidFill>
                <a:latin typeface="JetBrains Mono"/>
              </a:rPr>
              <a:t>PIXHAWK  /  ARDUPILOT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691640"/>
            <a:ext cx="5029200" cy="44805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D7DFEA"/>
                </a:solidFill>
                <a:latin typeface="Inter"/>
              </a:rPr>
              <a:t>▸  Owns motor mixer and VTOL modes.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D7DFEA"/>
                </a:solidFill>
                <a:latin typeface="Inter"/>
              </a:rPr>
              <a:t>▸  Runs attitude / position loops.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D7DFEA"/>
                </a:solidFill>
                <a:latin typeface="Inter"/>
              </a:rPr>
              <a:t>▸  Issues front and rear tilt PWM / bus commands.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D7DFEA"/>
                </a:solidFill>
                <a:latin typeface="Inter"/>
              </a:rPr>
              <a:t>▸  Hosts failsafes: batt, GCS, geofence, RTL.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D7DFEA"/>
                </a:solidFill>
                <a:latin typeface="Inter"/>
              </a:rPr>
              <a:t>▸  Records onboard .bin log (IMU, GPS, RC).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D7DFEA"/>
                </a:solidFill>
                <a:latin typeface="Inter"/>
              </a:rPr>
              <a:t>▸  Reads pitot as airspeed sensor.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D7DFEA"/>
                </a:solidFill>
                <a:latin typeface="Inter"/>
              </a:rPr>
              <a:t>▸  If companion dies → freeze last tilt or revert to hover.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806440" y="3520440"/>
            <a:ext cx="502920" cy="256032"/>
          </a:xfrm>
          <a:prstGeom prst="rightArrow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46520" y="1115568"/>
            <a:ext cx="5349240" cy="5349240"/>
          </a:xfrm>
          <a:prstGeom prst="roundRect">
            <a:avLst>
              <a:gd name="adj" fmla="val 6000"/>
            </a:avLst>
          </a:prstGeom>
          <a:solidFill>
            <a:srgbClr val="121C30"/>
          </a:solidFill>
          <a:ln w="12700">
            <a:solidFill>
              <a:srgbClr val="243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46520" y="1115568"/>
            <a:ext cx="5349240" cy="41148"/>
          </a:xfrm>
          <a:prstGeom prst="rect">
            <a:avLst/>
          </a:prstGeom>
          <a:solidFill>
            <a:srgbClr val="F5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1280160"/>
            <a:ext cx="5029200" cy="27432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5B942"/>
                </a:solidFill>
                <a:latin typeface="JetBrains Mono"/>
              </a:rPr>
              <a:t>ESP32 COMPANION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5392" y="1691640"/>
            <a:ext cx="5029200" cy="44805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D7DFEA"/>
                </a:solidFill>
                <a:latin typeface="Inter"/>
              </a:rPr>
              <a:t>▸  Samples magnetic tilt encoders at high rate.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D7DFEA"/>
                </a:solidFill>
                <a:latin typeface="Inter"/>
              </a:rPr>
              <a:t>▸  Samples battery voltage, current, actuator current.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D7DFEA"/>
                </a:solidFill>
                <a:latin typeface="Inter"/>
              </a:rPr>
              <a:t>▸  Stamps experiment events (wing-on / wing-off run IDs).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D7DFEA"/>
                </a:solidFill>
                <a:latin typeface="Inter"/>
              </a:rPr>
              <a:t>▸  Forwards compact telemetry to GCS / SD.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D7DFEA"/>
                </a:solidFill>
                <a:latin typeface="Inter"/>
              </a:rPr>
              <a:t>▸  Does not command motor throttle.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D7DFEA"/>
                </a:solidFill>
                <a:latin typeface="Inter"/>
              </a:rPr>
              <a:t>▸  Watchdog heartbeats to Pixhawk.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D7DFEA"/>
                </a:solidFill>
                <a:latin typeface="Inter"/>
              </a:rPr>
              <a:t>▸  Can inhibit further tilt if encoder disagreement.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11338560" cy="256032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D4E8"/>
                </a:solidFill>
                <a:latin typeface="JetBrains Mono"/>
              </a:rPr>
              <a:t>19  / 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47472"/>
            <a:ext cx="11430000" cy="420624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Inter"/>
              </a:rPr>
              <a:t>Control System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48272"/>
            <a:ext cx="12191999" cy="109728"/>
          </a:xfrm>
          <a:prstGeom prst="rect">
            <a:avLst/>
          </a:prstGeom>
          <a:solidFill>
            <a:srgbClr val="0C17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48272"/>
            <a:ext cx="12191999" cy="13716"/>
          </a:xfrm>
          <a:prstGeom prst="rect">
            <a:avLst/>
          </a:prstGeom>
          <a:solidFill>
            <a:srgbClr val="2434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757416"/>
            <a:ext cx="8412480" cy="91440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C6B82"/>
                </a:solidFill>
                <a:latin typeface="JetBrains Mono"/>
              </a:rPr>
              <a:t>PUSHPAK V1   ·   TILT-ROTOR VTOL DEMONSTRATOR   ·   FINAL YEAR DESIGN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46920" y="6757416"/>
            <a:ext cx="2148840" cy="91440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D4E8"/>
                </a:solidFill>
                <a:latin typeface="JetBrains Mono"/>
              </a:rPr>
              <a:t>20  /  40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1078992"/>
            <a:ext cx="3108960" cy="256032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D4E8"/>
                </a:solidFill>
                <a:latin typeface="JetBrains Mono"/>
              </a:rPr>
              <a:t>INPUTS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371600"/>
            <a:ext cx="3063240" cy="365760"/>
          </a:xfrm>
          <a:prstGeom prst="roundRect">
            <a:avLst>
              <a:gd name="adj" fmla="val 8000"/>
            </a:avLst>
          </a:prstGeom>
          <a:solidFill>
            <a:srgbClr val="121C30"/>
          </a:solidFill>
          <a:ln w="12700">
            <a:solidFill>
              <a:srgbClr val="243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1371600"/>
            <a:ext cx="2880360" cy="365760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D7DFEA"/>
                </a:solidFill>
                <a:latin typeface="Inter"/>
              </a:rPr>
              <a:t>Pilot command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048" y="1783080"/>
            <a:ext cx="3063240" cy="365760"/>
          </a:xfrm>
          <a:prstGeom prst="roundRect">
            <a:avLst>
              <a:gd name="adj" fmla="val 8000"/>
            </a:avLst>
          </a:prstGeom>
          <a:solidFill>
            <a:srgbClr val="121C30"/>
          </a:solidFill>
          <a:ln w="12700">
            <a:solidFill>
              <a:srgbClr val="243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" y="1783080"/>
            <a:ext cx="2880360" cy="365760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D7DFEA"/>
                </a:solidFill>
                <a:latin typeface="Inter"/>
              </a:rPr>
              <a:t>Airspeed (pitot)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4048" y="2194560"/>
            <a:ext cx="3063240" cy="365760"/>
          </a:xfrm>
          <a:prstGeom prst="roundRect">
            <a:avLst>
              <a:gd name="adj" fmla="val 8000"/>
            </a:avLst>
          </a:prstGeom>
          <a:solidFill>
            <a:srgbClr val="121C30"/>
          </a:solidFill>
          <a:ln w="12700">
            <a:solidFill>
              <a:srgbClr val="243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2194560"/>
            <a:ext cx="2880360" cy="365760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D7DFEA"/>
                </a:solidFill>
                <a:latin typeface="Inter"/>
              </a:rPr>
              <a:t>Tilt angle ×2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4048" y="2606040"/>
            <a:ext cx="3063240" cy="365760"/>
          </a:xfrm>
          <a:prstGeom prst="roundRect">
            <a:avLst>
              <a:gd name="adj" fmla="val 8000"/>
            </a:avLst>
          </a:prstGeom>
          <a:solidFill>
            <a:srgbClr val="121C30"/>
          </a:solidFill>
          <a:ln w="12700">
            <a:solidFill>
              <a:srgbClr val="243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" y="2606040"/>
            <a:ext cx="2880360" cy="365760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D7DFEA"/>
                </a:solidFill>
                <a:latin typeface="Inter"/>
              </a:rPr>
              <a:t>Vertical velocity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4048" y="3017520"/>
            <a:ext cx="3063240" cy="365760"/>
          </a:xfrm>
          <a:prstGeom prst="roundRect">
            <a:avLst>
              <a:gd name="adj" fmla="val 8000"/>
            </a:avLst>
          </a:prstGeom>
          <a:solidFill>
            <a:srgbClr val="121C30"/>
          </a:solidFill>
          <a:ln w="12700">
            <a:solidFill>
              <a:srgbClr val="243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" y="3017520"/>
            <a:ext cx="2880360" cy="365760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D7DFEA"/>
                </a:solidFill>
                <a:latin typeface="Inter"/>
              </a:rPr>
              <a:t>Altitude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4048" y="3429000"/>
            <a:ext cx="3063240" cy="365760"/>
          </a:xfrm>
          <a:prstGeom prst="roundRect">
            <a:avLst>
              <a:gd name="adj" fmla="val 8000"/>
            </a:avLst>
          </a:prstGeom>
          <a:solidFill>
            <a:srgbClr val="121C30"/>
          </a:solidFill>
          <a:ln w="12700">
            <a:solidFill>
              <a:srgbClr val="243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488" y="3429000"/>
            <a:ext cx="2880360" cy="365760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D7DFEA"/>
                </a:solidFill>
                <a:latin typeface="Inter"/>
              </a:rPr>
              <a:t>RPM ×4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4048" y="3840480"/>
            <a:ext cx="3063240" cy="365760"/>
          </a:xfrm>
          <a:prstGeom prst="roundRect">
            <a:avLst>
              <a:gd name="adj" fmla="val 8000"/>
            </a:avLst>
          </a:prstGeom>
          <a:solidFill>
            <a:srgbClr val="121C30"/>
          </a:solidFill>
          <a:ln w="12700">
            <a:solidFill>
              <a:srgbClr val="243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" y="3840480"/>
            <a:ext cx="2880360" cy="365760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D7DFEA"/>
                </a:solidFill>
                <a:latin typeface="Inter"/>
              </a:rPr>
              <a:t>Battery voltage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4048" y="4251960"/>
            <a:ext cx="3063240" cy="365760"/>
          </a:xfrm>
          <a:prstGeom prst="roundRect">
            <a:avLst>
              <a:gd name="adj" fmla="val 8000"/>
            </a:avLst>
          </a:prstGeom>
          <a:solidFill>
            <a:srgbClr val="121C30"/>
          </a:solidFill>
          <a:ln w="12700">
            <a:solidFill>
              <a:srgbClr val="243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5488" y="4251960"/>
            <a:ext cx="2880360" cy="365760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D7DFEA"/>
                </a:solidFill>
                <a:latin typeface="Inter"/>
              </a:rPr>
              <a:t>Battery current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4048" y="4663440"/>
            <a:ext cx="3063240" cy="365760"/>
          </a:xfrm>
          <a:prstGeom prst="roundRect">
            <a:avLst>
              <a:gd name="adj" fmla="val 8000"/>
            </a:avLst>
          </a:prstGeom>
          <a:solidFill>
            <a:srgbClr val="121C30"/>
          </a:solidFill>
          <a:ln w="12700">
            <a:solidFill>
              <a:srgbClr val="243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5488" y="4663440"/>
            <a:ext cx="2880360" cy="365760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D7DFEA"/>
                </a:solidFill>
                <a:latin typeface="Inter"/>
              </a:rPr>
              <a:t>Actuator current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84048" y="5074920"/>
            <a:ext cx="3063240" cy="365760"/>
          </a:xfrm>
          <a:prstGeom prst="roundRect">
            <a:avLst>
              <a:gd name="adj" fmla="val 8000"/>
            </a:avLst>
          </a:prstGeom>
          <a:solidFill>
            <a:srgbClr val="121C30"/>
          </a:solidFill>
          <a:ln w="12700">
            <a:solidFill>
              <a:srgbClr val="243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5488" y="5074920"/>
            <a:ext cx="2880360" cy="365760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D7DFEA"/>
                </a:solidFill>
                <a:latin typeface="Inter"/>
              </a:rPr>
              <a:t>Roll rate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84048" y="5486400"/>
            <a:ext cx="3063240" cy="365760"/>
          </a:xfrm>
          <a:prstGeom prst="roundRect">
            <a:avLst>
              <a:gd name="adj" fmla="val 8000"/>
            </a:avLst>
          </a:prstGeom>
          <a:solidFill>
            <a:srgbClr val="121C30"/>
          </a:solidFill>
          <a:ln w="12700">
            <a:solidFill>
              <a:srgbClr val="243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488" y="5486400"/>
            <a:ext cx="2880360" cy="365760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D7DFEA"/>
                </a:solidFill>
                <a:latin typeface="Inter"/>
              </a:rPr>
              <a:t>Yaw rate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84048" y="5897880"/>
            <a:ext cx="3063240" cy="365760"/>
          </a:xfrm>
          <a:prstGeom prst="roundRect">
            <a:avLst>
              <a:gd name="adj" fmla="val 8000"/>
            </a:avLst>
          </a:prstGeom>
          <a:solidFill>
            <a:srgbClr val="121C30"/>
          </a:solidFill>
          <a:ln w="12700">
            <a:solidFill>
              <a:srgbClr val="243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5488" y="5897880"/>
            <a:ext cx="2880360" cy="365760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D7DFEA"/>
                </a:solidFill>
                <a:latin typeface="Inter"/>
              </a:rPr>
              <a:t>Vert. acceleration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703320" y="1371600"/>
            <a:ext cx="4754880" cy="4937760"/>
          </a:xfrm>
          <a:prstGeom prst="roundRect">
            <a:avLst>
              <a:gd name="adj" fmla="val 6000"/>
            </a:avLst>
          </a:prstGeom>
          <a:solidFill>
            <a:srgbClr val="121C30"/>
          </a:solidFill>
          <a:ln w="12700">
            <a:solidFill>
              <a:srgbClr val="243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703320" y="1371600"/>
            <a:ext cx="4754880" cy="41148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886200" y="1554480"/>
            <a:ext cx="4389120" cy="292608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D4E8"/>
                </a:solidFill>
                <a:latin typeface="JetBrains Mono"/>
              </a:rPr>
              <a:t>FLIGHT MODE LOGIC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94760" y="1965960"/>
            <a:ext cx="4480560" cy="411480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D7DFEA"/>
                </a:solidFill>
                <a:latin typeface="Inter"/>
              </a:rPr>
              <a:t>▸  Hover mixer (quad X / H).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D7DFEA"/>
                </a:solidFill>
                <a:latin typeface="Inter"/>
              </a:rPr>
              <a:t>▸  Tilt schedule vs calibrated airspeed.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D7DFEA"/>
                </a:solidFill>
                <a:latin typeface="Inter"/>
              </a:rPr>
              <a:t>▸  Front / rear tilt may use a slight split to manage pitch.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D7DFEA"/>
                </a:solidFill>
                <a:latin typeface="Inter"/>
              </a:rPr>
              <a:t>▸  Collective reduction as wing lift rises.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D7DFEA"/>
                </a:solidFill>
                <a:latin typeface="Inter"/>
              </a:rPr>
              <a:t>▸  Power experiment flag (wing-on / wing-off).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D7DFEA"/>
                </a:solidFill>
                <a:latin typeface="Inter"/>
              </a:rPr>
              <a:t>▸  Failsafe overlay (always on).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D7DFEA"/>
                </a:solidFill>
                <a:latin typeface="Inter"/>
              </a:rPr>
              <a:t>▸  ArduPilot VTOL state machine + ESP32 inhibit.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32520" y="1078992"/>
            <a:ext cx="3108960" cy="256032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5B942"/>
                </a:solidFill>
                <a:latin typeface="JetBrains Mono"/>
              </a:rPr>
              <a:t>OUTPUTS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686800" y="1417320"/>
            <a:ext cx="3108960" cy="1051560"/>
          </a:xfrm>
          <a:prstGeom prst="roundRect">
            <a:avLst>
              <a:gd name="adj" fmla="val 6000"/>
            </a:avLst>
          </a:prstGeom>
          <a:solidFill>
            <a:srgbClr val="121C30"/>
          </a:solidFill>
          <a:ln w="12700">
            <a:solidFill>
              <a:srgbClr val="243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686800" y="1417320"/>
            <a:ext cx="3108960" cy="41148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823960" y="1709928"/>
            <a:ext cx="2834640" cy="45720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Inter"/>
              </a:rPr>
              <a:t>Front tilt command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686800" y="2624328"/>
            <a:ext cx="3108960" cy="1051560"/>
          </a:xfrm>
          <a:prstGeom prst="roundRect">
            <a:avLst>
              <a:gd name="adj" fmla="val 6000"/>
            </a:avLst>
          </a:prstGeom>
          <a:solidFill>
            <a:srgbClr val="121C30"/>
          </a:solidFill>
          <a:ln w="12700">
            <a:solidFill>
              <a:srgbClr val="243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686800" y="2624328"/>
            <a:ext cx="3108960" cy="41148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823960" y="2916936"/>
            <a:ext cx="2834640" cy="45720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Inter"/>
              </a:rPr>
              <a:t>Rear tilt command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686800" y="3831336"/>
            <a:ext cx="3108960" cy="1051560"/>
          </a:xfrm>
          <a:prstGeom prst="roundRect">
            <a:avLst>
              <a:gd name="adj" fmla="val 6000"/>
            </a:avLst>
          </a:prstGeom>
          <a:solidFill>
            <a:srgbClr val="121C30"/>
          </a:solidFill>
          <a:ln w="12700">
            <a:solidFill>
              <a:srgbClr val="243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686800" y="3831336"/>
            <a:ext cx="3108960" cy="41148"/>
          </a:xfrm>
          <a:prstGeom prst="rect">
            <a:avLst/>
          </a:prstGeom>
          <a:solidFill>
            <a:srgbClr val="2EE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823960" y="4123944"/>
            <a:ext cx="2834640" cy="45720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Inter"/>
              </a:rPr>
              <a:t>Motor throttle ×4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686800" y="5038344"/>
            <a:ext cx="3108960" cy="1051560"/>
          </a:xfrm>
          <a:prstGeom prst="roundRect">
            <a:avLst>
              <a:gd name="adj" fmla="val 6000"/>
            </a:avLst>
          </a:prstGeom>
          <a:solidFill>
            <a:srgbClr val="121C30"/>
          </a:solidFill>
          <a:ln w="12700">
            <a:solidFill>
              <a:srgbClr val="243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686800" y="5038344"/>
            <a:ext cx="3108960" cy="41148"/>
          </a:xfrm>
          <a:prstGeom prst="rect">
            <a:avLst/>
          </a:prstGeom>
          <a:solidFill>
            <a:srgbClr val="F5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823960" y="5330952"/>
            <a:ext cx="2834640" cy="45720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Inter"/>
              </a:rPr>
              <a:t>Flight mode logic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11338560" cy="256032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D4E8"/>
                </a:solidFill>
                <a:latin typeface="JetBrains Mono"/>
              </a:rPr>
              <a:t>20  /  SENSORS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47472"/>
            <a:ext cx="11430000" cy="420624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Inter"/>
              </a:rPr>
              <a:t>Sensor Suite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48272"/>
            <a:ext cx="12191999" cy="109728"/>
          </a:xfrm>
          <a:prstGeom prst="rect">
            <a:avLst/>
          </a:prstGeom>
          <a:solidFill>
            <a:srgbClr val="0C17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48272"/>
            <a:ext cx="12191999" cy="13716"/>
          </a:xfrm>
          <a:prstGeom prst="rect">
            <a:avLst/>
          </a:prstGeom>
          <a:solidFill>
            <a:srgbClr val="2434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757416"/>
            <a:ext cx="8412480" cy="91440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C6B82"/>
                </a:solidFill>
                <a:latin typeface="JetBrains Mono"/>
              </a:rPr>
              <a:t>PUSHPAK V1   ·   TILT-ROTOR VTOL DEMONSTRATOR   ·   FINAL YEAR DESIGN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46920" y="6757416"/>
            <a:ext cx="2148840" cy="91440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D4E8"/>
                </a:solidFill>
                <a:latin typeface="JetBrains Mono"/>
              </a:rPr>
              <a:t>21  /  40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" y="1115568"/>
            <a:ext cx="2788920" cy="2468880"/>
          </a:xfrm>
          <a:prstGeom prst="roundRect">
            <a:avLst>
              <a:gd name="adj" fmla="val 6000"/>
            </a:avLst>
          </a:prstGeom>
          <a:solidFill>
            <a:srgbClr val="121C30"/>
          </a:solidFill>
          <a:ln w="12700">
            <a:solidFill>
              <a:srgbClr val="243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4048" y="1115568"/>
            <a:ext cx="2788920" cy="41148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1280160"/>
            <a:ext cx="2514600" cy="292608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D4E8"/>
                </a:solidFill>
                <a:latin typeface="JetBrains Mono"/>
              </a:rPr>
              <a:t>PITOT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1645919"/>
            <a:ext cx="2514600" cy="64008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Inter"/>
              </a:rPr>
              <a:t>Calibrated airspeed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2395728"/>
            <a:ext cx="2514600" cy="96012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7DFEA"/>
                </a:solidFill>
                <a:latin typeface="Inter"/>
              </a:rPr>
              <a:t>Transition gate  ·  CL reconstruction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10128" y="1115568"/>
            <a:ext cx="2788920" cy="2468880"/>
          </a:xfrm>
          <a:prstGeom prst="roundRect">
            <a:avLst>
              <a:gd name="adj" fmla="val 6000"/>
            </a:avLst>
          </a:prstGeom>
          <a:solidFill>
            <a:srgbClr val="121C30"/>
          </a:solidFill>
          <a:ln w="12700">
            <a:solidFill>
              <a:srgbClr val="243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10128" y="1115568"/>
            <a:ext cx="2788920" cy="41148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56432" y="1280160"/>
            <a:ext cx="2514600" cy="292608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D4E8"/>
                </a:solidFill>
                <a:latin typeface="JetBrains Mono"/>
              </a:rPr>
              <a:t>GPS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56432" y="1645919"/>
            <a:ext cx="2514600" cy="64008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Inter"/>
              </a:rPr>
              <a:t>Position / groundspeed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56432" y="2395728"/>
            <a:ext cx="2514600" cy="96012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7DFEA"/>
                </a:solidFill>
                <a:latin typeface="Inter"/>
              </a:rPr>
              <a:t>Geofence  ·  RTL  ·  track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8" y="1115568"/>
            <a:ext cx="2788920" cy="2468880"/>
          </a:xfrm>
          <a:prstGeom prst="roundRect">
            <a:avLst>
              <a:gd name="adj" fmla="val 6000"/>
            </a:avLst>
          </a:prstGeom>
          <a:solidFill>
            <a:srgbClr val="121C30"/>
          </a:solidFill>
          <a:ln w="12700">
            <a:solidFill>
              <a:srgbClr val="243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6208" y="1115568"/>
            <a:ext cx="2788920" cy="41148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82512" y="1280160"/>
            <a:ext cx="2514600" cy="292608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D4E8"/>
                </a:solidFill>
                <a:latin typeface="JetBrains Mono"/>
              </a:rPr>
              <a:t>COMPASS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2512" y="1645919"/>
            <a:ext cx="2514600" cy="64008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Inter"/>
              </a:rPr>
              <a:t>Heading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2512" y="2395728"/>
            <a:ext cx="2514600" cy="96012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7DFEA"/>
                </a:solidFill>
                <a:latin typeface="Inter"/>
              </a:rPr>
              <a:t>Yaw reference in hover &amp; cruise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62288" y="1115568"/>
            <a:ext cx="2788920" cy="2468880"/>
          </a:xfrm>
          <a:prstGeom prst="roundRect">
            <a:avLst>
              <a:gd name="adj" fmla="val 6000"/>
            </a:avLst>
          </a:prstGeom>
          <a:solidFill>
            <a:srgbClr val="121C30"/>
          </a:solidFill>
          <a:ln w="12700">
            <a:solidFill>
              <a:srgbClr val="243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62288" y="1115568"/>
            <a:ext cx="2788920" cy="41148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08592" y="1280160"/>
            <a:ext cx="2514600" cy="292608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D4E8"/>
                </a:solidFill>
                <a:latin typeface="JetBrains Mono"/>
              </a:rPr>
              <a:t>MAG ANGLE ×2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08592" y="1645919"/>
            <a:ext cx="2514600" cy="64008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Inter"/>
              </a:rPr>
              <a:t>Shaft tilt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08592" y="2395728"/>
            <a:ext cx="2514600" cy="96012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7DFEA"/>
                </a:solidFill>
                <a:latin typeface="Inter"/>
              </a:rPr>
              <a:t>Closed-loop tilt  ·  jam detect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4048" y="3767328"/>
            <a:ext cx="2788920" cy="2468880"/>
          </a:xfrm>
          <a:prstGeom prst="roundRect">
            <a:avLst>
              <a:gd name="adj" fmla="val 6000"/>
            </a:avLst>
          </a:prstGeom>
          <a:solidFill>
            <a:srgbClr val="121C30"/>
          </a:solidFill>
          <a:ln w="12700">
            <a:solidFill>
              <a:srgbClr val="243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84048" y="3767328"/>
            <a:ext cx="2788920" cy="41148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0352" y="3931920"/>
            <a:ext cx="2514600" cy="292608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D4E8"/>
                </a:solidFill>
                <a:latin typeface="JetBrains Mono"/>
              </a:rPr>
              <a:t>IMU (FC)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0352" y="4297680"/>
            <a:ext cx="2514600" cy="64008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Inter"/>
              </a:rPr>
              <a:t>Rates + accel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0352" y="5047488"/>
            <a:ext cx="2514600" cy="96012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7DFEA"/>
                </a:solidFill>
                <a:latin typeface="Inter"/>
              </a:rPr>
              <a:t>Att. loop  ·  n_z during transition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310128" y="3767328"/>
            <a:ext cx="2788920" cy="2468880"/>
          </a:xfrm>
          <a:prstGeom prst="roundRect">
            <a:avLst>
              <a:gd name="adj" fmla="val 6000"/>
            </a:avLst>
          </a:prstGeom>
          <a:solidFill>
            <a:srgbClr val="121C30"/>
          </a:solidFill>
          <a:ln w="12700">
            <a:solidFill>
              <a:srgbClr val="243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310128" y="3767328"/>
            <a:ext cx="2788920" cy="41148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456432" y="3931920"/>
            <a:ext cx="2514600" cy="292608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D4E8"/>
                </a:solidFill>
                <a:latin typeface="JetBrains Mono"/>
              </a:rPr>
              <a:t>BARO (FC)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56432" y="4297680"/>
            <a:ext cx="2514600" cy="64008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Inter"/>
              </a:rPr>
              <a:t>Altitude / Vz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56432" y="5047488"/>
            <a:ext cx="2514600" cy="96012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7DFEA"/>
                </a:solidFill>
                <a:latin typeface="Inter"/>
              </a:rPr>
              <a:t>Climb hold in QHOVER / QLOITER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36208" y="3767328"/>
            <a:ext cx="2788920" cy="2468880"/>
          </a:xfrm>
          <a:prstGeom prst="roundRect">
            <a:avLst>
              <a:gd name="adj" fmla="val 6000"/>
            </a:avLst>
          </a:prstGeom>
          <a:solidFill>
            <a:srgbClr val="121C30"/>
          </a:solidFill>
          <a:ln w="12700">
            <a:solidFill>
              <a:srgbClr val="243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36208" y="3767328"/>
            <a:ext cx="2788920" cy="41148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82512" y="3931920"/>
            <a:ext cx="2514600" cy="292608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D4E8"/>
                </a:solidFill>
                <a:latin typeface="JetBrains Mono"/>
              </a:rPr>
              <a:t>V / I BUS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82512" y="4297680"/>
            <a:ext cx="2514600" cy="64008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Inter"/>
              </a:rPr>
              <a:t>Electrical power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82512" y="5047488"/>
            <a:ext cx="2514600" cy="96012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7DFEA"/>
                </a:solidFill>
                <a:latin typeface="Inter"/>
              </a:rPr>
              <a:t>Primary experiment observable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162288" y="3767328"/>
            <a:ext cx="2788920" cy="2468880"/>
          </a:xfrm>
          <a:prstGeom prst="roundRect">
            <a:avLst>
              <a:gd name="adj" fmla="val 6000"/>
            </a:avLst>
          </a:prstGeom>
          <a:solidFill>
            <a:srgbClr val="121C30"/>
          </a:solidFill>
          <a:ln w="12700">
            <a:solidFill>
              <a:srgbClr val="243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162288" y="3767328"/>
            <a:ext cx="2788920" cy="41148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308592" y="3931920"/>
            <a:ext cx="2514600" cy="292608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D4E8"/>
                </a:solidFill>
                <a:latin typeface="JetBrains Mono"/>
              </a:rPr>
              <a:t>I_ACTUATOR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308592" y="4297680"/>
            <a:ext cx="2514600" cy="64008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Inter"/>
              </a:rPr>
              <a:t>Servo / ESC current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08592" y="5047488"/>
            <a:ext cx="2514600" cy="96012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7DFEA"/>
                </a:solidFill>
                <a:latin typeface="Inter"/>
              </a:rPr>
              <a:t>Jam, stall, ESC health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11338560" cy="256032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D4E8"/>
                </a:solidFill>
                <a:latin typeface="JetBrains Mono"/>
              </a:rPr>
              <a:t>21  /  MODES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47472"/>
            <a:ext cx="11430000" cy="420624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Inter"/>
              </a:rPr>
              <a:t>Flight Modes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48272"/>
            <a:ext cx="12191999" cy="109728"/>
          </a:xfrm>
          <a:prstGeom prst="rect">
            <a:avLst/>
          </a:prstGeom>
          <a:solidFill>
            <a:srgbClr val="0C17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48272"/>
            <a:ext cx="12191999" cy="13716"/>
          </a:xfrm>
          <a:prstGeom prst="rect">
            <a:avLst/>
          </a:prstGeom>
          <a:solidFill>
            <a:srgbClr val="2434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757416"/>
            <a:ext cx="8412480" cy="91440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C6B82"/>
                </a:solidFill>
                <a:latin typeface="JetBrains Mono"/>
              </a:rPr>
              <a:t>PUSHPAK V1   ·   TILT-ROTOR VTOL DEMONSTRATOR   ·   FINAL YEAR DESIGN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46920" y="6757416"/>
            <a:ext cx="2148840" cy="91440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D4E8"/>
                </a:solidFill>
                <a:latin typeface="JetBrains Mono"/>
              </a:rPr>
              <a:t>22  /  40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" y="1115568"/>
            <a:ext cx="3639312" cy="2468880"/>
          </a:xfrm>
          <a:prstGeom prst="roundRect">
            <a:avLst>
              <a:gd name="adj" fmla="val 6000"/>
            </a:avLst>
          </a:prstGeom>
          <a:solidFill>
            <a:srgbClr val="121C30"/>
          </a:solidFill>
          <a:ln w="12700">
            <a:solidFill>
              <a:srgbClr val="243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4048" y="1115568"/>
            <a:ext cx="3639312" cy="41148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261872"/>
            <a:ext cx="3291840" cy="256032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D4E8"/>
                </a:solidFill>
                <a:latin typeface="JetBrains Mono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554480"/>
            <a:ext cx="3291840" cy="45720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Inter"/>
              </a:rPr>
              <a:t>QSTABILIZE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167128"/>
            <a:ext cx="3291840" cy="118872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D7DFEA"/>
                </a:solidFill>
                <a:latin typeface="Inter"/>
              </a:rPr>
              <a:t>Manual throttle, attitude stabilize. Tilt locked at 0°. First tether hover.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87952" y="1115568"/>
            <a:ext cx="3639312" cy="2468880"/>
          </a:xfrm>
          <a:prstGeom prst="roundRect">
            <a:avLst>
              <a:gd name="adj" fmla="val 6000"/>
            </a:avLst>
          </a:prstGeom>
          <a:solidFill>
            <a:srgbClr val="121C30"/>
          </a:solidFill>
          <a:ln w="12700">
            <a:solidFill>
              <a:srgbClr val="243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87952" y="1115568"/>
            <a:ext cx="3639312" cy="41148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52544" y="1261872"/>
            <a:ext cx="3291840" cy="256032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D4E8"/>
                </a:solidFill>
                <a:latin typeface="JetBrains Mono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52544" y="1554480"/>
            <a:ext cx="3291840" cy="45720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Inter"/>
              </a:rPr>
              <a:t>QHOVER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52544" y="2167128"/>
            <a:ext cx="3291840" cy="118872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D7DFEA"/>
                </a:solidFill>
                <a:latin typeface="Inter"/>
              </a:rPr>
              <a:t>Alt-hold hover. Used for CG check, tilt-servo health, and pad ops.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91856" y="1115568"/>
            <a:ext cx="3639312" cy="2468880"/>
          </a:xfrm>
          <a:prstGeom prst="roundRect">
            <a:avLst>
              <a:gd name="adj" fmla="val 6000"/>
            </a:avLst>
          </a:prstGeom>
          <a:solidFill>
            <a:srgbClr val="121C30"/>
          </a:solidFill>
          <a:ln w="12700">
            <a:solidFill>
              <a:srgbClr val="243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991856" y="1115568"/>
            <a:ext cx="3639312" cy="41148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56448" y="1261872"/>
            <a:ext cx="3291840" cy="256032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D4E8"/>
                </a:solidFill>
                <a:latin typeface="JetBrains Mono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56448" y="1554480"/>
            <a:ext cx="3291840" cy="45720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Inter"/>
              </a:rPr>
              <a:t>QLOITER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56448" y="2167128"/>
            <a:ext cx="3291840" cy="118872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D7DFEA"/>
                </a:solidFill>
                <a:latin typeface="Inter"/>
              </a:rPr>
              <a:t>Position hold. Precision take-off and landing once GPS is trusted.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4048" y="3767328"/>
            <a:ext cx="3639312" cy="2468880"/>
          </a:xfrm>
          <a:prstGeom prst="roundRect">
            <a:avLst>
              <a:gd name="adj" fmla="val 6000"/>
            </a:avLst>
          </a:prstGeom>
          <a:solidFill>
            <a:srgbClr val="121C30"/>
          </a:solidFill>
          <a:ln w="12700">
            <a:solidFill>
              <a:srgbClr val="243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84048" y="3767328"/>
            <a:ext cx="3639312" cy="41148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3913632"/>
            <a:ext cx="3291840" cy="256032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D4E8"/>
                </a:solidFill>
                <a:latin typeface="JetBrains Mono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206240"/>
            <a:ext cx="3291840" cy="45720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Inter"/>
              </a:rPr>
              <a:t>TRANSITION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818888"/>
            <a:ext cx="3291840" cy="118872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D7DFEA"/>
                </a:solidFill>
                <a:latin typeface="Inter"/>
              </a:rPr>
              <a:t>Airspeed-scheduled tilt 0→75°. Collective reduced as wing unloads rotors.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187952" y="3767328"/>
            <a:ext cx="3639312" cy="2468880"/>
          </a:xfrm>
          <a:prstGeom prst="roundRect">
            <a:avLst>
              <a:gd name="adj" fmla="val 6000"/>
            </a:avLst>
          </a:prstGeom>
          <a:solidFill>
            <a:srgbClr val="121C30"/>
          </a:solidFill>
          <a:ln w="12700">
            <a:solidFill>
              <a:srgbClr val="243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187952" y="3767328"/>
            <a:ext cx="3639312" cy="41148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52544" y="3913632"/>
            <a:ext cx="3291840" cy="256032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D4E8"/>
                </a:solidFill>
                <a:latin typeface="JetBrains Mono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52544" y="4206240"/>
            <a:ext cx="3291840" cy="45720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Inter"/>
              </a:rPr>
              <a:t>FBWA / CRUISE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52544" y="4818888"/>
            <a:ext cx="3291840" cy="118872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D7DFEA"/>
                </a:solidFill>
                <a:latin typeface="Inter"/>
              </a:rPr>
              <a:t>Wing-borne science window. Power logging at 20 m/s. Tilt held at 75°.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991856" y="3767328"/>
            <a:ext cx="3639312" cy="2468880"/>
          </a:xfrm>
          <a:prstGeom prst="roundRect">
            <a:avLst>
              <a:gd name="adj" fmla="val 6000"/>
            </a:avLst>
          </a:prstGeom>
          <a:solidFill>
            <a:srgbClr val="121C30"/>
          </a:solidFill>
          <a:ln w="12700">
            <a:solidFill>
              <a:srgbClr val="243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991856" y="3767328"/>
            <a:ext cx="3639312" cy="41148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56448" y="3913632"/>
            <a:ext cx="3291840" cy="256032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D4E8"/>
                </a:solidFill>
                <a:latin typeface="JetBrains Mono"/>
              </a:rPr>
              <a:t>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56448" y="4206240"/>
            <a:ext cx="3291840" cy="45720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Inter"/>
              </a:rPr>
              <a:t>RTL / QRTL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56448" y="4818888"/>
            <a:ext cx="3291840" cy="118872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D7DFEA"/>
                </a:solidFill>
                <a:latin typeface="Inter"/>
              </a:rPr>
              <a:t>Failsafe home. Tilt back toward hover, then vertical descent on pad.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11338560" cy="256032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D4E8"/>
                </a:solidFill>
                <a:latin typeface="JetBrains Mono"/>
              </a:rPr>
              <a:t>22  /  TRANSITION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47472"/>
            <a:ext cx="11430000" cy="420624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Inter"/>
              </a:rPr>
              <a:t>Transition Strategy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48272"/>
            <a:ext cx="12191999" cy="109728"/>
          </a:xfrm>
          <a:prstGeom prst="rect">
            <a:avLst/>
          </a:prstGeom>
          <a:solidFill>
            <a:srgbClr val="0C17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48272"/>
            <a:ext cx="12191999" cy="13716"/>
          </a:xfrm>
          <a:prstGeom prst="rect">
            <a:avLst/>
          </a:prstGeom>
          <a:solidFill>
            <a:srgbClr val="2434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757416"/>
            <a:ext cx="8412480" cy="91440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C6B82"/>
                </a:solidFill>
                <a:latin typeface="JetBrains Mono"/>
              </a:rPr>
              <a:t>PUSHPAK V1   ·   TILT-ROTOR VTOL DEMONSTRATOR   ·   FINAL YEAR DESIGN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46920" y="6757416"/>
            <a:ext cx="2148840" cy="91440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D4E8"/>
                </a:solidFill>
                <a:latin typeface="JetBrains Mono"/>
              </a:rPr>
              <a:t>23  /  40</a:t>
            </a:r>
          </a:p>
        </p:txBody>
      </p:sp>
      <p:sp>
        <p:nvSpPr>
          <p:cNvPr id="9" name="Chevron 8"/>
          <p:cNvSpPr/>
          <p:nvPr/>
        </p:nvSpPr>
        <p:spPr>
          <a:xfrm>
            <a:off x="384048" y="1115568"/>
            <a:ext cx="1840991" cy="457200"/>
          </a:xfrm>
          <a:prstGeom prst="chevron">
            <a:avLst/>
          </a:prstGeom>
          <a:solidFill>
            <a:srgbClr val="0D3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" y="1115568"/>
            <a:ext cx="1676400" cy="457200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D4E8"/>
                </a:solidFill>
                <a:latin typeface="Inter"/>
              </a:rPr>
              <a:t>Pad hover</a:t>
            </a:r>
          </a:p>
        </p:txBody>
      </p:sp>
      <p:sp>
        <p:nvSpPr>
          <p:cNvPr id="11" name="Chevron 10"/>
          <p:cNvSpPr/>
          <p:nvPr/>
        </p:nvSpPr>
        <p:spPr>
          <a:xfrm>
            <a:off x="2298192" y="1115568"/>
            <a:ext cx="1840991" cy="457200"/>
          </a:xfrm>
          <a:prstGeom prst="chevron">
            <a:avLst/>
          </a:prstGeom>
          <a:solidFill>
            <a:srgbClr val="0D3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53056" y="1115568"/>
            <a:ext cx="1676400" cy="457200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D4E8"/>
                </a:solidFill>
                <a:latin typeface="Inter"/>
              </a:rPr>
              <a:t>Nose into wind</a:t>
            </a:r>
          </a:p>
        </p:txBody>
      </p:sp>
      <p:sp>
        <p:nvSpPr>
          <p:cNvPr id="13" name="Chevron 12"/>
          <p:cNvSpPr/>
          <p:nvPr/>
        </p:nvSpPr>
        <p:spPr>
          <a:xfrm>
            <a:off x="4212336" y="1115568"/>
            <a:ext cx="1840991" cy="457200"/>
          </a:xfrm>
          <a:prstGeom prst="chevron">
            <a:avLst/>
          </a:prstGeom>
          <a:solidFill>
            <a:srgbClr val="0D3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67199" y="1115568"/>
            <a:ext cx="1676400" cy="457200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D4E8"/>
                </a:solidFill>
                <a:latin typeface="Inter"/>
              </a:rPr>
              <a:t>Build V</a:t>
            </a:r>
          </a:p>
        </p:txBody>
      </p:sp>
      <p:sp>
        <p:nvSpPr>
          <p:cNvPr id="15" name="Chevron 14"/>
          <p:cNvSpPr/>
          <p:nvPr/>
        </p:nvSpPr>
        <p:spPr>
          <a:xfrm>
            <a:off x="6126479" y="1115568"/>
            <a:ext cx="1840991" cy="457200"/>
          </a:xfrm>
          <a:prstGeom prst="chevron">
            <a:avLst/>
          </a:prstGeom>
          <a:solidFill>
            <a:srgbClr val="0D3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81343" y="1115568"/>
            <a:ext cx="1676400" cy="457200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D4E8"/>
                </a:solidFill>
                <a:latin typeface="Inter"/>
              </a:rPr>
              <a:t>Tilt ramp</a:t>
            </a:r>
          </a:p>
        </p:txBody>
      </p:sp>
      <p:sp>
        <p:nvSpPr>
          <p:cNvPr id="17" name="Chevron 16"/>
          <p:cNvSpPr/>
          <p:nvPr/>
        </p:nvSpPr>
        <p:spPr>
          <a:xfrm>
            <a:off x="8040624" y="1115568"/>
            <a:ext cx="1840991" cy="457200"/>
          </a:xfrm>
          <a:prstGeom prst="chevron">
            <a:avLst/>
          </a:prstGeom>
          <a:solidFill>
            <a:srgbClr val="0D3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5488" y="1115568"/>
            <a:ext cx="1676400" cy="457200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D4E8"/>
                </a:solidFill>
                <a:latin typeface="Inter"/>
              </a:rPr>
              <a:t>Wing hold</a:t>
            </a:r>
          </a:p>
        </p:txBody>
      </p:sp>
      <p:sp>
        <p:nvSpPr>
          <p:cNvPr id="19" name="Chevron 18"/>
          <p:cNvSpPr/>
          <p:nvPr/>
        </p:nvSpPr>
        <p:spPr>
          <a:xfrm>
            <a:off x="9954768" y="1115568"/>
            <a:ext cx="1840991" cy="457200"/>
          </a:xfrm>
          <a:prstGeom prst="chevron">
            <a:avLst/>
          </a:prstGeom>
          <a:solidFill>
            <a:srgbClr val="0D3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09632" y="1115568"/>
            <a:ext cx="1676400" cy="457200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D4E8"/>
                </a:solidFill>
                <a:latin typeface="Inter"/>
              </a:rPr>
              <a:t>Cruise log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4048" y="1737360"/>
            <a:ext cx="11411712" cy="658368"/>
          </a:xfrm>
          <a:prstGeom prst="roundRect">
            <a:avLst>
              <a:gd name="adj" fmla="val 6000"/>
            </a:avLst>
          </a:prstGeom>
          <a:solidFill>
            <a:srgbClr val="121C30"/>
          </a:solidFill>
          <a:ln w="12700">
            <a:solidFill>
              <a:srgbClr val="243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84048" y="1737360"/>
            <a:ext cx="11411712" cy="41148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" y="1883664"/>
            <a:ext cx="1188720" cy="384048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D4E8"/>
                </a:solidFill>
                <a:latin typeface="JetBrains Mono"/>
              </a:rPr>
              <a:t>T+0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74519" y="1883664"/>
            <a:ext cx="9601200" cy="402336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D7DFEA"/>
                </a:solidFill>
                <a:latin typeface="Inter"/>
              </a:rPr>
              <a:t>QHOVER 1.5–2 m AGL. Confirm mag-angle 0°, bus healthy, pitot alive.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84048" y="2468880"/>
            <a:ext cx="11411712" cy="658368"/>
          </a:xfrm>
          <a:prstGeom prst="roundRect">
            <a:avLst>
              <a:gd name="adj" fmla="val 6000"/>
            </a:avLst>
          </a:prstGeom>
          <a:solidFill>
            <a:srgbClr val="121C30"/>
          </a:solidFill>
          <a:ln w="12700">
            <a:solidFill>
              <a:srgbClr val="243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84048" y="2468880"/>
            <a:ext cx="11411712" cy="41148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0352" y="2615184"/>
            <a:ext cx="1188720" cy="384048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D4E8"/>
                </a:solidFill>
                <a:latin typeface="JetBrains Mono"/>
              </a:rPr>
              <a:t>T+1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74519" y="2615184"/>
            <a:ext cx="9601200" cy="402336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D7DFEA"/>
                </a:solidFill>
                <a:latin typeface="Inter"/>
              </a:rPr>
              <a:t>Command a small positive pitch / forward cyclic. Groundspeed rising, Vz ≈ 0.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4048" y="3200400"/>
            <a:ext cx="11411712" cy="658368"/>
          </a:xfrm>
          <a:prstGeom prst="roundRect">
            <a:avLst>
              <a:gd name="adj" fmla="val 6000"/>
            </a:avLst>
          </a:prstGeom>
          <a:solidFill>
            <a:srgbClr val="121C30"/>
          </a:solidFill>
          <a:ln w="12700">
            <a:solidFill>
              <a:srgbClr val="243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84048" y="3200400"/>
            <a:ext cx="11411712" cy="41148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0352" y="3346704"/>
            <a:ext cx="1188720" cy="384048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D4E8"/>
                </a:solidFill>
                <a:latin typeface="JetBrains Mono"/>
              </a:rPr>
              <a:t>T+2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74519" y="3346704"/>
            <a:ext cx="9601200" cy="402336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D7DFEA"/>
                </a:solidFill>
                <a:latin typeface="Inter"/>
              </a:rPr>
              <a:t>At V1 (to be set in taxi tests, expected 8–12 m/s) start tilt ramp, limited °/s.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84048" y="3931920"/>
            <a:ext cx="11411712" cy="658368"/>
          </a:xfrm>
          <a:prstGeom prst="roundRect">
            <a:avLst>
              <a:gd name="adj" fmla="val 6000"/>
            </a:avLst>
          </a:prstGeom>
          <a:solidFill>
            <a:srgbClr val="121C30"/>
          </a:solidFill>
          <a:ln w="12700">
            <a:solidFill>
              <a:srgbClr val="243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84048" y="3931920"/>
            <a:ext cx="11411712" cy="41148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0352" y="4078224"/>
            <a:ext cx="1188720" cy="384048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D4E8"/>
                </a:solidFill>
                <a:latin typeface="JetBrains Mono"/>
              </a:rPr>
              <a:t>T+3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874519" y="4078224"/>
            <a:ext cx="9601200" cy="402336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D7DFEA"/>
                </a:solidFill>
                <a:latin typeface="Inter"/>
              </a:rPr>
              <a:t>As CL builds, lower collective so that altitude does not balloon.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84048" y="4663440"/>
            <a:ext cx="11411712" cy="658368"/>
          </a:xfrm>
          <a:prstGeom prst="roundRect">
            <a:avLst>
              <a:gd name="adj" fmla="val 6000"/>
            </a:avLst>
          </a:prstGeom>
          <a:solidFill>
            <a:srgbClr val="121C30"/>
          </a:solidFill>
          <a:ln w="12700">
            <a:solidFill>
              <a:srgbClr val="243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84048" y="4663440"/>
            <a:ext cx="11411712" cy="41148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30352" y="4809744"/>
            <a:ext cx="1188720" cy="384048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D4E8"/>
                </a:solidFill>
                <a:latin typeface="JetBrains Mono"/>
              </a:rPr>
              <a:t>T+4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74519" y="4809744"/>
            <a:ext cx="9601200" cy="402336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D7DFEA"/>
                </a:solidFill>
                <a:latin typeface="Inter"/>
              </a:rPr>
              <a:t>Hold 75° once V ≈ 20 m/s and n_z is quiet. Open the power-log window.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84048" y="5394960"/>
            <a:ext cx="11411712" cy="658368"/>
          </a:xfrm>
          <a:prstGeom prst="roundRect">
            <a:avLst>
              <a:gd name="adj" fmla="val 6000"/>
            </a:avLst>
          </a:prstGeom>
          <a:solidFill>
            <a:srgbClr val="121C30"/>
          </a:solidFill>
          <a:ln w="12700">
            <a:solidFill>
              <a:srgbClr val="243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84048" y="5394960"/>
            <a:ext cx="11411712" cy="41148"/>
          </a:xfrm>
          <a:prstGeom prst="rect">
            <a:avLst/>
          </a:prstGeom>
          <a:solidFill>
            <a:srgbClr val="F5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30352" y="5541264"/>
            <a:ext cx="1188720" cy="384048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5B942"/>
                </a:solidFill>
                <a:latin typeface="JetBrains Mono"/>
              </a:rPr>
              <a:t>T+5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874519" y="5541264"/>
            <a:ext cx="9601200" cy="402336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D7DFEA"/>
                </a:solidFill>
                <a:latin typeface="Inter"/>
              </a:rPr>
              <a:t>Abort line: airspeed decay, tilt jam, or Vz &gt; band → reverse tilt, QHOVER.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11338560" cy="256032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D4E8"/>
                </a:solidFill>
                <a:latin typeface="JetBrains Mono"/>
              </a:rPr>
              <a:t>23  /  SAFETY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47472"/>
            <a:ext cx="11430000" cy="420624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Inter"/>
              </a:rPr>
              <a:t>Safety Features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48272"/>
            <a:ext cx="12191999" cy="109728"/>
          </a:xfrm>
          <a:prstGeom prst="rect">
            <a:avLst/>
          </a:prstGeom>
          <a:solidFill>
            <a:srgbClr val="0C17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48272"/>
            <a:ext cx="12191999" cy="13716"/>
          </a:xfrm>
          <a:prstGeom prst="rect">
            <a:avLst/>
          </a:prstGeom>
          <a:solidFill>
            <a:srgbClr val="2434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757416"/>
            <a:ext cx="8412480" cy="91440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C6B82"/>
                </a:solidFill>
                <a:latin typeface="JetBrains Mono"/>
              </a:rPr>
              <a:t>PUSHPAK V1   ·   TILT-ROTOR VTOL DEMONSTRATOR   ·   FINAL YEAR DESIGN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46920" y="6757416"/>
            <a:ext cx="2148840" cy="91440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D4E8"/>
                </a:solidFill>
                <a:latin typeface="JetBrains Mono"/>
              </a:rPr>
              <a:t>24  /  40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84048" y="1078992"/>
          <a:ext cx="11411712" cy="544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03904"/>
                <a:gridCol w="3803904"/>
                <a:gridCol w="3803904"/>
              </a:tblGrid>
              <a:tr h="494607">
                <a:tc>
                  <a:txBody>
                    <a:bodyPr lIns="73152" rIns="54864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00D4E8"/>
                          </a:solidFill>
                          <a:latin typeface="JetBrains Mono"/>
                        </a:rPr>
                        <a:t>Layer</a:t>
                      </a:r>
                    </a:p>
                  </a:txBody>
                  <a:tcPr anchor="ctr">
                    <a:solidFill>
                      <a:srgbClr val="0D3C4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00D4E8"/>
                          </a:solidFill>
                          <a:latin typeface="JetBrains Mono"/>
                        </a:rPr>
                        <a:t>Feature</a:t>
                      </a:r>
                    </a:p>
                  </a:txBody>
                  <a:tcPr anchor="ctr">
                    <a:solidFill>
                      <a:srgbClr val="0D3C4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00D4E8"/>
                          </a:solidFill>
                          <a:latin typeface="JetBrains Mono"/>
                        </a:rPr>
                        <a:t>Intent</a:t>
                      </a:r>
                    </a:p>
                  </a:txBody>
                  <a:tcPr anchor="ctr">
                    <a:solidFill>
                      <a:srgbClr val="0D3C4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</a:tr>
              <a:tr h="494607">
                <a:tc>
                  <a:txBody>
                    <a:bodyPr lIns="73152" rIns="54864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D7DFEA"/>
                          </a:solidFill>
                          <a:latin typeface="Inter"/>
                        </a:rPr>
                        <a:t>Mechanical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D7DFEA"/>
                          </a:solidFill>
                          <a:latin typeface="JetBrains Mono"/>
                        </a:rPr>
                        <a:t>Hard stops at 0° and 75°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D7DFEA"/>
                          </a:solidFill>
                          <a:latin typeface="JetBrains Mono"/>
                        </a:rPr>
                        <a:t>Blade / wing collision impossible via software fault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</a:tr>
              <a:tr h="494607">
                <a:tc>
                  <a:txBody>
                    <a:bodyPr lIns="73152" rIns="54864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D7DFEA"/>
                          </a:solidFill>
                          <a:latin typeface="Inter"/>
                        </a:rPr>
                        <a:t>Mechanical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D7DFEA"/>
                          </a:solidFill>
                          <a:latin typeface="JetBrains Mono"/>
                        </a:rPr>
                        <a:t>Shaft bearings carry rotor loads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D7DFEA"/>
                          </a:solidFill>
                          <a:latin typeface="JetBrains Mono"/>
                        </a:rPr>
                        <a:t>Servo is a commander, not a structure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</a:tr>
              <a:tr h="494607">
                <a:tc>
                  <a:txBody>
                    <a:bodyPr lIns="73152" rIns="54864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D7DFEA"/>
                          </a:solidFill>
                          <a:latin typeface="Inter"/>
                        </a:rPr>
                        <a:t>Sense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D7DFEA"/>
                          </a:solidFill>
                          <a:latin typeface="JetBrains Mono"/>
                        </a:rPr>
                        <a:t>Dual mag-angle disagreement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D7DFEA"/>
                          </a:solidFill>
                          <a:latin typeface="JetBrains Mono"/>
                        </a:rPr>
                        <a:t>Inhibit further tilt; hold last safe angle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</a:tr>
              <a:tr h="494607">
                <a:tc>
                  <a:txBody>
                    <a:bodyPr lIns="73152" rIns="54864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D7DFEA"/>
                          </a:solidFill>
                          <a:latin typeface="Inter"/>
                        </a:rPr>
                        <a:t>Sense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D7DFEA"/>
                          </a:solidFill>
                          <a:latin typeface="JetBrains Mono"/>
                        </a:rPr>
                        <a:t>Pitot fail detect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D7DFEA"/>
                          </a:solidFill>
                          <a:latin typeface="JetBrains Mono"/>
                        </a:rPr>
                        <a:t>Inhibit transition; remain in VTOL modes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</a:tr>
              <a:tr h="494607">
                <a:tc>
                  <a:txBody>
                    <a:bodyPr lIns="73152" rIns="54864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D7DFEA"/>
                          </a:solidFill>
                          <a:latin typeface="Inter"/>
                        </a:rPr>
                        <a:t>Electrical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D7DFEA"/>
                          </a:solidFill>
                          <a:latin typeface="JetBrains Mono"/>
                        </a:rPr>
                        <a:t>Bus undervoltage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D7DFEA"/>
                          </a:solidFill>
                          <a:latin typeface="JetBrains Mono"/>
                        </a:rPr>
                        <a:t>QRTL / land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</a:tr>
              <a:tr h="494607">
                <a:tc>
                  <a:txBody>
                    <a:bodyPr lIns="73152" rIns="54864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D7DFEA"/>
                          </a:solidFill>
                          <a:latin typeface="Inter"/>
                        </a:rPr>
                        <a:t>Electrical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D7DFEA"/>
                          </a:solidFill>
                          <a:latin typeface="JetBrains Mono"/>
                        </a:rPr>
                        <a:t>Actuator overcurrent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D7DFEA"/>
                          </a:solidFill>
                          <a:latin typeface="JetBrains Mono"/>
                        </a:rPr>
                        <a:t>Freeze tilt; alert GCS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</a:tr>
              <a:tr h="494607">
                <a:tc>
                  <a:txBody>
                    <a:bodyPr lIns="73152" rIns="54864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D7DFEA"/>
                          </a:solidFill>
                          <a:latin typeface="Inter"/>
                        </a:rPr>
                        <a:t>FC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D7DFEA"/>
                          </a:solidFill>
                          <a:latin typeface="JetBrains Mono"/>
                        </a:rPr>
                        <a:t>Lost GCS / geofence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D7DFEA"/>
                          </a:solidFill>
                          <a:latin typeface="JetBrains Mono"/>
                        </a:rPr>
                        <a:t>QRTL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</a:tr>
              <a:tr h="494607">
                <a:tc>
                  <a:txBody>
                    <a:bodyPr lIns="73152" rIns="54864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D7DFEA"/>
                          </a:solidFill>
                          <a:latin typeface="Inter"/>
                        </a:rPr>
                        <a:t>FC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D7DFEA"/>
                          </a:solidFill>
                          <a:latin typeface="JetBrains Mono"/>
                        </a:rPr>
                        <a:t>Companion watchdog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D7DFEA"/>
                          </a:solidFill>
                          <a:latin typeface="JetBrains Mono"/>
                        </a:rPr>
                        <a:t>ESP32 death does not kill motors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</a:tr>
              <a:tr h="494607">
                <a:tc>
                  <a:txBody>
                    <a:bodyPr lIns="73152" rIns="54864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D7DFEA"/>
                          </a:solidFill>
                          <a:latin typeface="Inter"/>
                        </a:rPr>
                        <a:t>Ops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D7DFEA"/>
                          </a:solidFill>
                          <a:latin typeface="JetBrains Mono"/>
                        </a:rPr>
                        <a:t>Tethered first hover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D7DFEA"/>
                          </a:solidFill>
                          <a:latin typeface="JetBrains Mono"/>
                        </a:rPr>
                        <a:t>Contain first-flight energy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</a:tr>
              <a:tr h="494610">
                <a:tc>
                  <a:txBody>
                    <a:bodyPr lIns="73152" rIns="54864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D7DFEA"/>
                          </a:solidFill>
                          <a:latin typeface="Inter"/>
                        </a:rPr>
                        <a:t>Ops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D7DFEA"/>
                          </a:solidFill>
                          <a:latin typeface="JetBrains Mono"/>
                        </a:rPr>
                        <a:t>Prop clearance 50–75 mm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D7DFEA"/>
                          </a:solidFill>
                          <a:latin typeface="JetBrains Mono"/>
                        </a:rPr>
                        <a:t>Flex and downwash margin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11338560" cy="256032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D4E8"/>
                </a:solidFill>
                <a:latin typeface="JetBrains Mono"/>
              </a:rPr>
              <a:t>24  /  MASS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47472"/>
            <a:ext cx="11430000" cy="420624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Inter"/>
              </a:rPr>
              <a:t>Mass Budget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48272"/>
            <a:ext cx="12191999" cy="109728"/>
          </a:xfrm>
          <a:prstGeom prst="rect">
            <a:avLst/>
          </a:prstGeom>
          <a:solidFill>
            <a:srgbClr val="0C17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48272"/>
            <a:ext cx="12191999" cy="13716"/>
          </a:xfrm>
          <a:prstGeom prst="rect">
            <a:avLst/>
          </a:prstGeom>
          <a:solidFill>
            <a:srgbClr val="2434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757416"/>
            <a:ext cx="8412480" cy="91440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C6B82"/>
                </a:solidFill>
                <a:latin typeface="JetBrains Mono"/>
              </a:rPr>
              <a:t>PUSHPAK V1   ·   TILT-ROTOR VTOL DEMONSTRATOR   ·   FINAL YEAR DESIGN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46920" y="6757416"/>
            <a:ext cx="2148840" cy="91440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D4E8"/>
                </a:solidFill>
                <a:latin typeface="JetBrains Mono"/>
              </a:rPr>
              <a:t>25  /  40</a:t>
            </a:r>
          </a:p>
        </p:txBody>
      </p:sp>
      <p:pic>
        <p:nvPicPr>
          <p:cNvPr id="9" name="Picture 8" descr="mass_bud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78992"/>
            <a:ext cx="6675120" cy="4160520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040880" y="1078992"/>
          <a:ext cx="4754880" cy="544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377440"/>
              </a:tblGrid>
              <a:tr h="418513">
                <a:tc>
                  <a:txBody>
                    <a:bodyPr lIns="73152" rIns="54864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00D4E8"/>
                          </a:solidFill>
                          <a:latin typeface="JetBrains Mono"/>
                        </a:rPr>
                        <a:t>Group</a:t>
                      </a:r>
                    </a:p>
                  </a:txBody>
                  <a:tcPr anchor="ctr">
                    <a:solidFill>
                      <a:srgbClr val="0D3C4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00D4E8"/>
                          </a:solidFill>
                          <a:latin typeface="JetBrains Mono"/>
                        </a:rPr>
                        <a:t>Mass (kg)</a:t>
                      </a:r>
                    </a:p>
                  </a:txBody>
                  <a:tcPr anchor="ctr">
                    <a:solidFill>
                      <a:srgbClr val="0D3C4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</a:tr>
              <a:tr h="418513">
                <a:tc>
                  <a:txBody>
                    <a:bodyPr lIns="73152" rIns="54864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Inter"/>
                        </a:rPr>
                        <a:t>Payload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JetBrains Mono"/>
                        </a:rPr>
                        <a:t>1.00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</a:tr>
              <a:tr h="418513">
                <a:tc>
                  <a:txBody>
                    <a:bodyPr lIns="73152" rIns="54864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Inter"/>
                        </a:rPr>
                        <a:t>Motors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JetBrains Mono"/>
                        </a:rPr>
                        <a:t>0.80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</a:tr>
              <a:tr h="418513">
                <a:tc>
                  <a:txBody>
                    <a:bodyPr lIns="73152" rIns="54864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Inter"/>
                        </a:rPr>
                        <a:t>ESCs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JetBrains Mono"/>
                        </a:rPr>
                        <a:t>0.25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</a:tr>
              <a:tr h="418513">
                <a:tc>
                  <a:txBody>
                    <a:bodyPr lIns="73152" rIns="54864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Inter"/>
                        </a:rPr>
                        <a:t>Battery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JetBrains Mono"/>
                        </a:rPr>
                        <a:t>1.0–1.5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</a:tr>
              <a:tr h="418513">
                <a:tc>
                  <a:txBody>
                    <a:bodyPr lIns="73152" rIns="54864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Inter"/>
                        </a:rPr>
                        <a:t>Tilt system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JetBrains Mono"/>
                        </a:rPr>
                        <a:t>0.30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</a:tr>
              <a:tr h="418513">
                <a:tc>
                  <a:txBody>
                    <a:bodyPr lIns="73152" rIns="54864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Inter"/>
                        </a:rPr>
                        <a:t>Wing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JetBrains Mono"/>
                        </a:rPr>
                        <a:t>0.30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</a:tr>
              <a:tr h="418513">
                <a:tc>
                  <a:txBody>
                    <a:bodyPr lIns="73152" rIns="54864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Inter"/>
                        </a:rPr>
                        <a:t>Fuselage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JetBrains Mono"/>
                        </a:rPr>
                        <a:t>0.40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</a:tr>
              <a:tr h="418513">
                <a:tc>
                  <a:txBody>
                    <a:bodyPr lIns="73152" rIns="54864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Inter"/>
                        </a:rPr>
                        <a:t>Electronics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JetBrains Mono"/>
                        </a:rPr>
                        <a:t>0.20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</a:tr>
              <a:tr h="418513">
                <a:tc>
                  <a:txBody>
                    <a:bodyPr lIns="73152" rIns="54864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Inter"/>
                        </a:rPr>
                        <a:t>Landing gear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JetBrains Mono"/>
                        </a:rPr>
                        <a:t>0.15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</a:tr>
              <a:tr h="418513">
                <a:tc>
                  <a:txBody>
                    <a:bodyPr lIns="73152" rIns="54864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Inter"/>
                        </a:rPr>
                        <a:t>Estimated MTOW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JetBrains Mono"/>
                        </a:rPr>
                        <a:t>4.4–4.9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</a:tr>
              <a:tr h="418513">
                <a:tc>
                  <a:txBody>
                    <a:bodyPr lIns="73152" rIns="54864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Inter"/>
                        </a:rPr>
                        <a:t>Empty target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JetBrains Mono"/>
                        </a:rPr>
                        <a:t>≤ 3.50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</a:tr>
              <a:tr h="418524">
                <a:tc>
                  <a:txBody>
                    <a:bodyPr lIns="73152" rIns="54864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Inter"/>
                        </a:rPr>
                        <a:t>Design point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JetBrains Mono"/>
                        </a:rPr>
                        <a:t>4.50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11338560" cy="256032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D4E8"/>
                </a:solidFill>
                <a:latin typeface="JetBrains Mono"/>
              </a:rPr>
              <a:t>25  /  BOM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47472"/>
            <a:ext cx="11430000" cy="420624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Inter"/>
              </a:rPr>
              <a:t>Component Selection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749808"/>
            <a:ext cx="11338560" cy="256032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A97AD"/>
                </a:solidFill>
                <a:latin typeface="Inter"/>
              </a:rPr>
              <a:t>Propulsion  ·  tilt  ·  flight control  ·  electronics  ·  battery  ·  airframe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48272"/>
            <a:ext cx="12191999" cy="109728"/>
          </a:xfrm>
          <a:prstGeom prst="rect">
            <a:avLst/>
          </a:prstGeom>
          <a:solidFill>
            <a:srgbClr val="0C17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91999" cy="13716"/>
          </a:xfrm>
          <a:prstGeom prst="rect">
            <a:avLst/>
          </a:prstGeom>
          <a:solidFill>
            <a:srgbClr val="2434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757416"/>
            <a:ext cx="8412480" cy="91440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C6B82"/>
                </a:solidFill>
                <a:latin typeface="JetBrains Mono"/>
              </a:rPr>
              <a:t>PUSHPAK V1   ·   TILT-ROTOR VTOL DEMONSTRATOR   ·   FINAL YEAR DESIGN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46920" y="6757416"/>
            <a:ext cx="2148840" cy="91440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D4E8"/>
                </a:solidFill>
                <a:latin typeface="JetBrains Mono"/>
              </a:rPr>
              <a:t>26  /  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1078992"/>
            <a:ext cx="3566160" cy="219456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D4E8"/>
                </a:solidFill>
                <a:latin typeface="JetBrains Mono"/>
              </a:rPr>
              <a:t>PROPULSION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84048" y="1316736"/>
          <a:ext cx="3566160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188720"/>
                <a:gridCol w="1188720"/>
              </a:tblGrid>
              <a:tr h="560070">
                <a:tc>
                  <a:txBody>
                    <a:bodyPr lIns="73152" rIns="54864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00D4E8"/>
                          </a:solidFill>
                          <a:latin typeface="JetBrains Mono"/>
                        </a:rPr>
                        <a:t>Item</a:t>
                      </a:r>
                    </a:p>
                  </a:txBody>
                  <a:tcPr anchor="ctr">
                    <a:solidFill>
                      <a:srgbClr val="0D3C4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00D4E8"/>
                          </a:solidFill>
                          <a:latin typeface="JetBrains Mono"/>
                        </a:rPr>
                        <a:t>Spec</a:t>
                      </a:r>
                    </a:p>
                  </a:txBody>
                  <a:tcPr anchor="ctr">
                    <a:solidFill>
                      <a:srgbClr val="0D3C4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00D4E8"/>
                          </a:solidFill>
                          <a:latin typeface="JetBrains Mono"/>
                        </a:rPr>
                        <a:t>Qty</a:t>
                      </a:r>
                    </a:p>
                  </a:txBody>
                  <a:tcPr anchor="ctr">
                    <a:solidFill>
                      <a:srgbClr val="0D3C4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</a:tr>
              <a:tr h="560070">
                <a:tc>
                  <a:txBody>
                    <a:bodyPr lIns="73152" rIns="54864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D7DFEA"/>
                          </a:solidFill>
                          <a:latin typeface="Inter"/>
                        </a:rPr>
                        <a:t>Motor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D7DFEA"/>
                          </a:solidFill>
                          <a:latin typeface="JetBrains Mono"/>
                        </a:rPr>
                        <a:t>HGLRC MY4215 400KV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D7DFEA"/>
                          </a:solidFill>
                          <a:latin typeface="JetBrains Mono"/>
                        </a:rPr>
                        <a:t>4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</a:tr>
              <a:tr h="560070">
                <a:tc>
                  <a:txBody>
                    <a:bodyPr lIns="73152" rIns="54864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D7DFEA"/>
                          </a:solidFill>
                          <a:latin typeface="Inter"/>
                        </a:rPr>
                        <a:t>Propeller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D7DFEA"/>
                          </a:solidFill>
                          <a:latin typeface="JetBrains Mono"/>
                        </a:rPr>
                        <a:t>16-inch class / 406 mm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D7DFEA"/>
                          </a:solidFill>
                          <a:latin typeface="JetBrains Mono"/>
                        </a:rPr>
                        <a:t>4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</a:tr>
              <a:tr h="560070">
                <a:tc>
                  <a:txBody>
                    <a:bodyPr lIns="73152" rIns="54864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D7DFEA"/>
                          </a:solidFill>
                          <a:latin typeface="Inter"/>
                        </a:rPr>
                        <a:t>ESC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D7DFEA"/>
                          </a:solidFill>
                          <a:latin typeface="JetBrains Mono"/>
                        </a:rPr>
                        <a:t>6S, 0.25 kg set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D7DFEA"/>
                          </a:solidFill>
                          <a:latin typeface="JetBrains Mono"/>
                        </a:rPr>
                        <a:t>4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4160520" y="1078992"/>
            <a:ext cx="3566160" cy="219456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D4E8"/>
                </a:solidFill>
                <a:latin typeface="JetBrains Mono"/>
              </a:rPr>
              <a:t>TILT MECHANISM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160520" y="1316736"/>
          <a:ext cx="3566160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188720"/>
                <a:gridCol w="1188720"/>
              </a:tblGrid>
              <a:tr h="560070">
                <a:tc>
                  <a:txBody>
                    <a:bodyPr lIns="73152" rIns="54864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00D4E8"/>
                          </a:solidFill>
                          <a:latin typeface="JetBrains Mono"/>
                        </a:rPr>
                        <a:t>Item</a:t>
                      </a:r>
                    </a:p>
                  </a:txBody>
                  <a:tcPr anchor="ctr">
                    <a:solidFill>
                      <a:srgbClr val="0D3C4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00D4E8"/>
                          </a:solidFill>
                          <a:latin typeface="JetBrains Mono"/>
                        </a:rPr>
                        <a:t>Spec</a:t>
                      </a:r>
                    </a:p>
                  </a:txBody>
                  <a:tcPr anchor="ctr">
                    <a:solidFill>
                      <a:srgbClr val="0D3C4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00D4E8"/>
                          </a:solidFill>
                          <a:latin typeface="JetBrains Mono"/>
                        </a:rPr>
                        <a:t>Qty</a:t>
                      </a:r>
                    </a:p>
                  </a:txBody>
                  <a:tcPr anchor="ctr">
                    <a:solidFill>
                      <a:srgbClr val="0D3C4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</a:tr>
              <a:tr h="560070">
                <a:tc>
                  <a:txBody>
                    <a:bodyPr lIns="73152" rIns="54864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D7DFEA"/>
                          </a:solidFill>
                          <a:latin typeface="Inter"/>
                        </a:rPr>
                        <a:t>Servo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D7DFEA"/>
                          </a:solidFill>
                          <a:latin typeface="JetBrains Mono"/>
                        </a:rPr>
                        <a:t>STS3215-C018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D7DFEA"/>
                          </a:solidFill>
                          <a:latin typeface="JetBrains Mono"/>
                        </a:rPr>
                        <a:t>2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</a:tr>
              <a:tr h="560070">
                <a:tc>
                  <a:txBody>
                    <a:bodyPr lIns="73152" rIns="54864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D7DFEA"/>
                          </a:solidFill>
                          <a:latin typeface="Inter"/>
                        </a:rPr>
                        <a:t>Tilt shaft + mounts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D7DFEA"/>
                          </a:solidFill>
                          <a:latin typeface="JetBrains Mono"/>
                        </a:rPr>
                        <a:t>Front / rear axis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D7DFEA"/>
                          </a:solidFill>
                          <a:latin typeface="JetBrains Mono"/>
                        </a:rPr>
                        <a:t>2+4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</a:tr>
              <a:tr h="560070">
                <a:tc>
                  <a:txBody>
                    <a:bodyPr lIns="73152" rIns="54864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D7DFEA"/>
                          </a:solidFill>
                          <a:latin typeface="Inter"/>
                        </a:rPr>
                        <a:t>Bearings / stops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D7DFEA"/>
                          </a:solidFill>
                          <a:latin typeface="JetBrains Mono"/>
                        </a:rPr>
                        <a:t>4 per axis + hard stops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D7DFEA"/>
                          </a:solidFill>
                          <a:latin typeface="JetBrains Mono"/>
                        </a:rPr>
                        <a:t>8+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7936992" y="1078992"/>
            <a:ext cx="3566160" cy="219456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D4E8"/>
                </a:solidFill>
                <a:latin typeface="JetBrains Mono"/>
              </a:rPr>
              <a:t>FLIGHT CONTROL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7936992" y="1316736"/>
          <a:ext cx="3566160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188720"/>
                <a:gridCol w="1188720"/>
              </a:tblGrid>
              <a:tr h="560070">
                <a:tc>
                  <a:txBody>
                    <a:bodyPr lIns="73152" rIns="54864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00D4E8"/>
                          </a:solidFill>
                          <a:latin typeface="JetBrains Mono"/>
                        </a:rPr>
                        <a:t>Item</a:t>
                      </a:r>
                    </a:p>
                  </a:txBody>
                  <a:tcPr anchor="ctr">
                    <a:solidFill>
                      <a:srgbClr val="0D3C4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00D4E8"/>
                          </a:solidFill>
                          <a:latin typeface="JetBrains Mono"/>
                        </a:rPr>
                        <a:t>Spec</a:t>
                      </a:r>
                    </a:p>
                  </a:txBody>
                  <a:tcPr anchor="ctr">
                    <a:solidFill>
                      <a:srgbClr val="0D3C4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00D4E8"/>
                          </a:solidFill>
                          <a:latin typeface="JetBrains Mono"/>
                        </a:rPr>
                        <a:t>Qty</a:t>
                      </a:r>
                    </a:p>
                  </a:txBody>
                  <a:tcPr anchor="ctr">
                    <a:solidFill>
                      <a:srgbClr val="0D3C4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</a:tr>
              <a:tr h="560070">
                <a:tc>
                  <a:txBody>
                    <a:bodyPr lIns="73152" rIns="54864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D7DFEA"/>
                          </a:solidFill>
                          <a:latin typeface="Inter"/>
                        </a:rPr>
                        <a:t>FC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D7DFEA"/>
                          </a:solidFill>
                          <a:latin typeface="JetBrains Mono"/>
                        </a:rPr>
                        <a:t>Pixhawk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D7DFEA"/>
                          </a:solidFill>
                          <a:latin typeface="JetBrains Mono"/>
                        </a:rPr>
                        <a:t>1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</a:tr>
              <a:tr h="560070">
                <a:tc>
                  <a:txBody>
                    <a:bodyPr lIns="73152" rIns="54864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D7DFEA"/>
                          </a:solidFill>
                          <a:latin typeface="Inter"/>
                        </a:rPr>
                        <a:t>Stack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D7DFEA"/>
                          </a:solidFill>
                          <a:latin typeface="JetBrains Mono"/>
                        </a:rPr>
                        <a:t>ArduPilot VTOL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D7DFEA"/>
                          </a:solidFill>
                          <a:latin typeface="JetBrains Mono"/>
                        </a:rPr>
                        <a:t>1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</a:tr>
              <a:tr h="560070">
                <a:tc>
                  <a:txBody>
                    <a:bodyPr lIns="73152" rIns="54864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D7DFEA"/>
                          </a:solidFill>
                          <a:latin typeface="Inter"/>
                        </a:rPr>
                        <a:t>Companion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D7DFEA"/>
                          </a:solidFill>
                          <a:latin typeface="JetBrains Mono"/>
                        </a:rPr>
                        <a:t>ESP32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D7DFEA"/>
                          </a:solidFill>
                          <a:latin typeface="JetBrains Mono"/>
                        </a:rPr>
                        <a:t>1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384048" y="3840480"/>
            <a:ext cx="3566160" cy="219456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D4E8"/>
                </a:solidFill>
                <a:latin typeface="JetBrains Mono"/>
              </a:rPr>
              <a:t>ELECTRONICS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84048" y="4078224"/>
          <a:ext cx="3566160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188720"/>
                <a:gridCol w="1188720"/>
              </a:tblGrid>
              <a:tr h="560070">
                <a:tc>
                  <a:txBody>
                    <a:bodyPr lIns="73152" rIns="54864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00D4E8"/>
                          </a:solidFill>
                          <a:latin typeface="JetBrains Mono"/>
                        </a:rPr>
                        <a:t>Item</a:t>
                      </a:r>
                    </a:p>
                  </a:txBody>
                  <a:tcPr anchor="ctr">
                    <a:solidFill>
                      <a:srgbClr val="0D3C4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00D4E8"/>
                          </a:solidFill>
                          <a:latin typeface="JetBrains Mono"/>
                        </a:rPr>
                        <a:t>Spec</a:t>
                      </a:r>
                    </a:p>
                  </a:txBody>
                  <a:tcPr anchor="ctr">
                    <a:solidFill>
                      <a:srgbClr val="0D3C4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00D4E8"/>
                          </a:solidFill>
                          <a:latin typeface="JetBrains Mono"/>
                        </a:rPr>
                        <a:t>Qty</a:t>
                      </a:r>
                    </a:p>
                  </a:txBody>
                  <a:tcPr anchor="ctr">
                    <a:solidFill>
                      <a:srgbClr val="0D3C4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</a:tr>
              <a:tr h="560070">
                <a:tc>
                  <a:txBody>
                    <a:bodyPr lIns="73152" rIns="54864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D7DFEA"/>
                          </a:solidFill>
                          <a:latin typeface="Inter"/>
                        </a:rPr>
                        <a:t>Airspeed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D7DFEA"/>
                          </a:solidFill>
                          <a:latin typeface="JetBrains Mono"/>
                        </a:rPr>
                        <a:t>Pitot probe + sensor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D7DFEA"/>
                          </a:solidFill>
                          <a:latin typeface="JetBrains Mono"/>
                        </a:rPr>
                        <a:t>1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</a:tr>
              <a:tr h="560070">
                <a:tc>
                  <a:txBody>
                    <a:bodyPr lIns="73152" rIns="54864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D7DFEA"/>
                          </a:solidFill>
                          <a:latin typeface="Inter"/>
                        </a:rPr>
                        <a:t>Nav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D7DFEA"/>
                          </a:solidFill>
                          <a:latin typeface="JetBrains Mono"/>
                        </a:rPr>
                        <a:t>GPS + compass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D7DFEA"/>
                          </a:solidFill>
                          <a:latin typeface="JetBrains Mono"/>
                        </a:rPr>
                        <a:t>1+1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</a:tr>
              <a:tr h="560070">
                <a:tc>
                  <a:txBody>
                    <a:bodyPr lIns="73152" rIns="54864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D7DFEA"/>
                          </a:solidFill>
                          <a:latin typeface="Inter"/>
                        </a:rPr>
                        <a:t>Tilt sense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D7DFEA"/>
                          </a:solidFill>
                          <a:latin typeface="JetBrains Mono"/>
                        </a:rPr>
                        <a:t>Abs. magnetic angle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D7DFEA"/>
                          </a:solidFill>
                          <a:latin typeface="JetBrains Mono"/>
                        </a:rPr>
                        <a:t>2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4160520" y="3840480"/>
            <a:ext cx="3566160" cy="219456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D4E8"/>
                </a:solidFill>
                <a:latin typeface="JetBrains Mono"/>
              </a:rPr>
              <a:t>BATTERY SYSTEM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4160520" y="4078224"/>
          <a:ext cx="3566160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188720"/>
                <a:gridCol w="1188720"/>
              </a:tblGrid>
              <a:tr h="560070">
                <a:tc>
                  <a:txBody>
                    <a:bodyPr lIns="73152" rIns="54864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00D4E8"/>
                          </a:solidFill>
                          <a:latin typeface="JetBrains Mono"/>
                        </a:rPr>
                        <a:t>Item</a:t>
                      </a:r>
                    </a:p>
                  </a:txBody>
                  <a:tcPr anchor="ctr">
                    <a:solidFill>
                      <a:srgbClr val="0D3C4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00D4E8"/>
                          </a:solidFill>
                          <a:latin typeface="JetBrains Mono"/>
                        </a:rPr>
                        <a:t>Spec</a:t>
                      </a:r>
                    </a:p>
                  </a:txBody>
                  <a:tcPr anchor="ctr">
                    <a:solidFill>
                      <a:srgbClr val="0D3C4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00D4E8"/>
                          </a:solidFill>
                          <a:latin typeface="JetBrains Mono"/>
                        </a:rPr>
                        <a:t>Qty</a:t>
                      </a:r>
                    </a:p>
                  </a:txBody>
                  <a:tcPr anchor="ctr">
                    <a:solidFill>
                      <a:srgbClr val="0D3C4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</a:tr>
              <a:tr h="560070">
                <a:tc>
                  <a:txBody>
                    <a:bodyPr lIns="73152" rIns="54864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D7DFEA"/>
                          </a:solidFill>
                          <a:latin typeface="Inter"/>
                        </a:rPr>
                        <a:t>Pack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D7DFEA"/>
                          </a:solidFill>
                          <a:latin typeface="JetBrains Mono"/>
                        </a:rPr>
                        <a:t>6S Li-ion ~20 Ah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D7DFEA"/>
                          </a:solidFill>
                          <a:latin typeface="JetBrains Mono"/>
                        </a:rPr>
                        <a:t>1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</a:tr>
              <a:tr h="560070">
                <a:tc>
                  <a:txBody>
                    <a:bodyPr lIns="73152" rIns="54864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D7DFEA"/>
                          </a:solidFill>
                          <a:latin typeface="Inter"/>
                        </a:rPr>
                        <a:t>Sense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D7DFEA"/>
                          </a:solidFill>
                          <a:latin typeface="JetBrains Mono"/>
                        </a:rPr>
                        <a:t>Bus V and I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D7DFEA"/>
                          </a:solidFill>
                          <a:latin typeface="JetBrains Mono"/>
                        </a:rPr>
                        <a:t>1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</a:tr>
              <a:tr h="560070">
                <a:tc>
                  <a:txBody>
                    <a:bodyPr lIns="73152" rIns="54864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D7DFEA"/>
                          </a:solidFill>
                          <a:latin typeface="Inter"/>
                        </a:rPr>
                        <a:t>Mass alloc.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D7DFEA"/>
                          </a:solidFill>
                          <a:latin typeface="JetBrains Mono"/>
                        </a:rPr>
                        <a:t>1.0–1.5 kg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D7DFEA"/>
                          </a:solidFill>
                          <a:latin typeface="JetBrains Mono"/>
                        </a:rPr>
                        <a:t>—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7936992" y="3840480"/>
            <a:ext cx="3566160" cy="219456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D4E8"/>
                </a:solidFill>
                <a:latin typeface="JetBrains Mono"/>
              </a:rPr>
              <a:t>AIRFRAME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7936992" y="4078224"/>
          <a:ext cx="3566160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188720"/>
                <a:gridCol w="1188720"/>
              </a:tblGrid>
              <a:tr h="560070">
                <a:tc>
                  <a:txBody>
                    <a:bodyPr lIns="73152" rIns="54864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00D4E8"/>
                          </a:solidFill>
                          <a:latin typeface="JetBrains Mono"/>
                        </a:rPr>
                        <a:t>Item</a:t>
                      </a:r>
                    </a:p>
                  </a:txBody>
                  <a:tcPr anchor="ctr">
                    <a:solidFill>
                      <a:srgbClr val="0D3C4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00D4E8"/>
                          </a:solidFill>
                          <a:latin typeface="JetBrains Mono"/>
                        </a:rPr>
                        <a:t>Spec</a:t>
                      </a:r>
                    </a:p>
                  </a:txBody>
                  <a:tcPr anchor="ctr">
                    <a:solidFill>
                      <a:srgbClr val="0D3C4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00D4E8"/>
                          </a:solidFill>
                          <a:latin typeface="JetBrains Mono"/>
                        </a:rPr>
                        <a:t>Qty</a:t>
                      </a:r>
                    </a:p>
                  </a:txBody>
                  <a:tcPr anchor="ctr">
                    <a:solidFill>
                      <a:srgbClr val="0D3C4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</a:tr>
              <a:tr h="560070">
                <a:tc>
                  <a:txBody>
                    <a:bodyPr lIns="73152" rIns="54864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D7DFEA"/>
                          </a:solidFill>
                          <a:latin typeface="Inter"/>
                        </a:rPr>
                        <a:t>Wing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D7DFEA"/>
                          </a:solidFill>
                          <a:latin typeface="JetBrains Mono"/>
                        </a:rPr>
                        <a:t>1300 mm  NACA 4412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D7DFEA"/>
                          </a:solidFill>
                          <a:latin typeface="JetBrains Mono"/>
                        </a:rPr>
                        <a:t>1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</a:tr>
              <a:tr h="560070">
                <a:tc>
                  <a:txBody>
                    <a:bodyPr lIns="73152" rIns="54864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D7DFEA"/>
                          </a:solidFill>
                          <a:latin typeface="Inter"/>
                        </a:rPr>
                        <a:t>Winglets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D7DFEA"/>
                          </a:solidFill>
                          <a:latin typeface="JetBrains Mono"/>
                        </a:rPr>
                        <a:t>Tip treatments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D7DFEA"/>
                          </a:solidFill>
                          <a:latin typeface="JetBrains Mono"/>
                        </a:rPr>
                        <a:t>2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</a:tr>
              <a:tr h="560070">
                <a:tc>
                  <a:txBody>
                    <a:bodyPr lIns="73152" rIns="54864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D7DFEA"/>
                          </a:solidFill>
                          <a:latin typeface="Inter"/>
                        </a:rPr>
                        <a:t>Fuselage / gear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D7DFEA"/>
                          </a:solidFill>
                          <a:latin typeface="JetBrains Mono"/>
                        </a:rPr>
                        <a:t>1200–1300 mm / skids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D7DFEA"/>
                          </a:solidFill>
                          <a:latin typeface="JetBrains Mono"/>
                        </a:rPr>
                        <a:t>1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11338560" cy="256032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D4E8"/>
                </a:solidFill>
                <a:latin typeface="JetBrains Mono"/>
              </a:rPr>
              <a:t>26  /  CAD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47472"/>
            <a:ext cx="11430000" cy="420624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Inter"/>
              </a:rPr>
              <a:t>CAD Development 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48272"/>
            <a:ext cx="12191999" cy="109728"/>
          </a:xfrm>
          <a:prstGeom prst="rect">
            <a:avLst/>
          </a:prstGeom>
          <a:solidFill>
            <a:srgbClr val="0C17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48272"/>
            <a:ext cx="12191999" cy="13716"/>
          </a:xfrm>
          <a:prstGeom prst="rect">
            <a:avLst/>
          </a:prstGeom>
          <a:solidFill>
            <a:srgbClr val="2434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757416"/>
            <a:ext cx="8412480" cy="91440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C6B82"/>
                </a:solidFill>
                <a:latin typeface="JetBrains Mono"/>
              </a:rPr>
              <a:t>PUSHPAK V1   ·   TILT-ROTOR VTOL DEMONSTRATOR   ·   FINAL YEAR DESIGN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46920" y="6757416"/>
            <a:ext cx="2148840" cy="91440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D4E8"/>
                </a:solidFill>
                <a:latin typeface="JetBrains Mono"/>
              </a:rPr>
              <a:t>27  /  40</a:t>
            </a:r>
          </a:p>
        </p:txBody>
      </p:sp>
      <p:sp>
        <p:nvSpPr>
          <p:cNvPr id="9" name="Chevron 8"/>
          <p:cNvSpPr/>
          <p:nvPr/>
        </p:nvSpPr>
        <p:spPr>
          <a:xfrm>
            <a:off x="384048" y="1115568"/>
            <a:ext cx="1840991" cy="438912"/>
          </a:xfrm>
          <a:prstGeom prst="chevron">
            <a:avLst/>
          </a:prstGeom>
          <a:solidFill>
            <a:srgbClr val="0D3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" y="1115568"/>
            <a:ext cx="1676400" cy="438912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D4E8"/>
                </a:solidFill>
                <a:latin typeface="Inter"/>
              </a:rPr>
              <a:t>Master</a:t>
            </a:r>
          </a:p>
        </p:txBody>
      </p:sp>
      <p:sp>
        <p:nvSpPr>
          <p:cNvPr id="11" name="Chevron 10"/>
          <p:cNvSpPr/>
          <p:nvPr/>
        </p:nvSpPr>
        <p:spPr>
          <a:xfrm>
            <a:off x="2298192" y="1115568"/>
            <a:ext cx="1840991" cy="438912"/>
          </a:xfrm>
          <a:prstGeom prst="chevron">
            <a:avLst/>
          </a:prstGeom>
          <a:solidFill>
            <a:srgbClr val="0D3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53056" y="1115568"/>
            <a:ext cx="1676400" cy="438912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D4E8"/>
                </a:solidFill>
                <a:latin typeface="Inter"/>
              </a:rPr>
              <a:t>Tilt axis</a:t>
            </a:r>
          </a:p>
        </p:txBody>
      </p:sp>
      <p:sp>
        <p:nvSpPr>
          <p:cNvPr id="13" name="Chevron 12"/>
          <p:cNvSpPr/>
          <p:nvPr/>
        </p:nvSpPr>
        <p:spPr>
          <a:xfrm>
            <a:off x="4212336" y="1115568"/>
            <a:ext cx="1840991" cy="438912"/>
          </a:xfrm>
          <a:prstGeom prst="chevron">
            <a:avLst/>
          </a:prstGeom>
          <a:solidFill>
            <a:srgbClr val="0D3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67199" y="1115568"/>
            <a:ext cx="1676400" cy="438912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D4E8"/>
                </a:solidFill>
                <a:latin typeface="Inter"/>
              </a:rPr>
              <a:t>Airframe</a:t>
            </a:r>
          </a:p>
        </p:txBody>
      </p:sp>
      <p:sp>
        <p:nvSpPr>
          <p:cNvPr id="15" name="Chevron 14"/>
          <p:cNvSpPr/>
          <p:nvPr/>
        </p:nvSpPr>
        <p:spPr>
          <a:xfrm>
            <a:off x="6126479" y="1115568"/>
            <a:ext cx="1840991" cy="438912"/>
          </a:xfrm>
          <a:prstGeom prst="chevron">
            <a:avLst/>
          </a:prstGeom>
          <a:solidFill>
            <a:srgbClr val="0D3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81343" y="1115568"/>
            <a:ext cx="1676400" cy="438912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D4E8"/>
                </a:solidFill>
                <a:latin typeface="Inter"/>
              </a:rPr>
              <a:t>Harness</a:t>
            </a:r>
          </a:p>
        </p:txBody>
      </p:sp>
      <p:sp>
        <p:nvSpPr>
          <p:cNvPr id="17" name="Chevron 16"/>
          <p:cNvSpPr/>
          <p:nvPr/>
        </p:nvSpPr>
        <p:spPr>
          <a:xfrm>
            <a:off x="8040624" y="1115568"/>
            <a:ext cx="1840991" cy="438912"/>
          </a:xfrm>
          <a:prstGeom prst="chevron">
            <a:avLst/>
          </a:prstGeom>
          <a:solidFill>
            <a:srgbClr val="0D3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5488" y="1115568"/>
            <a:ext cx="1676400" cy="438912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D4E8"/>
                </a:solidFill>
                <a:latin typeface="Inter"/>
              </a:rPr>
              <a:t>CG / MOI</a:t>
            </a:r>
          </a:p>
        </p:txBody>
      </p:sp>
      <p:sp>
        <p:nvSpPr>
          <p:cNvPr id="19" name="Chevron 18"/>
          <p:cNvSpPr/>
          <p:nvPr/>
        </p:nvSpPr>
        <p:spPr>
          <a:xfrm>
            <a:off x="9954768" y="1115568"/>
            <a:ext cx="1840991" cy="438912"/>
          </a:xfrm>
          <a:prstGeom prst="chevron">
            <a:avLst/>
          </a:prstGeom>
          <a:solidFill>
            <a:srgbClr val="0D3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09632" y="1115568"/>
            <a:ext cx="1676400" cy="438912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D4E8"/>
                </a:solidFill>
                <a:latin typeface="Inter"/>
              </a:rPr>
              <a:t>Drawings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4048" y="1737360"/>
            <a:ext cx="3639312" cy="2121408"/>
          </a:xfrm>
          <a:prstGeom prst="roundRect">
            <a:avLst>
              <a:gd name="adj" fmla="val 6000"/>
            </a:avLst>
          </a:prstGeom>
          <a:solidFill>
            <a:srgbClr val="121C30"/>
          </a:solidFill>
          <a:ln w="12700">
            <a:solidFill>
              <a:srgbClr val="243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84048" y="1737360"/>
            <a:ext cx="3639312" cy="41148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" y="1865376"/>
            <a:ext cx="3346704" cy="329184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D4E8"/>
                </a:solidFill>
                <a:latin typeface="JetBrains Mono"/>
              </a:rPr>
              <a:t>WP-1  MASTER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" y="2267712"/>
            <a:ext cx="3346704" cy="141732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7DFEA"/>
                </a:solidFill>
                <a:latin typeface="Inter"/>
              </a:rPr>
              <a:t>Top-down skeleton: wing, fuselage, two shafts, prop disks as clearance solids. Frozen interfaces.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87952" y="1737360"/>
            <a:ext cx="3639312" cy="2121408"/>
          </a:xfrm>
          <a:prstGeom prst="roundRect">
            <a:avLst>
              <a:gd name="adj" fmla="val 6000"/>
            </a:avLst>
          </a:prstGeom>
          <a:solidFill>
            <a:srgbClr val="121C30"/>
          </a:solidFill>
          <a:ln w="12700">
            <a:solidFill>
              <a:srgbClr val="243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87952" y="1737360"/>
            <a:ext cx="3639312" cy="41148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34256" y="1865376"/>
            <a:ext cx="3346704" cy="329184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D4E8"/>
                </a:solidFill>
                <a:latin typeface="JetBrains Mono"/>
              </a:rPr>
              <a:t>WP-2  TILT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34256" y="2267712"/>
            <a:ext cx="3346704" cy="141732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7DFEA"/>
                </a:solidFill>
                <a:latin typeface="Inter"/>
              </a:rPr>
              <a:t>Shaft, mounts, bearings, servo horn, linkage, stops, encoder target. Motion study 0–75°.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91856" y="1737360"/>
            <a:ext cx="3639312" cy="2121408"/>
          </a:xfrm>
          <a:prstGeom prst="roundRect">
            <a:avLst>
              <a:gd name="adj" fmla="val 6000"/>
            </a:avLst>
          </a:prstGeom>
          <a:solidFill>
            <a:srgbClr val="121C30"/>
          </a:solidFill>
          <a:ln w="12700">
            <a:solidFill>
              <a:srgbClr val="243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991856" y="1737360"/>
            <a:ext cx="3639312" cy="41148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38160" y="1865376"/>
            <a:ext cx="3346704" cy="329184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D4E8"/>
                </a:solidFill>
                <a:latin typeface="JetBrains Mono"/>
              </a:rPr>
              <a:t>WP-3  AIRFRAME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8160" y="2267712"/>
            <a:ext cx="3346704" cy="141732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7DFEA"/>
                </a:solidFill>
                <a:latin typeface="Inter"/>
              </a:rPr>
              <a:t>Wing skins/spars, winglets, fuselage bays for 6S pack, Pixhawk, payload 1 kg hard point.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84048" y="4023360"/>
            <a:ext cx="3639312" cy="2121408"/>
          </a:xfrm>
          <a:prstGeom prst="roundRect">
            <a:avLst>
              <a:gd name="adj" fmla="val 6000"/>
            </a:avLst>
          </a:prstGeom>
          <a:solidFill>
            <a:srgbClr val="121C30"/>
          </a:solidFill>
          <a:ln w="12700">
            <a:solidFill>
              <a:srgbClr val="243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84048" y="4023360"/>
            <a:ext cx="3639312" cy="41148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0352" y="4151376"/>
            <a:ext cx="3346704" cy="329184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D4E8"/>
                </a:solidFill>
                <a:latin typeface="JetBrains Mono"/>
              </a:rPr>
              <a:t>WP-4  EQUIPMENT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0352" y="4553712"/>
            <a:ext cx="3346704" cy="141732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7DFEA"/>
                </a:solidFill>
                <a:latin typeface="Inter"/>
              </a:rPr>
              <a:t>Motor/ESC/servo envelopes, pitot boom, GPS mast, antenna clear of props.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187952" y="4023360"/>
            <a:ext cx="3639312" cy="2121408"/>
          </a:xfrm>
          <a:prstGeom prst="roundRect">
            <a:avLst>
              <a:gd name="adj" fmla="val 6000"/>
            </a:avLst>
          </a:prstGeom>
          <a:solidFill>
            <a:srgbClr val="121C30"/>
          </a:solidFill>
          <a:ln w="12700">
            <a:solidFill>
              <a:srgbClr val="243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187952" y="4023360"/>
            <a:ext cx="3639312" cy="41148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34256" y="4151376"/>
            <a:ext cx="3346704" cy="329184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D4E8"/>
                </a:solidFill>
                <a:latin typeface="JetBrains Mono"/>
              </a:rPr>
              <a:t>WP-5  MASS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34256" y="4553712"/>
            <a:ext cx="3346704" cy="141732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7DFEA"/>
                </a:solidFill>
                <a:latin typeface="Inter"/>
              </a:rPr>
              <a:t>Assigned densities, live CG vs MAC and vs shaft plane. MOI for hover tuning.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991856" y="4023360"/>
            <a:ext cx="3639312" cy="2121408"/>
          </a:xfrm>
          <a:prstGeom prst="roundRect">
            <a:avLst>
              <a:gd name="adj" fmla="val 6000"/>
            </a:avLst>
          </a:prstGeom>
          <a:solidFill>
            <a:srgbClr val="121C30"/>
          </a:solidFill>
          <a:ln w="12700">
            <a:solidFill>
              <a:srgbClr val="243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991856" y="4023360"/>
            <a:ext cx="3639312" cy="41148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138160" y="4151376"/>
            <a:ext cx="3346704" cy="329184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D4E8"/>
                </a:solidFill>
                <a:latin typeface="JetBrains Mono"/>
              </a:rPr>
              <a:t>WP-6  RELEASE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38160" y="4553712"/>
            <a:ext cx="3346704" cy="141732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7DFEA"/>
                </a:solidFill>
                <a:latin typeface="Inter"/>
              </a:rPr>
              <a:t>Exploded views, 2D for 3D-print, laser, and composite templates. Configuration log.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11338560" cy="256032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D4E8"/>
                </a:solidFill>
                <a:latin typeface="JetBrains Mono"/>
              </a:rPr>
              <a:t>27  /  CFD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47472"/>
            <a:ext cx="11430000" cy="420624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Inter"/>
              </a:rPr>
              <a:t>CFD Validation 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48272"/>
            <a:ext cx="12191999" cy="109728"/>
          </a:xfrm>
          <a:prstGeom prst="rect">
            <a:avLst/>
          </a:prstGeom>
          <a:solidFill>
            <a:srgbClr val="0C17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48272"/>
            <a:ext cx="12191999" cy="13716"/>
          </a:xfrm>
          <a:prstGeom prst="rect">
            <a:avLst/>
          </a:prstGeom>
          <a:solidFill>
            <a:srgbClr val="2434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757416"/>
            <a:ext cx="8412480" cy="91440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C6B82"/>
                </a:solidFill>
                <a:latin typeface="JetBrains Mono"/>
              </a:rPr>
              <a:t>PUSHPAK V1   ·   TILT-ROTOR VTOL DEMONSTRATOR   ·   FINAL YEAR DESIGN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46920" y="6757416"/>
            <a:ext cx="2148840" cy="91440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D4E8"/>
                </a:solidFill>
                <a:latin typeface="JetBrains Mono"/>
              </a:rPr>
              <a:t>28  /  40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" y="1115568"/>
            <a:ext cx="7635240" cy="987552"/>
          </a:xfrm>
          <a:prstGeom prst="roundRect">
            <a:avLst>
              <a:gd name="adj" fmla="val 6000"/>
            </a:avLst>
          </a:prstGeom>
          <a:solidFill>
            <a:srgbClr val="121C30"/>
          </a:solidFill>
          <a:ln w="12700">
            <a:solidFill>
              <a:srgbClr val="243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4048" y="1115568"/>
            <a:ext cx="7635240" cy="41148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207008"/>
            <a:ext cx="7315200" cy="256032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D4E8"/>
                </a:solidFill>
                <a:latin typeface="JetBrains Mono"/>
              </a:rPr>
              <a:t>C1  WING POLAR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499616"/>
            <a:ext cx="7315200" cy="50292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7DFEA"/>
                </a:solidFill>
                <a:latin typeface="Inter"/>
              </a:rPr>
              <a:t>Isolated wing + winglets. α sweep at Re ≈ 3.3×10⁵ (c=0.246 m, 20 m/s). Extract CL, CD, CM. Confirm CL=0.395 is a comfortable α.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2194560"/>
            <a:ext cx="7635240" cy="987552"/>
          </a:xfrm>
          <a:prstGeom prst="roundRect">
            <a:avLst>
              <a:gd name="adj" fmla="val 6000"/>
            </a:avLst>
          </a:prstGeom>
          <a:solidFill>
            <a:srgbClr val="121C30"/>
          </a:solidFill>
          <a:ln w="12700">
            <a:solidFill>
              <a:srgbClr val="243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84048" y="2194560"/>
            <a:ext cx="7635240" cy="41148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286000"/>
            <a:ext cx="7315200" cy="256032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D4E8"/>
                </a:solidFill>
                <a:latin typeface="JetBrains Mono"/>
              </a:rPr>
              <a:t>C2  HOVER WASH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578608"/>
            <a:ext cx="7315200" cy="50292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7DFEA"/>
                </a:solidFill>
                <a:latin typeface="Inter"/>
              </a:rPr>
              <a:t>Four 16-inch disks as actuator disks or MRF, wing at 0° tilt. Map download penalty and elevator blanking.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4048" y="3273552"/>
            <a:ext cx="7635240" cy="987552"/>
          </a:xfrm>
          <a:prstGeom prst="roundRect">
            <a:avLst>
              <a:gd name="adj" fmla="val 6000"/>
            </a:avLst>
          </a:prstGeom>
          <a:solidFill>
            <a:srgbClr val="121C30"/>
          </a:solidFill>
          <a:ln w="12700">
            <a:solidFill>
              <a:srgbClr val="243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84048" y="3273552"/>
            <a:ext cx="7635240" cy="41148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364992"/>
            <a:ext cx="7315200" cy="256032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D4E8"/>
                </a:solidFill>
                <a:latin typeface="JetBrains Mono"/>
              </a:rPr>
              <a:t>C3  CRUISE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657600"/>
            <a:ext cx="7315200" cy="50292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7DFEA"/>
                </a:solidFill>
                <a:latin typeface="Inter"/>
              </a:rPr>
              <a:t>Full airframe, rotors at 75°, V=20 m/s. Residual rotor lift vs wing lift split. Nacelle / boom drag.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4048" y="4352544"/>
            <a:ext cx="7635240" cy="987552"/>
          </a:xfrm>
          <a:prstGeom prst="roundRect">
            <a:avLst>
              <a:gd name="adj" fmla="val 6000"/>
            </a:avLst>
          </a:prstGeom>
          <a:solidFill>
            <a:srgbClr val="121C30"/>
          </a:solidFill>
          <a:ln w="12700">
            <a:solidFill>
              <a:srgbClr val="243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84048" y="4352544"/>
            <a:ext cx="7635240" cy="41148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443983"/>
            <a:ext cx="7315200" cy="256032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D4E8"/>
                </a:solidFill>
                <a:latin typeface="JetBrains Mono"/>
              </a:rPr>
              <a:t>C4  TRANSITION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736592"/>
            <a:ext cx="7315200" cy="50292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7DFEA"/>
                </a:solidFill>
                <a:latin typeface="Inter"/>
              </a:rPr>
              <a:t>One or two snapshots at 30–45° tilt. Identify pitch-up/pitch-down and a safe ramp rate.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83879" y="1115568"/>
            <a:ext cx="3611880" cy="5303520"/>
          </a:xfrm>
          <a:prstGeom prst="roundRect">
            <a:avLst>
              <a:gd name="adj" fmla="val 6000"/>
            </a:avLst>
          </a:prstGeom>
          <a:solidFill>
            <a:srgbClr val="121C30"/>
          </a:solidFill>
          <a:ln w="12700">
            <a:solidFill>
              <a:srgbClr val="243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83879" y="1115568"/>
            <a:ext cx="3611880" cy="41148"/>
          </a:xfrm>
          <a:prstGeom prst="rect">
            <a:avLst/>
          </a:prstGeom>
          <a:solidFill>
            <a:srgbClr val="F5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39327" y="1298448"/>
            <a:ext cx="3291840" cy="27432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5B942"/>
                </a:solidFill>
                <a:latin typeface="JetBrains Mono"/>
              </a:rPr>
              <a:t>SUCCESS METRICS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1737360"/>
            <a:ext cx="3383280" cy="438912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D7DFEA"/>
                </a:solidFill>
                <a:latin typeface="Inter"/>
              </a:rPr>
              <a:t>▸  CL_req 0.395 inside linear range.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D7DFEA"/>
                </a:solidFill>
                <a:latin typeface="Inter"/>
              </a:rPr>
              <a:t>▸  Wing stall α &gt; cruise α + 6°.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D7DFEA"/>
                </a:solidFill>
                <a:latin typeface="Inter"/>
              </a:rPr>
              <a:t>▸  Download increment quantified.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D7DFEA"/>
                </a:solidFill>
                <a:latin typeface="Inter"/>
              </a:rPr>
              <a:t>▸  No hidden pitch-up at 30–45°.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D7DFEA"/>
                </a:solidFill>
                <a:latin typeface="Inter"/>
              </a:rPr>
              <a:t>▸  Drag polar for power estimate.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D7DFEA"/>
                </a:solidFill>
                <a:latin typeface="Inter"/>
              </a:rPr>
              <a:t>▸  Mesh / residual report in annex.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11338560" cy="256032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D4E8"/>
                </a:solidFill>
                <a:latin typeface="JetBrains Mono"/>
              </a:rPr>
              <a:t>28  /  STRUCTURES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47472"/>
            <a:ext cx="11430000" cy="420624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Inter"/>
              </a:rPr>
              <a:t>Structural Analysis 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48272"/>
            <a:ext cx="12191999" cy="109728"/>
          </a:xfrm>
          <a:prstGeom prst="rect">
            <a:avLst/>
          </a:prstGeom>
          <a:solidFill>
            <a:srgbClr val="0C17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48272"/>
            <a:ext cx="12191999" cy="13716"/>
          </a:xfrm>
          <a:prstGeom prst="rect">
            <a:avLst/>
          </a:prstGeom>
          <a:solidFill>
            <a:srgbClr val="2434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757416"/>
            <a:ext cx="8412480" cy="91440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C6B82"/>
                </a:solidFill>
                <a:latin typeface="JetBrains Mono"/>
              </a:rPr>
              <a:t>PUSHPAK V1   ·   TILT-ROTOR VTOL DEMONSTRATOR   ·   FINAL YEAR DESIGN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46920" y="6757416"/>
            <a:ext cx="2148840" cy="91440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D4E8"/>
                </a:solidFill>
                <a:latin typeface="JetBrains Mono"/>
              </a:rPr>
              <a:t>29  /  40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84048" y="1078992"/>
          <a:ext cx="11411712" cy="544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2928"/>
                <a:gridCol w="2852928"/>
                <a:gridCol w="2852928"/>
                <a:gridCol w="2852928"/>
              </a:tblGrid>
              <a:tr h="604520">
                <a:tc>
                  <a:txBody>
                    <a:bodyPr lIns="73152" rIns="54864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00D4E8"/>
                          </a:solidFill>
                          <a:latin typeface="JetBrains Mono"/>
                        </a:rPr>
                        <a:t>ID</a:t>
                      </a:r>
                    </a:p>
                  </a:txBody>
                  <a:tcPr anchor="ctr">
                    <a:solidFill>
                      <a:srgbClr val="0D3C4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00D4E8"/>
                          </a:solidFill>
                          <a:latin typeface="JetBrains Mono"/>
                        </a:rPr>
                        <a:t>Load case</a:t>
                      </a:r>
                    </a:p>
                  </a:txBody>
                  <a:tcPr anchor="ctr">
                    <a:solidFill>
                      <a:srgbClr val="0D3C4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00D4E8"/>
                          </a:solidFill>
                          <a:latin typeface="JetBrains Mono"/>
                        </a:rPr>
                        <a:t>Factor / condition</a:t>
                      </a:r>
                    </a:p>
                  </a:txBody>
                  <a:tcPr anchor="ctr">
                    <a:solidFill>
                      <a:srgbClr val="0D3C4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00D4E8"/>
                          </a:solidFill>
                          <a:latin typeface="JetBrains Mono"/>
                        </a:rPr>
                        <a:t>Pass criterion</a:t>
                      </a:r>
                    </a:p>
                  </a:txBody>
                  <a:tcPr anchor="ctr">
                    <a:solidFill>
                      <a:srgbClr val="0D3C4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</a:tr>
              <a:tr h="604520">
                <a:tc>
                  <a:txBody>
                    <a:bodyPr lIns="73152" rIns="54864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D7DFEA"/>
                          </a:solidFill>
                          <a:latin typeface="Inter"/>
                        </a:rPr>
                        <a:t>LC-1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D7DFEA"/>
                          </a:solidFill>
                          <a:latin typeface="JetBrains Mono"/>
                        </a:rPr>
                        <a:t>Hover thrust on mounts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D7DFEA"/>
                          </a:solidFill>
                          <a:latin typeface="JetBrains Mono"/>
                        </a:rPr>
                        <a:t>2.25 kgf × 2.0 per motor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D7DFEA"/>
                          </a:solidFill>
                          <a:latin typeface="JetBrains Mono"/>
                        </a:rPr>
                        <a:t>No yield; bolt bearing OK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</a:tr>
              <a:tr h="604520">
                <a:tc>
                  <a:txBody>
                    <a:bodyPr lIns="73152" rIns="54864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D7DFEA"/>
                          </a:solidFill>
                          <a:latin typeface="Inter"/>
                        </a:rPr>
                        <a:t>LC-2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D7DFEA"/>
                          </a:solidFill>
                          <a:latin typeface="JetBrains Mono"/>
                        </a:rPr>
                        <a:t>Tilt-shaft torsion / bending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D7DFEA"/>
                          </a:solidFill>
                          <a:latin typeface="JetBrains Mono"/>
                        </a:rPr>
                        <a:t>Max motor torque + gyro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D7DFEA"/>
                          </a:solidFill>
                          <a:latin typeface="JetBrains Mono"/>
                        </a:rPr>
                        <a:t>Deflection does not eat clearance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</a:tr>
              <a:tr h="604520">
                <a:tc>
                  <a:txBody>
                    <a:bodyPr lIns="73152" rIns="54864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D7DFEA"/>
                          </a:solidFill>
                          <a:latin typeface="Inter"/>
                        </a:rPr>
                        <a:t>LC-3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D7DFEA"/>
                          </a:solidFill>
                          <a:latin typeface="JetBrains Mono"/>
                        </a:rPr>
                        <a:t>Wing +2.5 / −1.0 g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D7DFEA"/>
                          </a:solidFill>
                          <a:latin typeface="JetBrains Mono"/>
                        </a:rPr>
                        <a:t>Cruise 20 m/s, 70% lift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D7DFEA"/>
                          </a:solidFill>
                          <a:latin typeface="JetBrains Mono"/>
                        </a:rPr>
                        <a:t>Spar cap / foam shear OK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</a:tr>
              <a:tr h="604520">
                <a:tc>
                  <a:txBody>
                    <a:bodyPr lIns="73152" rIns="54864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D7DFEA"/>
                          </a:solidFill>
                          <a:latin typeface="Inter"/>
                        </a:rPr>
                        <a:t>LC-4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D7DFEA"/>
                          </a:solidFill>
                          <a:latin typeface="JetBrains Mono"/>
                        </a:rPr>
                        <a:t>Landing 3.5 g spike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D7DFEA"/>
                          </a:solidFill>
                          <a:latin typeface="JetBrains Mono"/>
                        </a:rPr>
                        <a:t>Skids, fuselage keel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D7DFEA"/>
                          </a:solidFill>
                          <a:latin typeface="JetBrains Mono"/>
                        </a:rPr>
                        <a:t>No FC tray crush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</a:tr>
              <a:tr h="604520">
                <a:tc>
                  <a:txBody>
                    <a:bodyPr lIns="73152" rIns="54864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D7DFEA"/>
                          </a:solidFill>
                          <a:latin typeface="Inter"/>
                        </a:rPr>
                        <a:t>LC-5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D7DFEA"/>
                          </a:solidFill>
                          <a:latin typeface="JetBrains Mono"/>
                        </a:rPr>
                        <a:t>Servo linkage stall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D7DFEA"/>
                          </a:solidFill>
                          <a:latin typeface="JetBrains Mono"/>
                        </a:rPr>
                        <a:t>STS3215 stall torque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D7DFEA"/>
                          </a:solidFill>
                          <a:latin typeface="JetBrains Mono"/>
                        </a:rPr>
                        <a:t>Horn / pin shear OK; stop takes load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</a:tr>
              <a:tr h="604520">
                <a:tc>
                  <a:txBody>
                    <a:bodyPr lIns="73152" rIns="54864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D7DFEA"/>
                          </a:solidFill>
                          <a:latin typeface="Inter"/>
                        </a:rPr>
                        <a:t>LC-6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D7DFEA"/>
                          </a:solidFill>
                          <a:latin typeface="JetBrains Mono"/>
                        </a:rPr>
                        <a:t>Prop burst / FOD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D7DFEA"/>
                          </a:solidFill>
                          <a:latin typeface="JetBrains Mono"/>
                        </a:rPr>
                        <a:t>Containment awareness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D7DFEA"/>
                          </a:solidFill>
                          <a:latin typeface="JetBrains Mono"/>
                        </a:rPr>
                        <a:t>Layout keeps blades off boom/wing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</a:tr>
              <a:tr h="604520">
                <a:tc>
                  <a:txBody>
                    <a:bodyPr lIns="73152" rIns="54864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D7DFEA"/>
                          </a:solidFill>
                          <a:latin typeface="Inter"/>
                        </a:rPr>
                        <a:t>LC-7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D7DFEA"/>
                          </a:solidFill>
                          <a:latin typeface="JetBrains Mono"/>
                        </a:rPr>
                        <a:t>Modal (shaft + wing)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D7DFEA"/>
                          </a:solidFill>
                          <a:latin typeface="JetBrains Mono"/>
                        </a:rPr>
                        <a:t>Hover RPM range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D7DFEA"/>
                          </a:solidFill>
                          <a:latin typeface="JetBrains Mono"/>
                        </a:rPr>
                        <a:t>No 1/rev coincidence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</a:tr>
              <a:tr h="604520">
                <a:tc>
                  <a:txBody>
                    <a:bodyPr lIns="73152" rIns="54864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D7DFEA"/>
                          </a:solidFill>
                          <a:latin typeface="Inter"/>
                        </a:rPr>
                        <a:t>LC-8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D7DFEA"/>
                          </a:solidFill>
                          <a:latin typeface="JetBrains Mono"/>
                        </a:rPr>
                        <a:t>CG / hard-point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D7DFEA"/>
                          </a:solidFill>
                          <a:latin typeface="JetBrains Mono"/>
                        </a:rPr>
                        <a:t>1 kg payload 10 g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D7DFEA"/>
                          </a:solidFill>
                          <a:latin typeface="JetBrains Mono"/>
                        </a:rPr>
                        <a:t>Insert pull-out margin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11338560" cy="256032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D4E8"/>
                </a:solidFill>
                <a:latin typeface="JetBrains Mono"/>
              </a:rPr>
              <a:t>29  /  MANUFACTURE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47472"/>
            <a:ext cx="11430000" cy="420624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Inter"/>
              </a:rPr>
              <a:t>Prototype Manufacturing 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48272"/>
            <a:ext cx="12191999" cy="109728"/>
          </a:xfrm>
          <a:prstGeom prst="rect">
            <a:avLst/>
          </a:prstGeom>
          <a:solidFill>
            <a:srgbClr val="0C17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48272"/>
            <a:ext cx="12191999" cy="13716"/>
          </a:xfrm>
          <a:prstGeom prst="rect">
            <a:avLst/>
          </a:prstGeom>
          <a:solidFill>
            <a:srgbClr val="2434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757416"/>
            <a:ext cx="8412480" cy="91440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C6B82"/>
                </a:solidFill>
                <a:latin typeface="JetBrains Mono"/>
              </a:rPr>
              <a:t>PUSHPAK V1   ·   TILT-ROTOR VTOL DEMONSTRATOR   ·   FINAL YEAR DESIGN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46920" y="6757416"/>
            <a:ext cx="2148840" cy="91440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D4E8"/>
                </a:solidFill>
                <a:latin typeface="JetBrains Mono"/>
              </a:rPr>
              <a:t>30  /  40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" y="1115568"/>
            <a:ext cx="3639312" cy="2468880"/>
          </a:xfrm>
          <a:prstGeom prst="roundRect">
            <a:avLst>
              <a:gd name="adj" fmla="val 6000"/>
            </a:avLst>
          </a:prstGeom>
          <a:solidFill>
            <a:srgbClr val="121C30"/>
          </a:solidFill>
          <a:ln w="12700">
            <a:solidFill>
              <a:srgbClr val="243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4048" y="1115568"/>
            <a:ext cx="3639312" cy="41148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1243584"/>
            <a:ext cx="3346704" cy="256032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D4E8"/>
                </a:solidFill>
                <a:latin typeface="JetBrains Mono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1536192"/>
            <a:ext cx="3346704" cy="36576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Inter"/>
              </a:rPr>
              <a:t>PROPULSION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2029967"/>
            <a:ext cx="3346704" cy="132588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7DFEA"/>
                </a:solidFill>
                <a:latin typeface="Inter"/>
              </a:rPr>
              <a:t>Source MY4215, 16-in props, 6S ESCs. Thrust-stand characterisation before airframe lock.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87952" y="1115568"/>
            <a:ext cx="3639312" cy="2468880"/>
          </a:xfrm>
          <a:prstGeom prst="roundRect">
            <a:avLst>
              <a:gd name="adj" fmla="val 6000"/>
            </a:avLst>
          </a:prstGeom>
          <a:solidFill>
            <a:srgbClr val="121C30"/>
          </a:solidFill>
          <a:ln w="12700">
            <a:solidFill>
              <a:srgbClr val="243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87952" y="1115568"/>
            <a:ext cx="3639312" cy="41148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34256" y="1243584"/>
            <a:ext cx="3346704" cy="256032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D4E8"/>
                </a:solidFill>
                <a:latin typeface="JetBrains Mono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34256" y="1536192"/>
            <a:ext cx="3346704" cy="36576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Inter"/>
              </a:rPr>
              <a:t>TILT AXIS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34256" y="2029967"/>
            <a:ext cx="3346704" cy="132588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7DFEA"/>
                </a:solidFill>
                <a:latin typeface="Inter"/>
              </a:rPr>
              <a:t>Shaft, printed/CNC mounts, bearings, stops, STS3215, mag targets. Bench 0–75° cycle test.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91856" y="1115568"/>
            <a:ext cx="3639312" cy="2468880"/>
          </a:xfrm>
          <a:prstGeom prst="roundRect">
            <a:avLst>
              <a:gd name="adj" fmla="val 6000"/>
            </a:avLst>
          </a:prstGeom>
          <a:solidFill>
            <a:srgbClr val="121C30"/>
          </a:solidFill>
          <a:ln w="12700">
            <a:solidFill>
              <a:srgbClr val="243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991856" y="1115568"/>
            <a:ext cx="3639312" cy="41148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38160" y="1243584"/>
            <a:ext cx="3346704" cy="256032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D4E8"/>
                </a:solidFill>
                <a:latin typeface="JetBrains Mono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1536192"/>
            <a:ext cx="3346704" cy="36576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Inter"/>
              </a:rPr>
              <a:t>WING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2029967"/>
            <a:ext cx="3346704" cy="132588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7DFEA"/>
                </a:solidFill>
                <a:latin typeface="Inter"/>
              </a:rPr>
              <a:t>Hot-wire or CNC foam core, spars, NACA 4412 templates, bonded winglets. Mass ≤ 0.30 kg.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4048" y="3767328"/>
            <a:ext cx="3639312" cy="2468880"/>
          </a:xfrm>
          <a:prstGeom prst="roundRect">
            <a:avLst>
              <a:gd name="adj" fmla="val 6000"/>
            </a:avLst>
          </a:prstGeom>
          <a:solidFill>
            <a:srgbClr val="121C30"/>
          </a:solidFill>
          <a:ln w="12700">
            <a:solidFill>
              <a:srgbClr val="243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84048" y="3767328"/>
            <a:ext cx="3639312" cy="41148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0352" y="3895344"/>
            <a:ext cx="3346704" cy="256032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D4E8"/>
                </a:solidFill>
                <a:latin typeface="JetBrains Mono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" y="4187952"/>
            <a:ext cx="3346704" cy="36576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Inter"/>
              </a:rPr>
              <a:t>FUSELAGE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" y="4681728"/>
            <a:ext cx="3346704" cy="132588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7DFEA"/>
                </a:solidFill>
                <a:latin typeface="Inter"/>
              </a:rPr>
              <a:t>Pod for battery, Pixhawk, payload. Skids. Harness channels. Access panels.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187952" y="3767328"/>
            <a:ext cx="3639312" cy="2468880"/>
          </a:xfrm>
          <a:prstGeom prst="roundRect">
            <a:avLst>
              <a:gd name="adj" fmla="val 6000"/>
            </a:avLst>
          </a:prstGeom>
          <a:solidFill>
            <a:srgbClr val="121C30"/>
          </a:solidFill>
          <a:ln w="12700">
            <a:solidFill>
              <a:srgbClr val="243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187952" y="3767328"/>
            <a:ext cx="3639312" cy="41148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34256" y="3895344"/>
            <a:ext cx="3346704" cy="256032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D4E8"/>
                </a:solidFill>
                <a:latin typeface="JetBrains Mono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34256" y="4187952"/>
            <a:ext cx="3346704" cy="36576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Inter"/>
              </a:rPr>
              <a:t>INTEGRATION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34256" y="4681728"/>
            <a:ext cx="3346704" cy="132588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7DFEA"/>
                </a:solidFill>
                <a:latin typeface="Inter"/>
              </a:rPr>
              <a:t>Harness, pitot boom, GPS, encoder routing, CG weigh, control-surface or trim if any.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991856" y="3767328"/>
            <a:ext cx="3639312" cy="2468880"/>
          </a:xfrm>
          <a:prstGeom prst="roundRect">
            <a:avLst>
              <a:gd name="adj" fmla="val 6000"/>
            </a:avLst>
          </a:prstGeom>
          <a:solidFill>
            <a:srgbClr val="121C30"/>
          </a:solidFill>
          <a:ln w="12700">
            <a:solidFill>
              <a:srgbClr val="243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991856" y="3767328"/>
            <a:ext cx="3639312" cy="41148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38160" y="3895344"/>
            <a:ext cx="3346704" cy="256032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D4E8"/>
                </a:solidFill>
                <a:latin typeface="JetBrains Mono"/>
              </a:rPr>
              <a:t>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38160" y="4187952"/>
            <a:ext cx="3346704" cy="36576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Inter"/>
              </a:rPr>
              <a:t>QA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38160" y="4681728"/>
            <a:ext cx="3346704" cy="132588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7DFEA"/>
                </a:solidFill>
                <a:latin typeface="Inter"/>
              </a:rPr>
              <a:t>Prop clearance 50–75 mm, tilt-stop inspection, insulation, photo log, mass report.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11338560" cy="256032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D4E8"/>
                </a:solidFill>
                <a:latin typeface="JetBrains Mono"/>
              </a:rPr>
              <a:t>30  /  GROUND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47472"/>
            <a:ext cx="11430000" cy="420624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Inter"/>
              </a:rPr>
              <a:t>Ground Testing 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48272"/>
            <a:ext cx="12191999" cy="109728"/>
          </a:xfrm>
          <a:prstGeom prst="rect">
            <a:avLst/>
          </a:prstGeom>
          <a:solidFill>
            <a:srgbClr val="0C17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48272"/>
            <a:ext cx="12191999" cy="13716"/>
          </a:xfrm>
          <a:prstGeom prst="rect">
            <a:avLst/>
          </a:prstGeom>
          <a:solidFill>
            <a:srgbClr val="2434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757416"/>
            <a:ext cx="8412480" cy="91440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C6B82"/>
                </a:solidFill>
                <a:latin typeface="JetBrains Mono"/>
              </a:rPr>
              <a:t>PUSHPAK V1   ·   TILT-ROTOR VTOL DEMONSTRATOR   ·   FINAL YEAR DESIGN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46920" y="6757416"/>
            <a:ext cx="2148840" cy="91440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D4E8"/>
                </a:solidFill>
                <a:latin typeface="JetBrains Mono"/>
              </a:rPr>
              <a:t>31  /  40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84048" y="1078992"/>
          <a:ext cx="11411712" cy="544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2928"/>
                <a:gridCol w="2852928"/>
                <a:gridCol w="2852928"/>
                <a:gridCol w="2852928"/>
              </a:tblGrid>
              <a:tr h="494607">
                <a:tc>
                  <a:txBody>
                    <a:bodyPr lIns="73152" rIns="54864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00D4E8"/>
                          </a:solidFill>
                          <a:latin typeface="JetBrains Mono"/>
                        </a:rPr>
                        <a:t>ID</a:t>
                      </a:r>
                    </a:p>
                  </a:txBody>
                  <a:tcPr anchor="ctr">
                    <a:solidFill>
                      <a:srgbClr val="0D3C4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00D4E8"/>
                          </a:solidFill>
                          <a:latin typeface="JetBrains Mono"/>
                        </a:rPr>
                        <a:t>Test</a:t>
                      </a:r>
                    </a:p>
                  </a:txBody>
                  <a:tcPr anchor="ctr">
                    <a:solidFill>
                      <a:srgbClr val="0D3C4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00D4E8"/>
                          </a:solidFill>
                          <a:latin typeface="JetBrains Mono"/>
                        </a:rPr>
                        <a:t>Setup</a:t>
                      </a:r>
                    </a:p>
                  </a:txBody>
                  <a:tcPr anchor="ctr">
                    <a:solidFill>
                      <a:srgbClr val="0D3C4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00D4E8"/>
                          </a:solidFill>
                          <a:latin typeface="JetBrains Mono"/>
                        </a:rPr>
                        <a:t>Pass</a:t>
                      </a:r>
                    </a:p>
                  </a:txBody>
                  <a:tcPr anchor="ctr">
                    <a:solidFill>
                      <a:srgbClr val="0D3C4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</a:tr>
              <a:tr h="494607">
                <a:tc>
                  <a:txBody>
                    <a:bodyPr lIns="73152" rIns="54864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Inter"/>
                        </a:rPr>
                        <a:t>GT-1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JetBrains Mono"/>
                        </a:rPr>
                        <a:t>Motor / prop map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JetBrains Mono"/>
                        </a:rPr>
                        <a:t>Single-motor stand, 6S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JetBrains Mono"/>
                        </a:rPr>
                        <a:t>≥ 2.25 kgf / motor; temps OK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</a:tr>
              <a:tr h="494607">
                <a:tc>
                  <a:txBody>
                    <a:bodyPr lIns="73152" rIns="54864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Inter"/>
                        </a:rPr>
                        <a:t>GT-2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JetBrains Mono"/>
                        </a:rPr>
                        <a:t>4-motor hover T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JetBrains Mono"/>
                        </a:rPr>
                        <a:t>Frame locked, pads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JetBrains Mono"/>
                        </a:rPr>
                        <a:t>≥ 9 kgf total; vibration log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</a:tr>
              <a:tr h="494607">
                <a:tc>
                  <a:txBody>
                    <a:bodyPr lIns="73152" rIns="54864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Inter"/>
                        </a:rPr>
                        <a:t>GT-3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JetBrains Mono"/>
                        </a:rPr>
                        <a:t>Tilt kinematics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JetBrains Mono"/>
                        </a:rPr>
                        <a:t>Axis jig, encoder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JetBrains Mono"/>
                        </a:rPr>
                        <a:t>0–75°, no bind, stop contact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</a:tr>
              <a:tr h="494607">
                <a:tc>
                  <a:txBody>
                    <a:bodyPr lIns="73152" rIns="54864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Inter"/>
                        </a:rPr>
                        <a:t>GT-4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JetBrains Mono"/>
                        </a:rPr>
                        <a:t>Tilt endurance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JetBrains Mono"/>
                        </a:rPr>
                        <a:t>500 cycles loaded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JetBrains Mono"/>
                        </a:rPr>
                        <a:t>No play, no mag-angle drift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</a:tr>
              <a:tr h="494607">
                <a:tc>
                  <a:txBody>
                    <a:bodyPr lIns="73152" rIns="54864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Inter"/>
                        </a:rPr>
                        <a:t>GT-5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JetBrains Mono"/>
                        </a:rPr>
                        <a:t>Servo stall / current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JetBrains Mono"/>
                        </a:rPr>
                        <a:t>Locked horn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JetBrains Mono"/>
                        </a:rPr>
                        <a:t>Current trip works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</a:tr>
              <a:tr h="494607">
                <a:tc>
                  <a:txBody>
                    <a:bodyPr lIns="73152" rIns="54864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Inter"/>
                        </a:rPr>
                        <a:t>GT-6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JetBrains Mono"/>
                        </a:rPr>
                        <a:t>Pitot calibration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JetBrains Mono"/>
                        </a:rPr>
                        <a:t>Wind / car boom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JetBrains Mono"/>
                        </a:rPr>
                        <a:t>IAS vs reference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</a:tr>
              <a:tr h="494607">
                <a:tc>
                  <a:txBody>
                    <a:bodyPr lIns="73152" rIns="54864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Inter"/>
                        </a:rPr>
                        <a:t>GT-7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JetBrains Mono"/>
                        </a:rPr>
                        <a:t>Power DAQ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JetBrains Mono"/>
                        </a:rPr>
                        <a:t>Known shunt load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JetBrains Mono"/>
                        </a:rPr>
                        <a:t>W within 5%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</a:tr>
              <a:tr h="494607">
                <a:tc>
                  <a:txBody>
                    <a:bodyPr lIns="73152" rIns="54864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Inter"/>
                        </a:rPr>
                        <a:t>GT-8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JetBrains Mono"/>
                        </a:rPr>
                        <a:t>EMI / compass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JetBrains Mono"/>
                        </a:rPr>
                        <a:t>Motors spinning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JetBrains Mono"/>
                        </a:rPr>
                        <a:t>Heading stable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</a:tr>
              <a:tr h="494607">
                <a:tc>
                  <a:txBody>
                    <a:bodyPr lIns="73152" rIns="54864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Inter"/>
                        </a:rPr>
                        <a:t>GT-9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JetBrains Mono"/>
                        </a:rPr>
                        <a:t>Failsafe dry-run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JetBrains Mono"/>
                        </a:rPr>
                        <a:t>FC on bench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JetBrains Mono"/>
                        </a:rPr>
                        <a:t>RTL, batt, GCS loss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</a:tr>
              <a:tr h="494610">
                <a:tc>
                  <a:txBody>
                    <a:bodyPr lIns="73152" rIns="54864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Inter"/>
                        </a:rPr>
                        <a:t>GT-10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JetBrains Mono"/>
                        </a:rPr>
                        <a:t>Tether hover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JetBrains Mono"/>
                        </a:rPr>
                        <a:t>Outdoor, short tether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JetBrains Mono"/>
                        </a:rPr>
                        <a:t>QHOVER 30 s, no oscillation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11338560" cy="256032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D4E8"/>
                </a:solidFill>
                <a:latin typeface="JetBrains Mono"/>
              </a:rPr>
              <a:t>31  /  FLIGHT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47472"/>
            <a:ext cx="11430000" cy="420624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Inter"/>
              </a:rPr>
              <a:t>Flight Testing 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48272"/>
            <a:ext cx="12191999" cy="109728"/>
          </a:xfrm>
          <a:prstGeom prst="rect">
            <a:avLst/>
          </a:prstGeom>
          <a:solidFill>
            <a:srgbClr val="0C17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48272"/>
            <a:ext cx="12191999" cy="13716"/>
          </a:xfrm>
          <a:prstGeom prst="rect">
            <a:avLst/>
          </a:prstGeom>
          <a:solidFill>
            <a:srgbClr val="2434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757416"/>
            <a:ext cx="8412480" cy="91440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C6B82"/>
                </a:solidFill>
                <a:latin typeface="JetBrains Mono"/>
              </a:rPr>
              <a:t>PUSHPAK V1   ·   TILT-ROTOR VTOL DEMONSTRATOR   ·   FINAL YEAR DESIGN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46920" y="6757416"/>
            <a:ext cx="2148840" cy="91440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D4E8"/>
                </a:solidFill>
                <a:latin typeface="JetBrains Mono"/>
              </a:rPr>
              <a:t>32  /  40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84048" y="1078992"/>
          <a:ext cx="11411712" cy="544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2928"/>
                <a:gridCol w="2852928"/>
                <a:gridCol w="2852928"/>
                <a:gridCol w="2852928"/>
              </a:tblGrid>
              <a:tr h="494607">
                <a:tc>
                  <a:txBody>
                    <a:bodyPr lIns="73152" rIns="54864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00D4E8"/>
                          </a:solidFill>
                          <a:latin typeface="JetBrains Mono"/>
                        </a:rPr>
                        <a:t>Sortie</a:t>
                      </a:r>
                    </a:p>
                  </a:txBody>
                  <a:tcPr anchor="ctr">
                    <a:solidFill>
                      <a:srgbClr val="0D3C4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00D4E8"/>
                          </a:solidFill>
                          <a:latin typeface="JetBrains Mono"/>
                        </a:rPr>
                        <a:t>Objective</a:t>
                      </a:r>
                    </a:p>
                  </a:txBody>
                  <a:tcPr anchor="ctr">
                    <a:solidFill>
                      <a:srgbClr val="0D3C4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00D4E8"/>
                          </a:solidFill>
                          <a:latin typeface="JetBrains Mono"/>
                        </a:rPr>
                        <a:t>Mode</a:t>
                      </a:r>
                    </a:p>
                  </a:txBody>
                  <a:tcPr anchor="ctr">
                    <a:solidFill>
                      <a:srgbClr val="0D3C4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00D4E8"/>
                          </a:solidFill>
                          <a:latin typeface="JetBrains Mono"/>
                        </a:rPr>
                        <a:t>Abort</a:t>
                      </a:r>
                    </a:p>
                  </a:txBody>
                  <a:tcPr anchor="ctr">
                    <a:solidFill>
                      <a:srgbClr val="0D3C4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</a:tr>
              <a:tr h="494607">
                <a:tc>
                  <a:txBody>
                    <a:bodyPr lIns="73152" rIns="54864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Inter"/>
                        </a:rPr>
                        <a:t>FT-1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JetBrains Mono"/>
                        </a:rPr>
                        <a:t>Hover 30–60 s, CG, vibration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JetBrains Mono"/>
                        </a:rPr>
                        <a:t>QHOVER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JetBrains Mono"/>
                        </a:rPr>
                        <a:t>Oscillation / mag-angle noise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</a:tr>
              <a:tr h="494607">
                <a:tc>
                  <a:txBody>
                    <a:bodyPr lIns="73152" rIns="54864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Inter"/>
                        </a:rPr>
                        <a:t>FT-2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JetBrains Mono"/>
                        </a:rPr>
                        <a:t>Pad ops, QLOITER box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JetBrains Mono"/>
                        </a:rPr>
                        <a:t>QLOITER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JetBrains Mono"/>
                        </a:rPr>
                        <a:t>GPS / compass disagree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</a:tr>
              <a:tr h="494607">
                <a:tc>
                  <a:txBody>
                    <a:bodyPr lIns="73152" rIns="54864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Inter"/>
                        </a:rPr>
                        <a:t>FT-3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JetBrains Mono"/>
                        </a:rPr>
                        <a:t>Low-speed translation, tilt 0°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JetBrains Mono"/>
                        </a:rPr>
                        <a:t>QHOVER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JetBrains Mono"/>
                        </a:rPr>
                        <a:t>Pilot PIO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</a:tr>
              <a:tr h="494607">
                <a:tc>
                  <a:txBody>
                    <a:bodyPr lIns="73152" rIns="54864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Inter"/>
                        </a:rPr>
                        <a:t>FT-4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JetBrains Mono"/>
                        </a:rPr>
                        <a:t>Partial tilt to 20–30°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JetBrains Mono"/>
                        </a:rPr>
                        <a:t>Transition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JetBrains Mono"/>
                        </a:rPr>
                        <a:t>Pitch upset, Vz band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</a:tr>
              <a:tr h="494607">
                <a:tc>
                  <a:txBody>
                    <a:bodyPr lIns="73152" rIns="54864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Inter"/>
                        </a:rPr>
                        <a:t>FT-5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JetBrains Mono"/>
                        </a:rPr>
                        <a:t>Full 75° to 20 m/s, short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JetBrains Mono"/>
                        </a:rPr>
                        <a:t>Trans. + FBWA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JetBrains Mono"/>
                        </a:rPr>
                        <a:t>Airspeed decay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</a:tr>
              <a:tr h="494607">
                <a:tc>
                  <a:txBody>
                    <a:bodyPr lIns="73152" rIns="54864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Inter"/>
                        </a:rPr>
                        <a:t>FT-6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JetBrains Mono"/>
                        </a:rPr>
                        <a:t>Wing-on power point 20 m/s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JetBrains Mono"/>
                        </a:rPr>
                        <a:t>CRUISE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JetBrains Mono"/>
                        </a:rPr>
                        <a:t>Current / temp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</a:tr>
              <a:tr h="494607">
                <a:tc>
                  <a:txBody>
                    <a:bodyPr lIns="73152" rIns="54864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Inter"/>
                        </a:rPr>
                        <a:t>FT-7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JetBrains Mono"/>
                        </a:rPr>
                        <a:t>Wing-off / rotor-borne compare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JetBrains Mono"/>
                        </a:rPr>
                        <a:t>VTOL fwd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JetBrains Mono"/>
                        </a:rPr>
                        <a:t>Power &gt; limit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</a:tr>
              <a:tr h="494607">
                <a:tc>
                  <a:txBody>
                    <a:bodyPr lIns="73152" rIns="54864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Inter"/>
                        </a:rPr>
                        <a:t>FT-8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JetBrains Mono"/>
                        </a:rPr>
                        <a:t>Repeatability ×3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JetBrains Mono"/>
                        </a:rPr>
                        <a:t>FT-6 profile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JetBrains Mono"/>
                        </a:rPr>
                        <a:t>Inconsistent IAS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</a:tr>
              <a:tr h="494607">
                <a:tc>
                  <a:txBody>
                    <a:bodyPr lIns="73152" rIns="54864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Inter"/>
                        </a:rPr>
                        <a:t>FT-9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JetBrains Mono"/>
                        </a:rPr>
                        <a:t>QRTL from cruise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JetBrains Mono"/>
                        </a:rPr>
                        <a:t>QRTL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JetBrains Mono"/>
                        </a:rPr>
                        <a:t>Tilt reverse stall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</a:tr>
              <a:tr h="494610">
                <a:tc>
                  <a:txBody>
                    <a:bodyPr lIns="73152" rIns="54864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Inter"/>
                        </a:rPr>
                        <a:t>FT-10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JetBrains Mono"/>
                        </a:rPr>
                        <a:t>Demo for faculty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JetBrains Mono"/>
                        </a:rPr>
                        <a:t>Rehearsed profile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JetBrains Mono"/>
                        </a:rPr>
                        <a:t>Any red abort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11338560" cy="256032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D4E8"/>
                </a:solidFill>
                <a:latin typeface="JetBrains Mono"/>
              </a:rPr>
              <a:t>32  / 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47472"/>
            <a:ext cx="11430000" cy="420624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Inter"/>
              </a:rPr>
              <a:t>Expected 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48272"/>
            <a:ext cx="12191999" cy="109728"/>
          </a:xfrm>
          <a:prstGeom prst="rect">
            <a:avLst/>
          </a:prstGeom>
          <a:solidFill>
            <a:srgbClr val="0C17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48272"/>
            <a:ext cx="12191999" cy="13716"/>
          </a:xfrm>
          <a:prstGeom prst="rect">
            <a:avLst/>
          </a:prstGeom>
          <a:solidFill>
            <a:srgbClr val="2434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757416"/>
            <a:ext cx="8412480" cy="91440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C6B82"/>
                </a:solidFill>
                <a:latin typeface="JetBrains Mono"/>
              </a:rPr>
              <a:t>PUSHPAK V1   ·   TILT-ROTOR VTOL DEMONSTRATOR   ·   FINAL YEAR DESIGN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46920" y="6757416"/>
            <a:ext cx="2148840" cy="91440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D4E8"/>
                </a:solidFill>
                <a:latin typeface="JetBrains Mono"/>
              </a:rPr>
              <a:t>33  /  40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" y="1115568"/>
            <a:ext cx="3639312" cy="2468880"/>
          </a:xfrm>
          <a:prstGeom prst="roundRect">
            <a:avLst>
              <a:gd name="adj" fmla="val 6000"/>
            </a:avLst>
          </a:prstGeom>
          <a:solidFill>
            <a:srgbClr val="121C30"/>
          </a:solidFill>
          <a:ln w="12700">
            <a:solidFill>
              <a:srgbClr val="243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4048" y="1115568"/>
            <a:ext cx="3639312" cy="41148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316736"/>
            <a:ext cx="3310128" cy="64008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JetBrains Mono"/>
              </a:rPr>
              <a:t>2.0×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075688"/>
            <a:ext cx="3310128" cy="36576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D4E8"/>
                </a:solidFill>
                <a:latin typeface="Inter"/>
              </a:rPr>
              <a:t>HOVER T/W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532888"/>
            <a:ext cx="3310128" cy="73152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D7DFEA"/>
                </a:solidFill>
                <a:latin typeface="Inter"/>
              </a:rPr>
              <a:t>9 kgf static on 4.5 kg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87952" y="1115568"/>
            <a:ext cx="3639312" cy="2468880"/>
          </a:xfrm>
          <a:prstGeom prst="roundRect">
            <a:avLst>
              <a:gd name="adj" fmla="val 6000"/>
            </a:avLst>
          </a:prstGeom>
          <a:solidFill>
            <a:srgbClr val="121C30"/>
          </a:solidFill>
          <a:ln w="12700">
            <a:solidFill>
              <a:srgbClr val="243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87952" y="1115568"/>
            <a:ext cx="3639312" cy="41148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52544" y="1316736"/>
            <a:ext cx="3310128" cy="64008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JetBrains Mono"/>
              </a:rPr>
              <a:t>0.395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52544" y="2075688"/>
            <a:ext cx="3310128" cy="36576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D4E8"/>
                </a:solidFill>
                <a:latin typeface="Inter"/>
              </a:rPr>
              <a:t>CRUISE CL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52544" y="2532888"/>
            <a:ext cx="3310128" cy="73152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D7DFEA"/>
                </a:solidFill>
                <a:latin typeface="Inter"/>
              </a:rPr>
              <a:t>70% weight at 20 m/s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91856" y="1115568"/>
            <a:ext cx="3639312" cy="2468880"/>
          </a:xfrm>
          <a:prstGeom prst="roundRect">
            <a:avLst>
              <a:gd name="adj" fmla="val 6000"/>
            </a:avLst>
          </a:prstGeom>
          <a:solidFill>
            <a:srgbClr val="121C30"/>
          </a:solidFill>
          <a:ln w="12700">
            <a:solidFill>
              <a:srgbClr val="243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991856" y="1115568"/>
            <a:ext cx="3639312" cy="41148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56448" y="1316736"/>
            <a:ext cx="3310128" cy="64008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JetBrains Mono"/>
              </a:rPr>
              <a:t>~40–55%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56448" y="2075688"/>
            <a:ext cx="3310128" cy="36576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D4E8"/>
                </a:solidFill>
                <a:latin typeface="Inter"/>
              </a:rPr>
              <a:t>POWER CUT (EST.)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56448" y="2532888"/>
            <a:ext cx="3310128" cy="73152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D7DFEA"/>
                </a:solidFill>
                <a:latin typeface="Inter"/>
              </a:rPr>
              <a:t>Wing-on vs wing-off fwd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4048" y="3767328"/>
            <a:ext cx="3639312" cy="2468880"/>
          </a:xfrm>
          <a:prstGeom prst="roundRect">
            <a:avLst>
              <a:gd name="adj" fmla="val 6000"/>
            </a:avLst>
          </a:prstGeom>
          <a:solidFill>
            <a:srgbClr val="121C30"/>
          </a:solidFill>
          <a:ln w="12700">
            <a:solidFill>
              <a:srgbClr val="243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84048" y="3767328"/>
            <a:ext cx="3639312" cy="41148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3968496"/>
            <a:ext cx="3310128" cy="64008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JetBrains Mono"/>
              </a:rPr>
              <a:t>≤ 3.5 kg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727448"/>
            <a:ext cx="3310128" cy="36576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D4E8"/>
                </a:solidFill>
                <a:latin typeface="Inter"/>
              </a:rPr>
              <a:t>EMPTY MASS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184648"/>
            <a:ext cx="3310128" cy="73152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D7DFEA"/>
                </a:solidFill>
                <a:latin typeface="Inter"/>
              </a:rPr>
              <a:t>Hard engineering target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187952" y="3767328"/>
            <a:ext cx="3639312" cy="2468880"/>
          </a:xfrm>
          <a:prstGeom prst="roundRect">
            <a:avLst>
              <a:gd name="adj" fmla="val 6000"/>
            </a:avLst>
          </a:prstGeom>
          <a:solidFill>
            <a:srgbClr val="121C30"/>
          </a:solidFill>
          <a:ln w="12700">
            <a:solidFill>
              <a:srgbClr val="243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187952" y="3767328"/>
            <a:ext cx="3639312" cy="41148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52544" y="3968496"/>
            <a:ext cx="3310128" cy="64008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JetBrains Mono"/>
              </a:rPr>
              <a:t>75°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52544" y="4727448"/>
            <a:ext cx="3310128" cy="36576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D4E8"/>
                </a:solidFill>
                <a:latin typeface="Inter"/>
              </a:rPr>
              <a:t>TILT STOP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52544" y="5184648"/>
            <a:ext cx="3310128" cy="73152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D7DFEA"/>
                </a:solidFill>
                <a:latin typeface="Inter"/>
              </a:rPr>
              <a:t>Encoder-confirmed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991856" y="3767328"/>
            <a:ext cx="3639312" cy="2468880"/>
          </a:xfrm>
          <a:prstGeom prst="roundRect">
            <a:avLst>
              <a:gd name="adj" fmla="val 6000"/>
            </a:avLst>
          </a:prstGeom>
          <a:solidFill>
            <a:srgbClr val="121C30"/>
          </a:solidFill>
          <a:ln w="12700">
            <a:solidFill>
              <a:srgbClr val="243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991856" y="3767328"/>
            <a:ext cx="3639312" cy="41148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56448" y="3968496"/>
            <a:ext cx="3310128" cy="64008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JetBrains Mono"/>
              </a:rPr>
              <a:t>1.0 kg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56448" y="4727448"/>
            <a:ext cx="3310128" cy="36576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D4E8"/>
                </a:solidFill>
                <a:latin typeface="Inter"/>
              </a:rPr>
              <a:t>PAYLOAD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56448" y="5184648"/>
            <a:ext cx="3310128" cy="73152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D7DFEA"/>
                </a:solidFill>
                <a:latin typeface="Inter"/>
              </a:rPr>
              <a:t>Carried at design point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11338560" cy="256032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D4E8"/>
                </a:solidFill>
                <a:latin typeface="JetBrains Mono"/>
              </a:rPr>
              <a:t>33  /  EXPERIMENT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47472"/>
            <a:ext cx="11430000" cy="420624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Inter"/>
              </a:rPr>
              <a:t>Wing-On vs Wing-Off Power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749808"/>
            <a:ext cx="11338560" cy="256032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A97AD"/>
                </a:solidFill>
                <a:latin typeface="Inter"/>
              </a:rPr>
              <a:t>Estimates only  ·  MTOW 4.5 kg  ·  6S  ·  16-inch class  ·  V = 20 m/s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48272"/>
            <a:ext cx="12191999" cy="109728"/>
          </a:xfrm>
          <a:prstGeom prst="rect">
            <a:avLst/>
          </a:prstGeom>
          <a:solidFill>
            <a:srgbClr val="0C17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91999" cy="13716"/>
          </a:xfrm>
          <a:prstGeom prst="rect">
            <a:avLst/>
          </a:prstGeom>
          <a:solidFill>
            <a:srgbClr val="2434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757416"/>
            <a:ext cx="8412480" cy="91440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C6B82"/>
                </a:solidFill>
                <a:latin typeface="JetBrains Mono"/>
              </a:rPr>
              <a:t>PUSHPAK V1   ·   TILT-ROTOR VTOL DEMONSTRATOR   ·   FINAL YEAR DESIGN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46920" y="6757416"/>
            <a:ext cx="2148840" cy="91440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D4E8"/>
                </a:solidFill>
                <a:latin typeface="JetBrains Mono"/>
              </a:rPr>
              <a:t>34  /  40</a:t>
            </a:r>
          </a:p>
        </p:txBody>
      </p:sp>
      <p:pic>
        <p:nvPicPr>
          <p:cNvPr id="10" name="Picture 9" descr="power_comp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78992"/>
            <a:ext cx="7452360" cy="41605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274320" y="1078992"/>
            <a:ext cx="128016" cy="16459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1078992"/>
            <a:ext cx="16459" cy="128016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598664" y="1078992"/>
            <a:ext cx="128016" cy="16459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10220" y="1078992"/>
            <a:ext cx="16459" cy="128016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5223052"/>
            <a:ext cx="128016" cy="16459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5111496"/>
            <a:ext cx="16459" cy="128016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598664" y="5223052"/>
            <a:ext cx="128016" cy="16459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10220" y="5111496"/>
            <a:ext cx="16459" cy="128016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863840" y="1078992"/>
            <a:ext cx="3931920" cy="4160520"/>
          </a:xfrm>
          <a:prstGeom prst="roundRect">
            <a:avLst>
              <a:gd name="adj" fmla="val 6000"/>
            </a:avLst>
          </a:prstGeom>
          <a:solidFill>
            <a:srgbClr val="121C30"/>
          </a:solidFill>
          <a:ln w="12700">
            <a:solidFill>
              <a:srgbClr val="243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863840" y="1078992"/>
            <a:ext cx="3931920" cy="41148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28431" y="1243584"/>
            <a:ext cx="3657600" cy="27432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D4E8"/>
                </a:solidFill>
                <a:latin typeface="JetBrains Mono"/>
              </a:rPr>
              <a:t>WHAT WE WILL FLY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79" y="1600200"/>
            <a:ext cx="3703320" cy="338328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D7DFEA"/>
                </a:solidFill>
                <a:latin typeface="Inter"/>
              </a:rPr>
              <a:t>▸  Same mass, same pack, same day.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D7DFEA"/>
                </a:solidFill>
                <a:latin typeface="Inter"/>
              </a:rPr>
              <a:t>▸  Stabilised 20 m/s run, level.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D7DFEA"/>
                </a:solidFill>
                <a:latin typeface="Inter"/>
              </a:rPr>
              <a:t>▸  Log W = V×I, IAS, tilt, RPM.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D7DFEA"/>
                </a:solidFill>
                <a:latin typeface="Inter"/>
              </a:rPr>
              <a:t>▸  Three repeats each config.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D7DFEA"/>
                </a:solidFill>
                <a:latin typeface="Inter"/>
              </a:rPr>
              <a:t>▸  Report mean, min, max — not a single heroic pass.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D7DFEA"/>
                </a:solidFill>
                <a:latin typeface="Inter"/>
              </a:rPr>
              <a:t>▸  If removable wing is unsafe, lock tilt at 0° for the rotor-borne leg.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84048" y="5394960"/>
            <a:ext cx="11411712" cy="1097280"/>
          </a:xfrm>
          <a:prstGeom prst="roundRect">
            <a:avLst>
              <a:gd name="adj" fmla="val 6000"/>
            </a:avLst>
          </a:prstGeom>
          <a:solidFill>
            <a:srgbClr val="121C30"/>
          </a:solidFill>
          <a:ln w="12700">
            <a:solidFill>
              <a:srgbClr val="243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84048" y="5394960"/>
            <a:ext cx="11411712" cy="41148"/>
          </a:xfrm>
          <a:prstGeom prst="rect">
            <a:avLst/>
          </a:prstGeom>
          <a:solidFill>
            <a:srgbClr val="F5B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5623560"/>
            <a:ext cx="11064240" cy="68580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Inter"/>
              </a:rPr>
              <a:t>Success criterion   ·   statistically lower electrical power in the wing-on condition at matched MTOW and airspeed   ·   uncertainty reported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11338560" cy="256032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D4E8"/>
                </a:solidFill>
                <a:latin typeface="JetBrains Mono"/>
              </a:rPr>
              <a:t>34  / 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47472"/>
            <a:ext cx="11430000" cy="420624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Inter"/>
              </a:rPr>
              <a:t>Risks and Mitigation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48272"/>
            <a:ext cx="12191999" cy="109728"/>
          </a:xfrm>
          <a:prstGeom prst="rect">
            <a:avLst/>
          </a:prstGeom>
          <a:solidFill>
            <a:srgbClr val="0C17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48272"/>
            <a:ext cx="12191999" cy="13716"/>
          </a:xfrm>
          <a:prstGeom prst="rect">
            <a:avLst/>
          </a:prstGeom>
          <a:solidFill>
            <a:srgbClr val="2434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757416"/>
            <a:ext cx="8412480" cy="91440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C6B82"/>
                </a:solidFill>
                <a:latin typeface="JetBrains Mono"/>
              </a:rPr>
              <a:t>PUSHPAK V1   ·   TILT-ROTOR VTOL DEMONSTRATOR   ·   FINAL YEAR DESIGN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46920" y="6757416"/>
            <a:ext cx="2148840" cy="91440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D4E8"/>
                </a:solidFill>
                <a:latin typeface="JetBrains Mono"/>
              </a:rPr>
              <a:t>35  /  40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84048" y="1078992"/>
          <a:ext cx="11411712" cy="544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2342"/>
                <a:gridCol w="2282342"/>
                <a:gridCol w="2282342"/>
                <a:gridCol w="2282342"/>
                <a:gridCol w="2282344"/>
              </a:tblGrid>
              <a:tr h="494607">
                <a:tc>
                  <a:txBody>
                    <a:bodyPr lIns="73152" rIns="54864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00D4E8"/>
                          </a:solidFill>
                          <a:latin typeface="JetBrains Mono"/>
                        </a:rPr>
                        <a:t>ID</a:t>
                      </a:r>
                    </a:p>
                  </a:txBody>
                  <a:tcPr anchor="ctr">
                    <a:solidFill>
                      <a:srgbClr val="0D3C4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00D4E8"/>
                          </a:solidFill>
                          <a:latin typeface="JetBrains Mono"/>
                        </a:rPr>
                        <a:t>Risk</a:t>
                      </a:r>
                    </a:p>
                  </a:txBody>
                  <a:tcPr anchor="ctr">
                    <a:solidFill>
                      <a:srgbClr val="0D3C4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00D4E8"/>
                          </a:solidFill>
                          <a:latin typeface="JetBrains Mono"/>
                        </a:rPr>
                        <a:t>L</a:t>
                      </a:r>
                    </a:p>
                  </a:txBody>
                  <a:tcPr anchor="ctr">
                    <a:solidFill>
                      <a:srgbClr val="0D3C4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00D4E8"/>
                          </a:solidFill>
                          <a:latin typeface="JetBrains Mono"/>
                        </a:rPr>
                        <a:t>C</a:t>
                      </a:r>
                    </a:p>
                  </a:txBody>
                  <a:tcPr anchor="ctr">
                    <a:solidFill>
                      <a:srgbClr val="0D3C4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00D4E8"/>
                          </a:solidFill>
                          <a:latin typeface="JetBrains Mono"/>
                        </a:rPr>
                        <a:t>Mitigation</a:t>
                      </a:r>
                    </a:p>
                  </a:txBody>
                  <a:tcPr anchor="ctr">
                    <a:solidFill>
                      <a:srgbClr val="0D3C4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</a:tr>
              <a:tr h="494607">
                <a:tc>
                  <a:txBody>
                    <a:bodyPr lIns="73152" rIns="54864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Inter"/>
                        </a:rPr>
                        <a:t>R1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JetBrains Mono"/>
                        </a:rPr>
                        <a:t>MTOW &gt; 4.9 kg (battery / prints)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JetBrains Mono"/>
                        </a:rPr>
                        <a:t>M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JetBrains Mono"/>
                        </a:rPr>
                        <a:t>H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JetBrains Mono"/>
                        </a:rPr>
                        <a:t>Weekly CAD mass; foam wing; pack downsize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</a:tr>
              <a:tr h="494607">
                <a:tc>
                  <a:txBody>
                    <a:bodyPr lIns="73152" rIns="54864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Inter"/>
                        </a:rPr>
                        <a:t>R2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JetBrains Mono"/>
                        </a:rPr>
                        <a:t>Static thrust &lt; 2.25 kgf / motor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JetBrains Mono"/>
                        </a:rPr>
                        <a:t>M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JetBrains Mono"/>
                        </a:rPr>
                        <a:t>H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JetBrains Mono"/>
                        </a:rPr>
                        <a:t>Stand map before CAD freeze; prop pitch options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</a:tr>
              <a:tr h="494607">
                <a:tc>
                  <a:txBody>
                    <a:bodyPr lIns="73152" rIns="54864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Inter"/>
                        </a:rPr>
                        <a:t>R3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JetBrains Mono"/>
                        </a:rPr>
                        <a:t>Transition pitch-up / ballooning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JetBrains Mono"/>
                        </a:rPr>
                        <a:t>M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JetBrains Mono"/>
                        </a:rPr>
                        <a:t>H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JetBrains Mono"/>
                        </a:rPr>
                        <a:t>CFD C4; slow tilt rate; abort to QHOVER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</a:tr>
              <a:tr h="494607">
                <a:tc>
                  <a:txBody>
                    <a:bodyPr lIns="73152" rIns="54864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Inter"/>
                        </a:rPr>
                        <a:t>R4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JetBrains Mono"/>
                        </a:rPr>
                        <a:t>Tilt jam / servo stall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JetBrains Mono"/>
                        </a:rPr>
                        <a:t>L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JetBrains Mono"/>
                        </a:rPr>
                        <a:t>H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JetBrains Mono"/>
                        </a:rPr>
                        <a:t>Stops, dual mag-angle, current trip, shaft bearings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</a:tr>
              <a:tr h="494607">
                <a:tc>
                  <a:txBody>
                    <a:bodyPr lIns="73152" rIns="54864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Inter"/>
                        </a:rPr>
                        <a:t>R5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JetBrains Mono"/>
                        </a:rPr>
                        <a:t>Li-ion sag under hover current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JetBrains Mono"/>
                        </a:rPr>
                        <a:t>M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JetBrains Mono"/>
                        </a:rPr>
                        <a:t>H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JetBrains Mono"/>
                        </a:rPr>
                        <a:t>Stand + IR test; keep LiPo backup pack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</a:tr>
              <a:tr h="494607">
                <a:tc>
                  <a:txBody>
                    <a:bodyPr lIns="73152" rIns="54864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Inter"/>
                        </a:rPr>
                        <a:t>R6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JetBrains Mono"/>
                        </a:rPr>
                        <a:t>Pitot / IAS false transition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JetBrains Mono"/>
                        </a:rPr>
                        <a:t>M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JetBrains Mono"/>
                        </a:rPr>
                        <a:t>M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JetBrains Mono"/>
                        </a:rPr>
                        <a:t>Fail-detect; inhibit tilt on IAS invalid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</a:tr>
              <a:tr h="494607">
                <a:tc>
                  <a:txBody>
                    <a:bodyPr lIns="73152" rIns="54864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Inter"/>
                        </a:rPr>
                        <a:t>R7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JetBrains Mono"/>
                        </a:rPr>
                        <a:t>EMI on compass / mag angle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JetBrains Mono"/>
                        </a:rPr>
                        <a:t>M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JetBrains Mono"/>
                        </a:rPr>
                        <a:t>M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JetBrains Mono"/>
                        </a:rPr>
                        <a:t>Routing, shielding, GT-8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</a:tr>
              <a:tr h="494607">
                <a:tc>
                  <a:txBody>
                    <a:bodyPr lIns="73152" rIns="54864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Inter"/>
                        </a:rPr>
                        <a:t>R8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JetBrains Mono"/>
                        </a:rPr>
                        <a:t>Schedule slip on manufacture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JetBrains Mono"/>
                        </a:rPr>
                        <a:t>H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JetBrains Mono"/>
                        </a:rPr>
                        <a:t>M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JetBrains Mono"/>
                        </a:rPr>
                        <a:t>COTS-first; parallel tilt bench article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</a:tr>
              <a:tr h="494607">
                <a:tc>
                  <a:txBody>
                    <a:bodyPr lIns="73152" rIns="54864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Inter"/>
                        </a:rPr>
                        <a:t>R9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JetBrains Mono"/>
                        </a:rPr>
                        <a:t>Loss of vehicle on first free flight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JetBrains Mono"/>
                        </a:rPr>
                        <a:t>M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JetBrains Mono"/>
                        </a:rPr>
                        <a:t>H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JetBrains Mono"/>
                        </a:rPr>
                        <a:t>Tether, geofence, two-person crew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</a:tr>
              <a:tr h="494610">
                <a:tc>
                  <a:txBody>
                    <a:bodyPr lIns="73152" rIns="54864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Inter"/>
                        </a:rPr>
                        <a:t>R10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JetBrains Mono"/>
                        </a:rPr>
                        <a:t>Inconclusive power comparison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JetBrains Mono"/>
                        </a:rPr>
                        <a:t>M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JetBrains Mono"/>
                        </a:rPr>
                        <a:t>H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D7DFEA"/>
                          </a:solidFill>
                          <a:latin typeface="JetBrains Mono"/>
                        </a:rPr>
                        <a:t>DAQ cal, repeats, locked test card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11338560" cy="256032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D4E8"/>
                </a:solidFill>
                <a:latin typeface="JetBrains Mono"/>
              </a:rPr>
              <a:t>35  / 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47472"/>
            <a:ext cx="11430000" cy="420624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Inter"/>
              </a:rPr>
              <a:t>Future Improvements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48272"/>
            <a:ext cx="12191999" cy="109728"/>
          </a:xfrm>
          <a:prstGeom prst="rect">
            <a:avLst/>
          </a:prstGeom>
          <a:solidFill>
            <a:srgbClr val="0C17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48272"/>
            <a:ext cx="12191999" cy="13716"/>
          </a:xfrm>
          <a:prstGeom prst="rect">
            <a:avLst/>
          </a:prstGeom>
          <a:solidFill>
            <a:srgbClr val="2434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757416"/>
            <a:ext cx="8412480" cy="91440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C6B82"/>
                </a:solidFill>
                <a:latin typeface="JetBrains Mono"/>
              </a:rPr>
              <a:t>PUSHPAK V1   ·   TILT-ROTOR VTOL DEMONSTRATOR   ·   FINAL YEAR DESIGN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46920" y="6757416"/>
            <a:ext cx="2148840" cy="91440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D4E8"/>
                </a:solidFill>
                <a:latin typeface="JetBrains Mono"/>
              </a:rPr>
              <a:t>36  /  40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" y="1115568"/>
            <a:ext cx="5669280" cy="1143000"/>
          </a:xfrm>
          <a:prstGeom prst="roundRect">
            <a:avLst>
              <a:gd name="adj" fmla="val 6000"/>
            </a:avLst>
          </a:prstGeom>
          <a:solidFill>
            <a:srgbClr val="121C30"/>
          </a:solidFill>
          <a:ln w="12700">
            <a:solidFill>
              <a:srgbClr val="243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4048" y="1115568"/>
            <a:ext cx="5669280" cy="41148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261872"/>
            <a:ext cx="1188720" cy="822960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D4E8"/>
                </a:solidFill>
                <a:latin typeface="JetBrains Mono"/>
              </a:rPr>
              <a:t>V1.1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1368" y="1316736"/>
            <a:ext cx="4069080" cy="777240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D7DFEA"/>
                </a:solidFill>
                <a:latin typeface="Inter"/>
              </a:rPr>
              <a:t>90° tilt option if 75° leaves unused axial efficiency.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8" y="1115568"/>
            <a:ext cx="5669280" cy="1143000"/>
          </a:xfrm>
          <a:prstGeom prst="roundRect">
            <a:avLst>
              <a:gd name="adj" fmla="val 6000"/>
            </a:avLst>
          </a:prstGeom>
          <a:solidFill>
            <a:srgbClr val="121C30"/>
          </a:solidFill>
          <a:ln w="12700">
            <a:solidFill>
              <a:srgbClr val="243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36208" y="1115568"/>
            <a:ext cx="5669280" cy="41148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261872"/>
            <a:ext cx="1188720" cy="822960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D4E8"/>
                </a:solidFill>
                <a:latin typeface="JetBrains Mono"/>
              </a:rPr>
              <a:t>V1.1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53528" y="1316736"/>
            <a:ext cx="4069080" cy="777240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D7DFEA"/>
                </a:solidFill>
                <a:latin typeface="Inter"/>
              </a:rPr>
              <a:t>Folding props or larger disk if hover thermal is the limiter.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4048" y="2395728"/>
            <a:ext cx="5669280" cy="1143000"/>
          </a:xfrm>
          <a:prstGeom prst="roundRect">
            <a:avLst>
              <a:gd name="adj" fmla="val 6000"/>
            </a:avLst>
          </a:prstGeom>
          <a:solidFill>
            <a:srgbClr val="121C30"/>
          </a:solidFill>
          <a:ln w="12700">
            <a:solidFill>
              <a:srgbClr val="243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84048" y="2395728"/>
            <a:ext cx="5669280" cy="41148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2542032"/>
            <a:ext cx="1188720" cy="822960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D4E8"/>
                </a:solidFill>
                <a:latin typeface="JetBrains Mono"/>
              </a:rPr>
              <a:t>V2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01368" y="2596896"/>
            <a:ext cx="4069080" cy="777240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D7DFEA"/>
                </a:solidFill>
                <a:latin typeface="Inter"/>
              </a:rPr>
              <a:t>Span / AR increase once manufacturing of the 1.3 m wing is proven.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6208" y="2395728"/>
            <a:ext cx="5669280" cy="1143000"/>
          </a:xfrm>
          <a:prstGeom prst="roundRect">
            <a:avLst>
              <a:gd name="adj" fmla="val 6000"/>
            </a:avLst>
          </a:prstGeom>
          <a:solidFill>
            <a:srgbClr val="121C30"/>
          </a:solidFill>
          <a:ln w="12700">
            <a:solidFill>
              <a:srgbClr val="243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6208" y="2395728"/>
            <a:ext cx="5669280" cy="41148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2542032"/>
            <a:ext cx="1188720" cy="822960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D4E8"/>
                </a:solidFill>
                <a:latin typeface="JetBrains Mono"/>
              </a:rPr>
              <a:t>V2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53528" y="2596896"/>
            <a:ext cx="4069080" cy="777240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D7DFEA"/>
                </a:solidFill>
                <a:latin typeface="Inter"/>
              </a:rPr>
              <a:t>Independent motor-pod tilt (true tilt-rotor) vs paired shafts.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84048" y="3675887"/>
            <a:ext cx="5669280" cy="1143000"/>
          </a:xfrm>
          <a:prstGeom prst="roundRect">
            <a:avLst>
              <a:gd name="adj" fmla="val 6000"/>
            </a:avLst>
          </a:prstGeom>
          <a:solidFill>
            <a:srgbClr val="121C30"/>
          </a:solidFill>
          <a:ln w="12700">
            <a:solidFill>
              <a:srgbClr val="243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84048" y="3675887"/>
            <a:ext cx="5669280" cy="41148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3822191"/>
            <a:ext cx="1188720" cy="822960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D4E8"/>
                </a:solidFill>
                <a:latin typeface="JetBrains Mono"/>
              </a:rPr>
              <a:t>V2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01368" y="3877055"/>
            <a:ext cx="4069080" cy="777240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D7DFEA"/>
                </a:solidFill>
                <a:latin typeface="Inter"/>
              </a:rPr>
              <a:t>Front/rear differential tilt as a pitch moment source.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36208" y="3675887"/>
            <a:ext cx="5669280" cy="1143000"/>
          </a:xfrm>
          <a:prstGeom prst="roundRect">
            <a:avLst>
              <a:gd name="adj" fmla="val 6000"/>
            </a:avLst>
          </a:prstGeom>
          <a:solidFill>
            <a:srgbClr val="121C30"/>
          </a:solidFill>
          <a:ln w="12700">
            <a:solidFill>
              <a:srgbClr val="243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36208" y="3675887"/>
            <a:ext cx="5669280" cy="41148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3822191"/>
            <a:ext cx="1188720" cy="822960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D4E8"/>
                </a:solidFill>
                <a:latin typeface="JetBrains Mono"/>
              </a:rPr>
              <a:t>V2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53528" y="3877055"/>
            <a:ext cx="4069080" cy="777240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D7DFEA"/>
                </a:solidFill>
                <a:latin typeface="Inter"/>
              </a:rPr>
              <a:t>Onboard real-time CL estimator from pitot + IMU + mass.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84048" y="4956047"/>
            <a:ext cx="5669280" cy="1143000"/>
          </a:xfrm>
          <a:prstGeom prst="roundRect">
            <a:avLst>
              <a:gd name="adj" fmla="val 6000"/>
            </a:avLst>
          </a:prstGeom>
          <a:solidFill>
            <a:srgbClr val="121C30"/>
          </a:solidFill>
          <a:ln w="12700">
            <a:solidFill>
              <a:srgbClr val="243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84048" y="4956047"/>
            <a:ext cx="5669280" cy="41148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5102351"/>
            <a:ext cx="1188720" cy="822960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D4E8"/>
                </a:solidFill>
                <a:latin typeface="JetBrains Mono"/>
              </a:rPr>
              <a:t>V3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801368" y="5157215"/>
            <a:ext cx="4069080" cy="777240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D7DFEA"/>
                </a:solidFill>
                <a:latin typeface="Inter"/>
              </a:rPr>
              <a:t>Redundant FC / dual battery if we ever leave the demo role.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36208" y="4956047"/>
            <a:ext cx="5669280" cy="1143000"/>
          </a:xfrm>
          <a:prstGeom prst="roundRect">
            <a:avLst>
              <a:gd name="adj" fmla="val 6000"/>
            </a:avLst>
          </a:prstGeom>
          <a:solidFill>
            <a:srgbClr val="121C30"/>
          </a:solidFill>
          <a:ln w="12700">
            <a:solidFill>
              <a:srgbClr val="243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36208" y="4956047"/>
            <a:ext cx="5669280" cy="41148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0" y="5102351"/>
            <a:ext cx="1188720" cy="822960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0D4E8"/>
                </a:solidFill>
                <a:latin typeface="JetBrains Mono"/>
              </a:rPr>
              <a:t>V3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53528" y="5157215"/>
            <a:ext cx="4069080" cy="777240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D7DFEA"/>
                </a:solidFill>
                <a:latin typeface="Inter"/>
              </a:rPr>
              <a:t>Mission payload (EO) replacing the 1 kg dummy — only after power is shown.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11338560" cy="256032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D4E8"/>
                </a:solidFill>
                <a:latin typeface="JetBrains Mono"/>
              </a:rPr>
              <a:t>36  /  SCHEDULE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47472"/>
            <a:ext cx="11430000" cy="420624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Inter"/>
              </a:rPr>
              <a:t>Project Timeline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48272"/>
            <a:ext cx="12191999" cy="109728"/>
          </a:xfrm>
          <a:prstGeom prst="rect">
            <a:avLst/>
          </a:prstGeom>
          <a:solidFill>
            <a:srgbClr val="0C17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48272"/>
            <a:ext cx="12191999" cy="13716"/>
          </a:xfrm>
          <a:prstGeom prst="rect">
            <a:avLst/>
          </a:prstGeom>
          <a:solidFill>
            <a:srgbClr val="2434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757416"/>
            <a:ext cx="8412480" cy="91440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C6B82"/>
                </a:solidFill>
                <a:latin typeface="JetBrains Mono"/>
              </a:rPr>
              <a:t>PUSHPAK V1   ·   TILT-ROTOR VTOL DEMONSTRATOR   ·   FINAL YEAR DESIGN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46920" y="6757416"/>
            <a:ext cx="2148840" cy="91440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D4E8"/>
                </a:solidFill>
                <a:latin typeface="JetBrains Mono"/>
              </a:rPr>
              <a:t>37  /  40</a:t>
            </a:r>
          </a:p>
        </p:txBody>
      </p:sp>
      <p:pic>
        <p:nvPicPr>
          <p:cNvPr id="9" name="Picture 8" descr="tim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78992"/>
            <a:ext cx="11612880" cy="379476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384048" y="5029200"/>
            <a:ext cx="2788920" cy="1463040"/>
          </a:xfrm>
          <a:prstGeom prst="roundRect">
            <a:avLst>
              <a:gd name="adj" fmla="val 6000"/>
            </a:avLst>
          </a:prstGeom>
          <a:solidFill>
            <a:srgbClr val="121C30"/>
          </a:solidFill>
          <a:ln w="12700">
            <a:solidFill>
              <a:srgbClr val="243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5029200"/>
            <a:ext cx="2788920" cy="41148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64" y="5138928"/>
            <a:ext cx="2514600" cy="237744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D4E8"/>
                </a:solidFill>
                <a:latin typeface="JetBrains Mono"/>
              </a:rPr>
              <a:t>M2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" y="5394960"/>
            <a:ext cx="2514600" cy="292608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Inter"/>
              </a:rPr>
              <a:t>PDR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" y="5742432"/>
            <a:ext cx="2514600" cy="54864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D7DFEA"/>
                </a:solidFill>
                <a:latin typeface="Inter"/>
              </a:rPr>
              <a:t>Config, mass, thrust frozen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10128" y="5029200"/>
            <a:ext cx="2788920" cy="1463040"/>
          </a:xfrm>
          <a:prstGeom prst="roundRect">
            <a:avLst>
              <a:gd name="adj" fmla="val 6000"/>
            </a:avLst>
          </a:prstGeom>
          <a:solidFill>
            <a:srgbClr val="121C30"/>
          </a:solidFill>
          <a:ln w="12700">
            <a:solidFill>
              <a:srgbClr val="243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10128" y="5029200"/>
            <a:ext cx="2788920" cy="41148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38144" y="5138928"/>
            <a:ext cx="2514600" cy="237744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D4E8"/>
                </a:solidFill>
                <a:latin typeface="JetBrains Mono"/>
              </a:rPr>
              <a:t>M5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38144" y="5394960"/>
            <a:ext cx="2514600" cy="292608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Inter"/>
              </a:rPr>
              <a:t>CDR / proto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38144" y="5742432"/>
            <a:ext cx="2514600" cy="54864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D7DFEA"/>
                </a:solidFill>
                <a:latin typeface="Inter"/>
              </a:rPr>
              <a:t>Vehicle complete, GT-10 done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5029200"/>
            <a:ext cx="2788920" cy="1463040"/>
          </a:xfrm>
          <a:prstGeom prst="roundRect">
            <a:avLst>
              <a:gd name="adj" fmla="val 6000"/>
            </a:avLst>
          </a:prstGeom>
          <a:solidFill>
            <a:srgbClr val="121C30"/>
          </a:solidFill>
          <a:ln w="12700">
            <a:solidFill>
              <a:srgbClr val="243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6208" y="5029200"/>
            <a:ext cx="2788920" cy="41148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5138928"/>
            <a:ext cx="2514600" cy="237744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D4E8"/>
                </a:solidFill>
                <a:latin typeface="JetBrains Mono"/>
              </a:rPr>
              <a:t>M7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4224" y="5394960"/>
            <a:ext cx="2514600" cy="292608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Inter"/>
              </a:rPr>
              <a:t>FT-6/7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64224" y="5742432"/>
            <a:ext cx="2514600" cy="54864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D7DFEA"/>
                </a:solidFill>
                <a:latin typeface="Inter"/>
              </a:rPr>
              <a:t>Power comparison in hand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62288" y="5029200"/>
            <a:ext cx="2788920" cy="1463040"/>
          </a:xfrm>
          <a:prstGeom prst="roundRect">
            <a:avLst>
              <a:gd name="adj" fmla="val 6000"/>
            </a:avLst>
          </a:prstGeom>
          <a:solidFill>
            <a:srgbClr val="121C30"/>
          </a:solidFill>
          <a:ln w="12700">
            <a:solidFill>
              <a:srgbClr val="243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162288" y="5029200"/>
            <a:ext cx="2788920" cy="41148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90304" y="5138928"/>
            <a:ext cx="2514600" cy="237744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D4E8"/>
                </a:solidFill>
                <a:latin typeface="JetBrains Mono"/>
              </a:rPr>
              <a:t>M8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90304" y="5394960"/>
            <a:ext cx="2514600" cy="292608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Inter"/>
              </a:rPr>
              <a:t>Closeout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90304" y="5742432"/>
            <a:ext cx="2514600" cy="54864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D7DFEA"/>
                </a:solidFill>
                <a:latin typeface="Inter"/>
              </a:rPr>
              <a:t>Report, demo, archive logs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11338560" cy="256032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D4E8"/>
                </a:solidFill>
                <a:latin typeface="JetBrains Mono"/>
              </a:rPr>
              <a:t>37  /  BUDGET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47472"/>
            <a:ext cx="11430000" cy="420624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Inter"/>
              </a:rPr>
              <a:t>Budget Estimate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749808"/>
            <a:ext cx="11338560" cy="256032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A97AD"/>
                </a:solidFill>
                <a:latin typeface="Inter"/>
              </a:rPr>
              <a:t>Planning estimate  ·  COTS-heavy  ·  university workshop labour not costed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48272"/>
            <a:ext cx="12191999" cy="109728"/>
          </a:xfrm>
          <a:prstGeom prst="rect">
            <a:avLst/>
          </a:prstGeom>
          <a:solidFill>
            <a:srgbClr val="0C17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91999" cy="13716"/>
          </a:xfrm>
          <a:prstGeom prst="rect">
            <a:avLst/>
          </a:prstGeom>
          <a:solidFill>
            <a:srgbClr val="2434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6757416"/>
            <a:ext cx="8412480" cy="91440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C6B82"/>
                </a:solidFill>
                <a:latin typeface="JetBrains Mono"/>
              </a:rPr>
              <a:t>PUSHPAK V1   ·   TILT-ROTOR VTOL DEMONSTRATOR   ·   FINAL YEAR DESIGN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46920" y="6757416"/>
            <a:ext cx="2148840" cy="91440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D4E8"/>
                </a:solidFill>
                <a:latin typeface="JetBrains Mono"/>
              </a:rPr>
              <a:t>38  /  40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84048" y="1078992"/>
          <a:ext cx="11411712" cy="544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2928"/>
                <a:gridCol w="2852928"/>
                <a:gridCol w="2852928"/>
                <a:gridCol w="2852928"/>
              </a:tblGrid>
              <a:tr h="494607">
                <a:tc>
                  <a:txBody>
                    <a:bodyPr lIns="73152" rIns="54864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00D4E8"/>
                          </a:solidFill>
                          <a:latin typeface="JetBrains Mono"/>
                        </a:rPr>
                        <a:t>WBS</a:t>
                      </a:r>
                    </a:p>
                  </a:txBody>
                  <a:tcPr anchor="ctr">
                    <a:solidFill>
                      <a:srgbClr val="0D3C4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00D4E8"/>
                          </a:solidFill>
                          <a:latin typeface="JetBrains Mono"/>
                        </a:rPr>
                        <a:t>Group</a:t>
                      </a:r>
                    </a:p>
                  </a:txBody>
                  <a:tcPr anchor="ctr">
                    <a:solidFill>
                      <a:srgbClr val="0D3C4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00D4E8"/>
                          </a:solidFill>
                          <a:latin typeface="JetBrains Mono"/>
                        </a:rPr>
                        <a:t>Basis</a:t>
                      </a:r>
                    </a:p>
                  </a:txBody>
                  <a:tcPr anchor="ctr">
                    <a:solidFill>
                      <a:srgbClr val="0D3C4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00D4E8"/>
                          </a:solidFill>
                          <a:latin typeface="JetBrains Mono"/>
                        </a:rPr>
                        <a:t>Est. (INR)</a:t>
                      </a:r>
                    </a:p>
                  </a:txBody>
                  <a:tcPr anchor="ctr">
                    <a:solidFill>
                      <a:srgbClr val="0D3C4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</a:tr>
              <a:tr h="494607">
                <a:tc>
                  <a:txBody>
                    <a:bodyPr lIns="73152" rIns="54864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D7DFEA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D7DFEA"/>
                          </a:solidFill>
                          <a:latin typeface="JetBrains Mono"/>
                        </a:rPr>
                        <a:t>Propulsion (4× MY4215, props, ESCs)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D7DFEA"/>
                          </a:solidFill>
                          <a:latin typeface="JetBrains Mono"/>
                        </a:rPr>
                        <a:t>COTS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D7DFEA"/>
                          </a:solidFill>
                          <a:latin typeface="JetBrains Mono"/>
                        </a:rPr>
                        <a:t>28,000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</a:tr>
              <a:tr h="494607">
                <a:tc>
                  <a:txBody>
                    <a:bodyPr lIns="73152" rIns="54864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D7DFEA"/>
                          </a:solidFill>
                          <a:latin typeface="Inter"/>
                        </a:rPr>
                        <a:t>2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D7DFEA"/>
                          </a:solidFill>
                          <a:latin typeface="JetBrains Mono"/>
                        </a:rPr>
                        <a:t>Battery 6S Li-ion ~20 Ah + sense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D7DFEA"/>
                          </a:solidFill>
                          <a:latin typeface="JetBrains Mono"/>
                        </a:rPr>
                        <a:t>COTS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D7DFEA"/>
                          </a:solidFill>
                          <a:latin typeface="JetBrains Mono"/>
                        </a:rPr>
                        <a:t>22,000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</a:tr>
              <a:tr h="494607">
                <a:tc>
                  <a:txBody>
                    <a:bodyPr lIns="73152" rIns="54864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D7DFEA"/>
                          </a:solidFill>
                          <a:latin typeface="Inter"/>
                        </a:rPr>
                        <a:t>3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D7DFEA"/>
                          </a:solidFill>
                          <a:latin typeface="JetBrains Mono"/>
                        </a:rPr>
                        <a:t>Pixhawk + GPS/compass + pitot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D7DFEA"/>
                          </a:solidFill>
                          <a:latin typeface="JetBrains Mono"/>
                        </a:rPr>
                        <a:t>COTS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D7DFEA"/>
                          </a:solidFill>
                          <a:latin typeface="JetBrains Mono"/>
                        </a:rPr>
                        <a:t>32,000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</a:tr>
              <a:tr h="494607">
                <a:tc>
                  <a:txBody>
                    <a:bodyPr lIns="73152" rIns="54864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D7DFEA"/>
                          </a:solidFill>
                          <a:latin typeface="Inter"/>
                        </a:rPr>
                        <a:t>4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D7DFEA"/>
                          </a:solidFill>
                          <a:latin typeface="JetBrains Mono"/>
                        </a:rPr>
                        <a:t>ESP32, harness, PDB, connectors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D7DFEA"/>
                          </a:solidFill>
                          <a:latin typeface="JetBrains Mono"/>
                        </a:rPr>
                        <a:t>COTS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D7DFEA"/>
                          </a:solidFill>
                          <a:latin typeface="JetBrains Mono"/>
                        </a:rPr>
                        <a:t>6,000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</a:tr>
              <a:tr h="494607">
                <a:tc>
                  <a:txBody>
                    <a:bodyPr lIns="73152" rIns="54864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D7DFEA"/>
                          </a:solidFill>
                          <a:latin typeface="Inter"/>
                        </a:rPr>
                        <a:t>5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D7DFEA"/>
                          </a:solidFill>
                          <a:latin typeface="JetBrains Mono"/>
                        </a:rPr>
                        <a:t>Tilt (2× STS3215, bearings, shaft)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D7DFEA"/>
                          </a:solidFill>
                          <a:latin typeface="JetBrains Mono"/>
                        </a:rPr>
                        <a:t>COTS + shop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D7DFEA"/>
                          </a:solidFill>
                          <a:latin typeface="JetBrains Mono"/>
                        </a:rPr>
                        <a:t>12,000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</a:tr>
              <a:tr h="494607">
                <a:tc>
                  <a:txBody>
                    <a:bodyPr lIns="73152" rIns="54864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D7DFEA"/>
                          </a:solidFill>
                          <a:latin typeface="Inter"/>
                        </a:rPr>
                        <a:t>6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D7DFEA"/>
                          </a:solidFill>
                          <a:latin typeface="JetBrains Mono"/>
                        </a:rPr>
                        <a:t>Mag angle sensors ×2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D7DFEA"/>
                          </a:solidFill>
                          <a:latin typeface="JetBrains Mono"/>
                        </a:rPr>
                        <a:t>COTS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D7DFEA"/>
                          </a:solidFill>
                          <a:latin typeface="JetBrains Mono"/>
                        </a:rPr>
                        <a:t>5,000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</a:tr>
              <a:tr h="494607">
                <a:tc>
                  <a:txBody>
                    <a:bodyPr lIns="73152" rIns="54864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D7DFEA"/>
                          </a:solidFill>
                          <a:latin typeface="Inter"/>
                        </a:rPr>
                        <a:t>7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D7DFEA"/>
                          </a:solidFill>
                          <a:latin typeface="JetBrains Mono"/>
                        </a:rPr>
                        <a:t>Airframe (foam/composite, prints, gear)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D7DFEA"/>
                          </a:solidFill>
                          <a:latin typeface="JetBrains Mono"/>
                        </a:rPr>
                        <a:t>Shop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D7DFEA"/>
                          </a:solidFill>
                          <a:latin typeface="JetBrains Mono"/>
                        </a:rPr>
                        <a:t>18,000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</a:tr>
              <a:tr h="494607">
                <a:tc>
                  <a:txBody>
                    <a:bodyPr lIns="73152" rIns="54864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D7DFEA"/>
                          </a:solidFill>
                          <a:latin typeface="Inter"/>
                        </a:rPr>
                        <a:t>8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D7DFEA"/>
                          </a:solidFill>
                          <a:latin typeface="JetBrains Mono"/>
                        </a:rPr>
                        <a:t>Test (stand, shunt, prints, props spares)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D7DFEA"/>
                          </a:solidFill>
                          <a:latin typeface="JetBrains Mono"/>
                        </a:rPr>
                        <a:t>Shop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D7DFEA"/>
                          </a:solidFill>
                          <a:latin typeface="JetBrains Mono"/>
                        </a:rPr>
                        <a:t>8,000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</a:tr>
              <a:tr h="494607">
                <a:tc>
                  <a:txBody>
                    <a:bodyPr lIns="73152" rIns="54864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D7DFEA"/>
                          </a:solidFill>
                          <a:latin typeface="Inter"/>
                        </a:rPr>
                        <a:t>9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D7DFEA"/>
                          </a:solidFill>
                          <a:latin typeface="JetBrains Mono"/>
                        </a:rPr>
                        <a:t>Contingency 15%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D7DFEA"/>
                          </a:solidFill>
                          <a:latin typeface="JetBrains Mono"/>
                        </a:rPr>
                        <a:t>Risk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D7DFEA"/>
                          </a:solidFill>
                          <a:latin typeface="JetBrains Mono"/>
                        </a:rPr>
                        <a:t>19,650</a:t>
                      </a:r>
                    </a:p>
                  </a:txBody>
                  <a:tcPr anchor="ctr">
                    <a:solidFill>
                      <a:srgbClr val="121C30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</a:tr>
              <a:tr h="494610">
                <a:tc>
                  <a:txBody>
                    <a:bodyPr lIns="73152" rIns="54864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D7DFEA"/>
                          </a:solidFill>
                          <a:latin typeface="JetBrains Mono"/>
                        </a:rPr>
                        <a:t>TOTAL (planning)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  <a:tc>
                  <a:txBody>
                    <a:bodyPr lIns="73152" rIns="54864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D7DFEA"/>
                          </a:solidFill>
                          <a:latin typeface="JetBrains Mono"/>
                        </a:rPr>
                        <a:t>≈ 1,50,650</a:t>
                      </a:r>
                    </a:p>
                  </a:txBody>
                  <a:tcPr anchor="ctr">
                    <a:solidFill>
                      <a:srgbClr val="172338"/>
                    </a:solidFill>
                    <a:lnL w="6350">
                      <a:solidFill>
                        <a:srgbClr val="243450"/>
                      </a:solidFill>
                    </a:lnL>
                    <a:lnR w="6350">
                      <a:solidFill>
                        <a:srgbClr val="243450"/>
                      </a:solidFill>
                    </a:lnR>
                    <a:lnT w="6350">
                      <a:solidFill>
                        <a:srgbClr val="243450"/>
                      </a:solidFill>
                    </a:lnT>
                    <a:lnB w="6350">
                      <a:solidFill>
                        <a:srgbClr val="24345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50292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46304"/>
            <a:ext cx="11338560" cy="256032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D4E8"/>
                </a:solidFill>
                <a:latin typeface="JetBrains Mono"/>
              </a:rPr>
              <a:t>38  /  CLOSE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347472"/>
            <a:ext cx="11430000" cy="420624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Inter"/>
              </a:rPr>
              <a:t>Conclusion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48272"/>
            <a:ext cx="12191999" cy="109728"/>
          </a:xfrm>
          <a:prstGeom prst="rect">
            <a:avLst/>
          </a:prstGeom>
          <a:solidFill>
            <a:srgbClr val="0C17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48272"/>
            <a:ext cx="12191999" cy="13716"/>
          </a:xfrm>
          <a:prstGeom prst="rect">
            <a:avLst/>
          </a:prstGeom>
          <a:solidFill>
            <a:srgbClr val="2434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6757416"/>
            <a:ext cx="8412480" cy="91440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C6B82"/>
                </a:solidFill>
                <a:latin typeface="JetBrains Mono"/>
              </a:rPr>
              <a:t>PUSHPAK V1   ·   TILT-ROTOR VTOL DEMONSTRATOR   ·   FINAL YEAR DESIGN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46920" y="6757416"/>
            <a:ext cx="2148840" cy="91440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D4E8"/>
                </a:solidFill>
                <a:latin typeface="JetBrains Mono"/>
              </a:rPr>
              <a:t>39  /  40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" y="1115568"/>
            <a:ext cx="11411712" cy="1051560"/>
          </a:xfrm>
          <a:prstGeom prst="roundRect">
            <a:avLst>
              <a:gd name="adj" fmla="val 6000"/>
            </a:avLst>
          </a:prstGeom>
          <a:solidFill>
            <a:srgbClr val="121C30"/>
          </a:solidFill>
          <a:ln w="12700">
            <a:solidFill>
              <a:srgbClr val="243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4048" y="1115568"/>
            <a:ext cx="11411712" cy="41148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298448"/>
            <a:ext cx="11064240" cy="713232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Inter"/>
              </a:rPr>
              <a:t>Pushpak V1 is a 4.5 kg tilt-rotor VTOL demonstrator built to prove that wing-borne lift cuts electrical power versus rotor-borne flight.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048" y="2331720"/>
            <a:ext cx="11411712" cy="932688"/>
          </a:xfrm>
          <a:prstGeom prst="roundRect">
            <a:avLst>
              <a:gd name="adj" fmla="val 6000"/>
            </a:avLst>
          </a:prstGeom>
          <a:solidFill>
            <a:srgbClr val="121C30"/>
          </a:solidFill>
          <a:ln w="12700">
            <a:solidFill>
              <a:srgbClr val="243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84048" y="2331720"/>
            <a:ext cx="11411712" cy="41148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587752"/>
            <a:ext cx="731520" cy="438912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D4E8"/>
                </a:solidFill>
                <a:latin typeface="JetBrains Mono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2441448"/>
            <a:ext cx="9966960" cy="292608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Inter"/>
              </a:rPr>
              <a:t>Configuration frozen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2770632"/>
            <a:ext cx="9966960" cy="384048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7DFEA"/>
                </a:solidFill>
                <a:latin typeface="Inter"/>
              </a:rPr>
              <a:t>4 rotors, paired front/rear tilt to 75°, high wing NACA 4412, Pixhawk / ArduPilot / ESP32.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4048" y="3355848"/>
            <a:ext cx="11411712" cy="932688"/>
          </a:xfrm>
          <a:prstGeom prst="roundRect">
            <a:avLst>
              <a:gd name="adj" fmla="val 6000"/>
            </a:avLst>
          </a:prstGeom>
          <a:solidFill>
            <a:srgbClr val="121C30"/>
          </a:solidFill>
          <a:ln w="12700">
            <a:solidFill>
              <a:srgbClr val="243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84048" y="3355848"/>
            <a:ext cx="11411712" cy="41148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611880"/>
            <a:ext cx="731520" cy="438912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D4E8"/>
                </a:solidFill>
                <a:latin typeface="JetBrains Mono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3465576"/>
            <a:ext cx="9966960" cy="292608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Inter"/>
              </a:rPr>
              <a:t>Physics closed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3794760"/>
            <a:ext cx="9966960" cy="384048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7DFEA"/>
                </a:solidFill>
                <a:latin typeface="Inter"/>
              </a:rPr>
              <a:t>Hover 1.125 kgf/motor floor, 2.25 kgf design; cruise CL 0.395 at 20 m/s on 0.32 m².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4048" y="4379976"/>
            <a:ext cx="11411712" cy="932688"/>
          </a:xfrm>
          <a:prstGeom prst="roundRect">
            <a:avLst>
              <a:gd name="adj" fmla="val 6000"/>
            </a:avLst>
          </a:prstGeom>
          <a:solidFill>
            <a:srgbClr val="121C30"/>
          </a:solidFill>
          <a:ln w="12700">
            <a:solidFill>
              <a:srgbClr val="243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84048" y="4379976"/>
            <a:ext cx="11411712" cy="41148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636008"/>
            <a:ext cx="731520" cy="438912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D4E8"/>
                </a:solidFill>
                <a:latin typeface="JetBrains Mono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4489704"/>
            <a:ext cx="9966960" cy="292608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Inter"/>
              </a:rPr>
              <a:t>Experiment defined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4818888"/>
            <a:ext cx="9966960" cy="384048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7DFEA"/>
                </a:solidFill>
                <a:latin typeface="Inter"/>
              </a:rPr>
              <a:t>Wing-on vs wing-off electrical power at matched mass — the only success metric that matters.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84048" y="5404104"/>
            <a:ext cx="11411712" cy="932688"/>
          </a:xfrm>
          <a:prstGeom prst="roundRect">
            <a:avLst>
              <a:gd name="adj" fmla="val 6000"/>
            </a:avLst>
          </a:prstGeom>
          <a:solidFill>
            <a:srgbClr val="121C30"/>
          </a:solidFill>
          <a:ln w="12700">
            <a:solidFill>
              <a:srgbClr val="243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84048" y="5404104"/>
            <a:ext cx="11411712" cy="41148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5660136"/>
            <a:ext cx="731520" cy="438912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D4E8"/>
                </a:solidFill>
                <a:latin typeface="JetBrains Mono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17320" y="5513832"/>
            <a:ext cx="9966960" cy="292608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Inter"/>
              </a:rPr>
              <a:t>Path to flight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17320" y="5843016"/>
            <a:ext cx="9966960" cy="384048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7DFEA"/>
                </a:solidFill>
                <a:latin typeface="Inter"/>
              </a:rPr>
              <a:t>CAD → stand → tether → envelope expansion. Mass watched weekly against 3.5 kg empty.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ushpak-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0"/>
            <a:ext cx="729965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6492240" cy="6858000"/>
          </a:xfrm>
          <a:prstGeom prst="rect">
            <a:avLst/>
          </a:prstGeom>
          <a:solidFill>
            <a:srgbClr val="0A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5760720" cy="256032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D4E8"/>
                </a:solidFill>
                <a:latin typeface="JetBrains Mono"/>
              </a:rPr>
              <a:t>PUSHPAK  V1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1783080"/>
            <a:ext cx="5760720" cy="100584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Inter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80360"/>
            <a:ext cx="5577840" cy="640080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D7DFEA"/>
                </a:solidFill>
                <a:latin typeface="Inter"/>
              </a:rPr>
              <a:t>Questions, technical discussion, and a configuration freeze.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703320"/>
            <a:ext cx="5532120" cy="2331720"/>
          </a:xfrm>
          <a:prstGeom prst="roundRect">
            <a:avLst>
              <a:gd name="adj" fmla="val 6000"/>
            </a:avLst>
          </a:prstGeom>
          <a:solidFill>
            <a:srgbClr val="121C30"/>
          </a:solidFill>
          <a:ln w="12700">
            <a:solidFill>
              <a:srgbClr val="2434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3703320"/>
            <a:ext cx="5532120" cy="41148"/>
          </a:xfrm>
          <a:prstGeom prst="rect">
            <a:avLst/>
          </a:prstGeom>
          <a:solidFill>
            <a:srgbClr val="00D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3840480"/>
            <a:ext cx="5212080" cy="256032"/>
          </a:xfrm>
          <a:prstGeom prst="rect">
            <a:avLst/>
          </a:prstGeom>
          <a:noFill/>
        </p:spPr>
        <p:txBody>
          <a:bodyPr wrap="square" anchor="t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D4E8"/>
                </a:solidFill>
                <a:latin typeface="JetBrains Mono"/>
              </a:rPr>
              <a:t>PROJECT TEAM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4133087"/>
            <a:ext cx="5257800" cy="1737360"/>
          </a:xfrm>
          <a:prstGeom prst="rect">
            <a:avLst/>
          </a:prstGeom>
          <a:noFill/>
        </p:spPr>
        <p:txBody>
          <a:bodyPr wrap="square" lIns="54864" rIns="54864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D7DFEA"/>
                </a:solidFill>
                <a:latin typeface="JetBrains Mono"/>
              </a:rPr>
              <a:t>Ishaan Bafna      PRN 23070125017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D7DFEA"/>
                </a:solidFill>
                <a:latin typeface="JetBrains Mono"/>
              </a:rPr>
              <a:t>Aman Ravat        PRN 23070125004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D7DFEA"/>
                </a:solidFill>
                <a:latin typeface="JetBrains Mono"/>
              </a:rPr>
              <a:t>Krit Verma        PRN 230701250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D7DFEA"/>
                </a:solidFill>
                <a:latin typeface="JetBrains Mono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D7DFEA"/>
                </a:solidFill>
                <a:latin typeface="JetBrains Mono"/>
              </a:rPr>
              <a:t>Tilt-Rotor VTOL UAV Demonstrator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748272"/>
            <a:ext cx="12191999" cy="109728"/>
          </a:xfrm>
          <a:prstGeom prst="rect">
            <a:avLst/>
          </a:prstGeom>
          <a:solidFill>
            <a:srgbClr val="0C17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748272"/>
            <a:ext cx="12191999" cy="13716"/>
          </a:xfrm>
          <a:prstGeom prst="rect">
            <a:avLst/>
          </a:prstGeom>
          <a:solidFill>
            <a:srgbClr val="2434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" y="6757416"/>
            <a:ext cx="8412480" cy="91440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C6B82"/>
                </a:solidFill>
                <a:latin typeface="JetBrains Mono"/>
              </a:rPr>
              <a:t>PUSHPAK V1   ·   TILT-ROTOR VTOL DEMONSTRATOR   ·   FINAL YEAR DESIGN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46920" y="6757416"/>
            <a:ext cx="2148840" cy="91440"/>
          </a:xfrm>
          <a:prstGeom prst="rect">
            <a:avLst/>
          </a:prstGeom>
          <a:noFill/>
        </p:spPr>
        <p:txBody>
          <a:bodyPr wrap="square" anchor="ctr" lIns="36576" rIns="36576" tIns="18288" bIns="18288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D4E8"/>
                </a:solidFill>
                <a:latin typeface="JetBrains Mono"/>
              </a:rPr>
              <a:t>40  /  40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